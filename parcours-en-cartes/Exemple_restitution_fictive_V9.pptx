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477e6462304ad6" /><Relationship Type="http://schemas.openxmlformats.org/officeDocument/2006/relationships/extended-properties" Target="/docProps/app.xml" Id="Rfbd8dd5763aa411e" /><Relationship Type="http://schemas.openxmlformats.org/officeDocument/2006/relationships/officeDocument" Target="/ppt/presentation.xml" Id="Redbbba43a1be49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f316cf890d477c"/>
  </p:sldMasterIdLst>
  <p:notesMasterIdLst>
    <p:notesMasterId xmlns:r="http://schemas.openxmlformats.org/officeDocument/2006/relationships" r:id="R3d4955651a1f434b"/>
  </p:notesMasterIdLst>
  <p:sldIdLst>
    <p:sldId xmlns:r="http://schemas.openxmlformats.org/officeDocument/2006/relationships" id="256" r:id="rIdExco1"/>
    <p:sldId xmlns:r="http://schemas.openxmlformats.org/officeDocument/2006/relationships" id="257" r:id="rIdExco2"/>
    <p:sldId xmlns:r="http://schemas.openxmlformats.org/officeDocument/2006/relationships" id="258" r:id="rIdExco3"/>
    <p:sldId xmlns:r="http://schemas.openxmlformats.org/officeDocument/2006/relationships" id="259" r:id="rIdExco4"/>
    <p:sldId xmlns:r="http://schemas.openxmlformats.org/officeDocument/2006/relationships" id="260" r:id="rIdExco5"/>
    <p:sldId xmlns:r="http://schemas.openxmlformats.org/officeDocument/2006/relationships" id="261" r:id="rIdExco6"/>
    <p:sldId xmlns:r="http://schemas.openxmlformats.org/officeDocument/2006/relationships" id="262" r:id="rIdExco7"/>
    <p:sldId xmlns:r="http://schemas.openxmlformats.org/officeDocument/2006/relationships" id="263" r:id="rIdExco8"/>
    <p:sldId xmlns:r="http://schemas.openxmlformats.org/officeDocument/2006/relationships" id="264" r:id="rIdExco9"/>
    <p:sldId xmlns:r="http://schemas.openxmlformats.org/officeDocument/2006/relationships" id="265" r:id="rIdExco10"/>
    <p:sldId xmlns:r="http://schemas.openxmlformats.org/officeDocument/2006/relationships" id="266" r:id="rIdExco11"/>
    <p:sldId xmlns:r="http://schemas.openxmlformats.org/officeDocument/2006/relationships" id="267" r:id="rIdExco12"/>
    <p:sldId xmlns:r="http://schemas.openxmlformats.org/officeDocument/2006/relationships" id="268" r:id="rIdExco13"/>
    <p:sldId xmlns:r="http://schemas.openxmlformats.org/officeDocument/2006/relationships" id="269" r:id="rIdExco14"/>
    <p:sldId xmlns:r="http://schemas.openxmlformats.org/officeDocument/2006/relationships" id="270" r:id="rIdExco15"/>
    <p:sldId xmlns:r="http://schemas.openxmlformats.org/officeDocument/2006/relationships" id="271" r:id="rIdExco16"/>
    <p:sldId xmlns:r="http://schemas.openxmlformats.org/officeDocument/2006/relationships" id="272" r:id="rIdExco17"/>
    <p:sldId xmlns:r="http://schemas.openxmlformats.org/officeDocument/2006/relationships" id="273" r:id="rIdExco18"/>
    <p:sldId xmlns:r="http://schemas.openxmlformats.org/officeDocument/2006/relationships" id="274" r:id="rIdExco19"/>
    <p:sldId xmlns:r="http://schemas.openxmlformats.org/officeDocument/2006/relationships" id="275" r:id="rIdExco20"/>
    <p:sldId xmlns:r="http://schemas.openxmlformats.org/officeDocument/2006/relationships" id="276" r:id="rIdExco21"/>
    <p:sldId xmlns:r="http://schemas.openxmlformats.org/officeDocument/2006/relationships" id="277" r:id="rIdExco22"/>
    <p:sldId xmlns:r="http://schemas.openxmlformats.org/officeDocument/2006/relationships" id="278" r:id="rIdExco23"/>
    <p:sldId xmlns:r="http://schemas.openxmlformats.org/officeDocument/2006/relationships" id="279" r:id="rIdExco24"/>
    <p:sldId xmlns:r="http://schemas.openxmlformats.org/officeDocument/2006/relationships" id="280" r:id="rIdExco25"/>
    <p:sldId xmlns:r="http://schemas.openxmlformats.org/officeDocument/2006/relationships" id="281" r:id="rIdExco26"/>
    <p:sldId xmlns:r="http://schemas.openxmlformats.org/officeDocument/2006/relationships" id="282" r:id="rIdExco27"/>
    <p:sldId xmlns:r="http://schemas.openxmlformats.org/officeDocument/2006/relationships" id="283" r:id="rIdExco28"/>
    <p:sldId xmlns:r="http://schemas.openxmlformats.org/officeDocument/2006/relationships" id="284" r:id="rIdExco29"/>
    <p:sldId xmlns:r="http://schemas.openxmlformats.org/officeDocument/2006/relationships" id="285" r:id="rIdExco30"/>
    <p:sldId xmlns:r="http://schemas.openxmlformats.org/officeDocument/2006/relationships" id="286" r:id="rIdExco31"/>
    <p:sldId xmlns:r="http://schemas.openxmlformats.org/officeDocument/2006/relationships" id="287" r:id="rIdExco32"/>
    <p:sldId xmlns:r="http://schemas.openxmlformats.org/officeDocument/2006/relationships" id="288" r:id="rIdExco33"/>
    <p:sldId xmlns:r="http://schemas.openxmlformats.org/officeDocument/2006/relationships" id="289" r:id="rIdExco34"/>
    <p:sldId xmlns:r="http://schemas.openxmlformats.org/officeDocument/2006/relationships" id="290" r:id="rIdExco35"/>
    <p:sldId xmlns:r="http://schemas.openxmlformats.org/officeDocument/2006/relationships" id="291" r:id="rIdExco36"/>
    <p:sldId xmlns:r="http://schemas.openxmlformats.org/officeDocument/2006/relationships" id="292" r:id="rIdExco37"/>
    <p:sldId xmlns:r="http://schemas.openxmlformats.org/officeDocument/2006/relationships" id="293" r:id="rIdExco38"/>
    <p:sldId xmlns:r="http://schemas.openxmlformats.org/officeDocument/2006/relationships" id="294" r:id="rIdExco39"/>
    <p:sldId xmlns:r="http://schemas.openxmlformats.org/officeDocument/2006/relationships" id="295" r:id="rIdExco40"/>
    <p:sldId xmlns:r="http://schemas.openxmlformats.org/officeDocument/2006/relationships" id="296" r:id="rIdExco41"/>
    <p:sldId xmlns:r="http://schemas.openxmlformats.org/officeDocument/2006/relationships" id="297" r:id="rIdExco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f908a715414f9c" /><Relationship Type="http://schemas.openxmlformats.org/officeDocument/2006/relationships/slideMaster" Target="/ppt/slideMasters/slideMaster1.xml" Id="R35f316cf890d477c" /><Relationship Type="http://schemas.openxmlformats.org/officeDocument/2006/relationships/notesMaster" Target="/ppt/notesMasters/notesMaster1.xml" Id="R3d4955651a1f434b" /><Relationship Type="http://schemas.openxmlformats.org/officeDocument/2006/relationships/presProps" Target="/ppt/presProps.xml" Id="R52f5a80c88154f37" /><Relationship Type="http://schemas.openxmlformats.org/officeDocument/2006/relationships/tableStyles" Target="/ppt/tableStyles.xml" Id="R178aa9e4b5d34981" /><Relationship Id="rIdExco1" Type="http://schemas.openxmlformats.org/officeDocument/2006/relationships/slide" Target="slides/slide1.xml"/><Relationship Id="rIdExco2" Type="http://schemas.openxmlformats.org/officeDocument/2006/relationships/slide" Target="slides/slide2.xml"/><Relationship Id="rIdExco3" Type="http://schemas.openxmlformats.org/officeDocument/2006/relationships/slide" Target="slides/slide3.xml"/><Relationship Id="rIdExco4" Type="http://schemas.openxmlformats.org/officeDocument/2006/relationships/slide" Target="slides/slide4.xml"/><Relationship Id="rIdExco5" Type="http://schemas.openxmlformats.org/officeDocument/2006/relationships/slide" Target="slides/slide5.xml"/><Relationship Id="rIdExco6" Type="http://schemas.openxmlformats.org/officeDocument/2006/relationships/slide" Target="slides/slide6.xml"/><Relationship Id="rIdExco7" Type="http://schemas.openxmlformats.org/officeDocument/2006/relationships/slide" Target="slides/slide7.xml"/><Relationship Id="rIdExco8" Type="http://schemas.openxmlformats.org/officeDocument/2006/relationships/slide" Target="slides/slide8.xml"/><Relationship Id="rIdExco9" Type="http://schemas.openxmlformats.org/officeDocument/2006/relationships/slide" Target="slides/slide9.xml"/><Relationship Id="rIdExco10" Type="http://schemas.openxmlformats.org/officeDocument/2006/relationships/slide" Target="slides/slide10.xml"/><Relationship Id="rIdExco11" Type="http://schemas.openxmlformats.org/officeDocument/2006/relationships/slide" Target="slides/slide11.xml"/><Relationship Id="rIdExco12" Type="http://schemas.openxmlformats.org/officeDocument/2006/relationships/slide" Target="slides/slide12.xml"/><Relationship Id="rIdExco13" Type="http://schemas.openxmlformats.org/officeDocument/2006/relationships/slide" Target="slides/slide13.xml"/><Relationship Id="rIdExco14" Type="http://schemas.openxmlformats.org/officeDocument/2006/relationships/slide" Target="slides/slide14.xml"/><Relationship Id="rIdExco15" Type="http://schemas.openxmlformats.org/officeDocument/2006/relationships/slide" Target="slides/slide15.xml"/><Relationship Id="rIdExco16" Type="http://schemas.openxmlformats.org/officeDocument/2006/relationships/slide" Target="slides/slide16.xml"/><Relationship Id="rIdExco17" Type="http://schemas.openxmlformats.org/officeDocument/2006/relationships/slide" Target="slides/slide17.xml"/><Relationship Id="rIdExco18" Type="http://schemas.openxmlformats.org/officeDocument/2006/relationships/slide" Target="slides/slide18.xml"/><Relationship Id="rIdExco19" Type="http://schemas.openxmlformats.org/officeDocument/2006/relationships/slide" Target="slides/slide19.xml"/><Relationship Id="rIdExco20" Type="http://schemas.openxmlformats.org/officeDocument/2006/relationships/slide" Target="slides/slide20.xml"/><Relationship Id="rIdExco21" Type="http://schemas.openxmlformats.org/officeDocument/2006/relationships/slide" Target="slides/slide21.xml"/><Relationship Id="rIdExco22" Type="http://schemas.openxmlformats.org/officeDocument/2006/relationships/slide" Target="slides/slide22.xml"/><Relationship Id="rIdExco23" Type="http://schemas.openxmlformats.org/officeDocument/2006/relationships/slide" Target="slides/slide23.xml"/><Relationship Id="rIdExco24" Type="http://schemas.openxmlformats.org/officeDocument/2006/relationships/slide" Target="slides/slide24.xml"/><Relationship Id="rIdExco25" Type="http://schemas.openxmlformats.org/officeDocument/2006/relationships/slide" Target="slides/slide25.xml"/><Relationship Id="rIdExco26" Type="http://schemas.openxmlformats.org/officeDocument/2006/relationships/slide" Target="slides/slide26.xml"/><Relationship Id="rIdExco27" Type="http://schemas.openxmlformats.org/officeDocument/2006/relationships/slide" Target="slides/slide27.xml"/><Relationship Id="rIdExco28" Type="http://schemas.openxmlformats.org/officeDocument/2006/relationships/slide" Target="slides/slide28.xml"/><Relationship Id="rIdExco29" Type="http://schemas.openxmlformats.org/officeDocument/2006/relationships/slide" Target="slides/slide29.xml"/><Relationship Id="rIdExco30" Type="http://schemas.openxmlformats.org/officeDocument/2006/relationships/slide" Target="slides/slide30.xml"/><Relationship Id="rIdExco31" Type="http://schemas.openxmlformats.org/officeDocument/2006/relationships/slide" Target="slides/slide31.xml"/><Relationship Id="rIdExco32" Type="http://schemas.openxmlformats.org/officeDocument/2006/relationships/slide" Target="slides/slide32.xml"/><Relationship Id="rIdExco33" Type="http://schemas.openxmlformats.org/officeDocument/2006/relationships/slide" Target="slides/slide33.xml"/><Relationship Id="rIdExco34" Type="http://schemas.openxmlformats.org/officeDocument/2006/relationships/slide" Target="slides/slide34.xml"/><Relationship Id="rIdExco35" Type="http://schemas.openxmlformats.org/officeDocument/2006/relationships/slide" Target="slides/slide35.xml"/><Relationship Id="rIdExco36" Type="http://schemas.openxmlformats.org/officeDocument/2006/relationships/slide" Target="slides/slide36.xml"/><Relationship Id="rIdExco37" Type="http://schemas.openxmlformats.org/officeDocument/2006/relationships/slide" Target="slides/slide37.xml"/><Relationship Id="rIdExco38" Type="http://schemas.openxmlformats.org/officeDocument/2006/relationships/slide" Target="slides/slide38.xml"/><Relationship Id="rIdExco39" Type="http://schemas.openxmlformats.org/officeDocument/2006/relationships/slide" Target="slides/slide39.xml"/><Relationship Id="rIdExco40" Type="http://schemas.openxmlformats.org/officeDocument/2006/relationships/slide" Target="slides/slide40.xml"/><Relationship Id="rIdExco41" Type="http://schemas.openxmlformats.org/officeDocument/2006/relationships/slide" Target="slides/slide41.xml"/><Relationship Id="rIdExco42" Type="http://schemas.openxmlformats.org/officeDocument/2006/relationships/slide" Target="slides/slide42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4ba6109be54a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0853f6dcd41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a77cf0d1b4a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53c103d234c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318f3123549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7dfcab5764c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e3e24ea7e4c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C226F9-582D-4495-9CCC-2D76D045F2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B234192-F815-4F21-A3E8-E944DF2100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83F489-58B9-4013-B51F-7D2EF3EB54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BCD11E-4F4E-426C-9D8F-21157ABB0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FB45AD-9D35-4CA6-9563-A826A08EBA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2EE549-878B-4B25-8442-21340CDC33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CB9A7A-CD72-4E02-9F1A-FF091A1CFE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B900E1E-1D34-4D94-9523-D74E485BC4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72E637-D66D-44A2-A9DD-C86631685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493CD5-8E24-4657-B1F6-BCB84E20FD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f549ed28c04995" /><Relationship Type="http://schemas.openxmlformats.org/officeDocument/2006/relationships/slideLayout" Target="/ppt/slideLayouts/slideLayout1.xml" Id="R86dda5b8ed414d27" /><Relationship Type="http://schemas.openxmlformats.org/officeDocument/2006/relationships/slideLayout" Target="/ppt/slideLayouts/slideLayout2.xml" Id="R3781ba12cada463c" /><Relationship Type="http://schemas.openxmlformats.org/officeDocument/2006/relationships/slideLayout" Target="/ppt/slideLayouts/slideLayout3.xml" Id="Rc5166403a4794338" /><Relationship Type="http://schemas.openxmlformats.org/officeDocument/2006/relationships/slideLayout" Target="/ppt/slideLayouts/slideLayout4.xml" Id="R363a5d3ff7e54ac9" /><Relationship Type="http://schemas.openxmlformats.org/officeDocument/2006/relationships/slideLayout" Target="/ppt/slideLayouts/slideLayout5.xml" Id="R468b1082ee254c57" /><Relationship Type="http://schemas.openxmlformats.org/officeDocument/2006/relationships/slideLayout" Target="/ppt/slideLayouts/slideLayout6.xml" Id="R1ad3e203abc84b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dda5b8ed414d27"/>
    <p:sldLayoutId xmlns:r="http://schemas.openxmlformats.org/officeDocument/2006/relationships" id="2147483650" r:id="R3781ba12cada463c"/>
    <p:sldLayoutId xmlns:r="http://schemas.openxmlformats.org/officeDocument/2006/relationships" id="2147483651" r:id="Rc5166403a4794338"/>
    <p:sldLayoutId xmlns:r="http://schemas.openxmlformats.org/officeDocument/2006/relationships" id="2147483652" r:id="R363a5d3ff7e54ac9"/>
    <p:sldLayoutId xmlns:r="http://schemas.openxmlformats.org/officeDocument/2006/relationships" id="2147483653" r:id="R468b1082ee254c57"/>
    <p:sldLayoutId xmlns:r="http://schemas.openxmlformats.org/officeDocument/2006/relationships" id="2147483654" r:id="R1ad3e203abc84b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767a29f2984897" /><Relationship Type="http://schemas.openxmlformats.org/officeDocument/2006/relationships/image" Target="/ppt/media/image.png" Id="R0f03b41e91b64c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9fba46055474f" /><Relationship Type="http://schemas.openxmlformats.org/officeDocument/2006/relationships/image" Target="/ppt/media/image2.png" Id="Rca21d86b6cff4a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2a0ddd7b1d4501" /><Relationship Type="http://schemas.openxmlformats.org/officeDocument/2006/relationships/image" Target="/ppt/media/image3.png" Id="R02ba464a2f79402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7ff10ffd4e49cd" /><Relationship Type="http://schemas.openxmlformats.org/officeDocument/2006/relationships/image" Target="/ppt/media/image4.png" Id="R215392db9ba0465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1e1281c0444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YN_SECTION">
            <a:extLst xmlns:a="http://schemas.openxmlformats.org/drawingml/2006/main">
              <a:ext uri="{FF2B5EF4-FFF2-40B4-BE49-F238E27FC236}">
                <a16:creationId xmlns:a16="http://schemas.microsoft.com/office/drawing/2014/main" id="{62C69837-104D-43DA-B560-FB6A9BB1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>EXERCICE COORDONNÉ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AADCF2B1-1E61-468A-919E-7B9586D3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7429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usages numériques
au fil des parcours</a:t>
            </a:r>
          </a:p>
        </p:txBody>
      </p:sp>
      <p:sp>
        <p:nvSpPr>
          <p:cNvPr id="3" name="DYN_SUBTITLE">
            <a:extLst xmlns:a="http://schemas.openxmlformats.org/drawingml/2006/main">
              <a:ext uri="{FF2B5EF4-FFF2-40B4-BE49-F238E27FC236}">
                <a16:creationId xmlns:a16="http://schemas.microsoft.com/office/drawing/2014/main" id="{BFB16D04-A4E7-49FA-BC2E-F6B823BC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Exemple de restitution
Données fictives</a:t>
            </a:r>
          </a:p>
        </p:txBody>
      </p:sp>
      <p:sp>
        <p:nvSpPr>
          <p:cNvPr id="4" name="DYN_META">
            <a:extLst xmlns:a="http://schemas.openxmlformats.org/drawingml/2006/main">
              <a:ext uri="{FF2B5EF4-FFF2-40B4-BE49-F238E27FC236}">
                <a16:creationId xmlns:a16="http://schemas.microsoft.com/office/drawing/2014/main" id="{2E0EB62B-F9FB-4B68-85B9-485E1808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3 groupe(s) retenu(s) · 15 participant(s) inscrit(s)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212C0-6791-4262-9551-9378E12827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3b41e91b64c34"/>
          <a:stretch xmlns:a="http://schemas.openxmlformats.org/drawingml/2006/main"/>
        </p:blipFill>
        <p:spPr>
          <a:xfrm xmlns:a="http://schemas.openxmlformats.org/drawingml/2006/main">
            <a:off x="9048750" y="1450975"/>
            <a:ext cx="1809750" cy="3860800"/>
          </a:xfrm>
          <a:prstGeom xmlns:a="http://schemas.openxmlformats.org/drawingml/2006/main" prst="rect">
            <a:avLst/>
          </a:prstGeom>
        </p:spPr>
      </p:pic>
      <p:sp>
        <p:nvSpPr>
          <p:cNvPr id="6" name="DYN_FOOTER">
            <a:extLst xmlns:a="http://schemas.openxmlformats.org/drawingml/2006/main">
              <a:ext uri="{FF2B5EF4-FFF2-40B4-BE49-F238E27FC236}">
                <a16:creationId xmlns:a16="http://schemas.microsoft.com/office/drawing/2014/main" id="{47DF0B9D-C055-4788-9DB1-CCA31889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7" name="DYN_PAGE">
            <a:extLst xmlns:a="http://schemas.openxmlformats.org/drawingml/2006/main">
              <a:ext uri="{FF2B5EF4-FFF2-40B4-BE49-F238E27FC236}">
                <a16:creationId xmlns:a16="http://schemas.microsoft.com/office/drawing/2014/main" id="{1CB744D5-BC59-409B-A9DC-3B8131C9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8405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LA JOURNÉE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groupes et les parcours (1/2)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Exemple de restitution des ateliers
Table démo A · Territoire de démonstration
Emilie, 37 ans
5 participant(s)
Table démo B · Territoire de démonstration
Monique, 89 ans
5 participant(s)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LA JOURNÉE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groupes et les parcours (2/2)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Table démo C · Territoire de démonstration
Philippe, 58 ans
5 participant(s)
Les chiffres décrivent les inscriptions et contributions reçues, sans
extrapolation aux professionnels de santé.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SYNTHÈSE DE LA PLÉNIÈRE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Messages essentiels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EXEMPLE FICTIF : les groupes explorent les conditions d’un premier usage.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SYNTHÈSE DE LA PLÉNIÈRE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Consensus transversaux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EXEMPLE FICTIF : le besoin de coordination sert de point de départ à la
démonstration.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SYNTHÈSE DE LA PLÉNIÈRE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Non-consensus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EXEMPLE FICTIF : les modalités de l’accompagnement restent à discuter.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SYNTHÈSE DE LA PLÉNIÈRE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Éléments de langage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EXEMPLE FICTIF : quel échange vous fait perdre du temps aujourd’hui ?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SYNTHÈSE DE LA PLÉNIÈRE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Irritants du terrain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EXEMPLE FICTIF : les coordonnées des intervenants se dispersent.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SYNTHÈSE DE LA PLÉNIÈRE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Points à confirmer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EXEMPLE FICTIF : identifier les contacts et les prérequis locaux.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SYNTHÈSE DE LA PLÉNIÈRE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Actions communes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EXEMPLE FICTIF : proposer un essai accompagné avec une structure volontaire.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SYNTHÈSE DE LA PLÉNIÈRE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Suivi et engagements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EXEMPLE FICTIF : préciser un pilote et une échéance en plénière.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PAROLES DES GROUPES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phrases choc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Table démo A · Emilie, 37 ans
« Exemple fictif : un besoin concret pour ouvrir la discussion. »
Table démo B · Monique, 89 ans
« Exemple fictif : un besoin concret pour ouvrir la discussion. »
Table démo C · Philippe, 58 ans
« Exemple fictif : un besoin concret pour ouvrir la discussion. »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YN_SECTION">
            <a:extLst xmlns:a="http://schemas.openxmlformats.org/drawingml/2006/main">
              <a:ext uri="{FF2B5EF4-FFF2-40B4-BE49-F238E27FC236}">
                <a16:creationId xmlns:a16="http://schemas.microsoft.com/office/drawing/2014/main" id="{C0E1E6BF-A4B5-4CBF-8136-9C50F1B5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CONTRIBUTION DU GROUPE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B60A6C2D-AEA4-499F-993C-5A7962EF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 groupe et sa situation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FD390887-30EB-4D89-B95E-A78A484D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8477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Table démo A · Territoire de démonstration
Emilie, 37 ans
Participant fictif 1 (CPAM), Participant fictif 2 (ARS),
Participant fictif 3 (SESAN), Participant fictif 4 (CPAM),
Participant fictif 5 (SESAN)
1/5 moments complétés, 2 irritants, 2 réponses.
Emilie, 37 ans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C20B8-659F-4F86-B825-680ECFF79F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1d86b6cff4a0b"/>
          <a:stretch xmlns:a="http://schemas.openxmlformats.org/drawingml/2006/main"/>
        </p:blipFill>
        <p:spPr>
          <a:xfrm xmlns:a="http://schemas.openxmlformats.org/drawingml/2006/main">
            <a:off x="9667875" y="2401888"/>
            <a:ext cx="1476375" cy="3149600"/>
          </a:xfrm>
          <a:prstGeom xmlns:a="http://schemas.openxmlformats.org/drawingml/2006/main" prst="rect">
            <a:avLst/>
          </a:prstGeom>
        </p:spPr>
      </p:pic>
      <p:sp>
        <p:nvSpPr>
          <p:cNvPr id="5" name="DYN_FOOTER">
            <a:extLst xmlns:a="http://schemas.openxmlformats.org/drawingml/2006/main">
              <a:ext uri="{FF2B5EF4-FFF2-40B4-BE49-F238E27FC236}">
                <a16:creationId xmlns:a16="http://schemas.microsoft.com/office/drawing/2014/main" id="{55DEF32C-46D9-4BE2-BB35-5446622E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6" name="DYN_PAGE">
            <a:extLst xmlns:a="http://schemas.openxmlformats.org/drawingml/2006/main">
              <a:ext uri="{FF2B5EF4-FFF2-40B4-BE49-F238E27FC236}">
                <a16:creationId xmlns:a16="http://schemas.microsoft.com/office/drawing/2014/main" id="{6BEDA58F-7528-4D47-B996-5EBC5A36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065029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A · Emilie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enseignements du groupe (1/3)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Phrase choc
Exemple fictif : un besoin concret pour ouvrir la discussion.
Consensus du groupe
Exemple fictif : partir d’une difficulté de coordination exprimée par les
professionnels.
Désaccords du groupe
Exemple fictif : quelle durée de démonstration proposer ?
Questions à confirmer
Exemple fictif : qui est le contact local le plus adapté ?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A · Emilie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enseignements du groupe (2/3)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Action d’aller-vers
Exemple fictif : préparer un rendez-vous commun avec une structure volontaire.
Acteurs clés
Exemple fictif : coordinateur de CPTS et référent de MSP.
Moment de contact
Exemple fictif : réunion de projet de santé.
Communication
Exemple fictif : courriel bref suivi d’un appel.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A · Emilie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enseignements du groupe (3/3)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Pilote
Pilote à désigner
Échéance
Échéance à fixer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A · Emilie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éléments de langage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Étape 4 · Santélien
Exemple fictif : identifions ensemble qui joindre et à quel moment.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A · Emilie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irritants et les leviers (1/2)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Étape 4 · Santélien
Freins : Exemple fictif : coordonnées des intervenants difficiles à retrouver.
Étape 4 · Santélien
Leviers et réponse : Exemple fictif : accompagner le premier échange et
conserver une trace de la décision.
Étape 4 · I7 · « Le gynéco n'est pas dans notre MSP : il n'a pas notre outil. »
Leviers et réponse : Exemple fictif : écouter l’usage actuel et proposer un
essai accompagné.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A · Emilie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irritants et les leviers (2/2)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Étape 4 · I6 · « WhatsApp, c'est plus simple : tout le monde l'a déjà. »
Leviers et réponse : Exemple fictif : écouter l’usage actuel et proposer un
essai accompagné.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A · Emilie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choix sur le parcours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Étape 4 · Une glycémie qui change le suivi
Qui : Le médecin traitant
Outils : Santélien
Irritants : I7 · « Le gynéco n'est pas dans notre MSP : il n'a pas notre
outil. », I6 · « WhatsApp, c'est plus simple : tout le monde l'a déjà. »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A · Emilie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Annexe des échanges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Étape 4 · Santélien
Pourquoi ce choix : Exemple fictif : identifier les bons contacts et organiser
l’échange utile.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YN_SECTION">
            <a:extLst xmlns:a="http://schemas.openxmlformats.org/drawingml/2006/main">
              <a:ext uri="{FF2B5EF4-FFF2-40B4-BE49-F238E27FC236}">
                <a16:creationId xmlns:a16="http://schemas.microsoft.com/office/drawing/2014/main" id="{78039418-A1CC-4D0C-B6E8-65975C48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CONTRIBUTION DU GROUPE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3CBCA18A-E2E9-4A05-92F0-4CF1ED1F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 groupe et sa situation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BFD7057A-4440-488A-895D-08F3E0F1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8477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Table démo B · Territoire de démonstration
Monique, 89 ans
Participant fictif 1 (CPAM), Participant fictif 2 (ARS),
Participant fictif 3 (SESAN), Participant fictif 4 (CPAM),
Participant fictif 5 (SESAN)
1/5 moments complétés, 2 irritants, 2 réponses.
Monique, 89 ans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6383D-AE48-4E21-B65E-ADFFFF2506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a464a2f794025"/>
          <a:stretch xmlns:a="http://schemas.openxmlformats.org/drawingml/2006/main"/>
        </p:blipFill>
        <p:spPr>
          <a:xfrm xmlns:a="http://schemas.openxmlformats.org/drawingml/2006/main">
            <a:off x="9667875" y="2401888"/>
            <a:ext cx="1476375" cy="3149600"/>
          </a:xfrm>
          <a:prstGeom xmlns:a="http://schemas.openxmlformats.org/drawingml/2006/main" prst="rect">
            <a:avLst/>
          </a:prstGeom>
        </p:spPr>
      </p:pic>
      <p:sp>
        <p:nvSpPr>
          <p:cNvPr id="5" name="DYN_FOOTER">
            <a:extLst xmlns:a="http://schemas.openxmlformats.org/drawingml/2006/main">
              <a:ext uri="{FF2B5EF4-FFF2-40B4-BE49-F238E27FC236}">
                <a16:creationId xmlns:a16="http://schemas.microsoft.com/office/drawing/2014/main" id="{EF8CD232-C1EA-469E-98D3-4264AA3B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6" name="DYN_PAGE">
            <a:extLst xmlns:a="http://schemas.openxmlformats.org/drawingml/2006/main">
              <a:ext uri="{FF2B5EF4-FFF2-40B4-BE49-F238E27FC236}">
                <a16:creationId xmlns:a16="http://schemas.microsoft.com/office/drawing/2014/main" id="{5C841360-F006-4451-8B0C-DD09B960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193473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B · Monique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enseignements du groupe (1/3)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Phrase choc
Exemple fictif : un besoin concret pour ouvrir la discussion.
Consensus du groupe
Exemple fictif : partir d’une difficulté de coordination exprimée par les
professionnels.
Désaccords du groupe
Exemple fictif : quelle durée de démonstration proposer ?
Questions à confirmer
Exemple fictif : qui est le contact local le plus adapté ?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B · Monique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enseignements du groupe (2/3)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Action d’aller-vers
Exemple fictif : préparer un rendez-vous commun avec une structure volontaire.
Acteurs clés
Exemple fictif : coordinateur de CPTS et référent de MSP.
Moment de contact
Exemple fictif : réunion de projet de santé.
Communication
Exemple fictif : courriel bref suivi d’un appel.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B · Monique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enseignements du groupe (3/3)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Pilote
Pilote à désigner
Échéance
Échéance à fixer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B · Monique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éléments de langage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Étape 3 · Santélien
Exemple fictif : identifions ensemble qui joindre et à quel moment.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B · Monique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irritants et les leviers (1/2)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Étape 3 · Santélien
Freins : Exemple fictif : coordonnées des intervenants difficiles à retrouver.
Étape 3 · Santélien
Leviers et réponse : Exemple fictif : accompagner le premier échange et
conserver une trace de la décision.
Étape 3 · I10 · « Je ne sais jamais qui intervient chez le patient, ni comment
les joindre. »
Leviers et réponse : Exemple fictif : écouter l’usage actuel et proposer un
essai accompagné.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B · Monique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irritants et les leviers (2/2)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Étape 3 · I6 · « WhatsApp, c'est plus simple : tout le monde l'a déjà. »
Leviers et réponse : Exemple fictif : écouter l’usage actuel et proposer un
essai accompagné.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B · Monique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choix sur le parcours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Étape 3 · Les petits mots ne suffisent plus
Qui : Le médecin traitant
Outils : Santélien
Irritants : I10 · « Je ne sais jamais qui intervient chez le patient, ni
comment les joindre. », I6 · « WhatsApp, c'est plus simple : tout le monde l'a
déjà. »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B · Monique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Annexe des échanges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Étape 3 · Santélien
Pourquoi ce choix : Exemple fictif : identifier les bons contacts et organiser
l’échange utile.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YN_SECTION">
            <a:extLst xmlns:a="http://schemas.openxmlformats.org/drawingml/2006/main">
              <a:ext uri="{FF2B5EF4-FFF2-40B4-BE49-F238E27FC236}">
                <a16:creationId xmlns:a16="http://schemas.microsoft.com/office/drawing/2014/main" id="{E3412747-82CD-4811-83B9-0253FAF6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CONTRIBUTION DU GROUPE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BBBDD0EA-CC0F-4CCD-B7D7-6C37027B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 groupe et sa situation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D8A77456-C01F-4D64-BA5D-F6038ECE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8477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Table démo C · Territoire de démonstration
Philippe, 58 ans
Participant fictif 1 (CPAM), Participant fictif 2 (ARS),
Participant fictif 3 (SESAN), Participant fictif 4 (CPAM),
Participant fictif 5 (SESAN)
1/5 moments complétés, 2 irritants, 2 réponses.
Philippe, 58 ans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11BF6-E618-4A5B-BDAE-77AD4A21DA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392db9ba04658"/>
          <a:stretch xmlns:a="http://schemas.openxmlformats.org/drawingml/2006/main"/>
        </p:blipFill>
        <p:spPr>
          <a:xfrm xmlns:a="http://schemas.openxmlformats.org/drawingml/2006/main">
            <a:off x="9667875" y="2401888"/>
            <a:ext cx="1476375" cy="3149600"/>
          </a:xfrm>
          <a:prstGeom xmlns:a="http://schemas.openxmlformats.org/drawingml/2006/main" prst="rect">
            <a:avLst/>
          </a:prstGeom>
        </p:spPr>
      </p:pic>
      <p:sp>
        <p:nvSpPr>
          <p:cNvPr id="5" name="DYN_FOOTER">
            <a:extLst xmlns:a="http://schemas.openxmlformats.org/drawingml/2006/main">
              <a:ext uri="{FF2B5EF4-FFF2-40B4-BE49-F238E27FC236}">
                <a16:creationId xmlns:a16="http://schemas.microsoft.com/office/drawing/2014/main" id="{23413608-A8B4-44CB-AAEB-3C6D6E49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6" name="DYN_PAGE">
            <a:extLst xmlns:a="http://schemas.openxmlformats.org/drawingml/2006/main">
              <a:ext uri="{FF2B5EF4-FFF2-40B4-BE49-F238E27FC236}">
                <a16:creationId xmlns:a16="http://schemas.microsoft.com/office/drawing/2014/main" id="{8B086670-7A4E-49FB-868F-E618D8AF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7692489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C · Philippe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enseignements du groupe (1/3)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Phrase choc
Exemple fictif : un besoin concret pour ouvrir la discussion.
Consensus du groupe
Exemple fictif : partir d’une difficulté de coordination exprimée par les
professionnels.
Désaccords du groupe
Exemple fictif : quelle durée de démonstration proposer ?
Questions à confirmer
Exemple fictif : qui est le contact local le plus adapté ?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C · Philippe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enseignements du groupe (2/3)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Action d’aller-vers
Exemple fictif : préparer un rendez-vous commun avec une structure volontaire.
Acteurs clés
Exemple fictif : coordinateur de CPTS et référent de MSP.
Moment de contact
Exemple fictif : réunion de projet de santé.
Communication
Exemple fictif : courriel bref suivi d’un appel.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C · Philippe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enseignements du groupe (3/3)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Pilote
Pilote à désigner
Échéance
Échéance à fixer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C · Philippe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éléments de langage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Étape 3 · Le téléphone
Exemple fictif : identifions ensemble qui joindre et à quel moment.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C · Philippe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irritants et les leviers (1/2)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Étape 3 · Le téléphone
Freins : Exemple fictif : coordonnées des intervenants difficiles à retrouver.
Étape 3 · Le téléphone
Leviers et réponse : Exemple fictif : accompagner le premier échange et
conserver une trace de la décision.
Étape 3 · I3 · « Ça me prend trop de temps. »
Leviers et réponse : Exemple fictif : écouter l’usage actuel et proposer un
essai accompagné.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C · Philippe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irritants et les leviers (2/2)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Étape 3 · I6 · « WhatsApp, c'est plus simple : tout le monde l'a déjà. »
Leviers et réponse : Exemple fictif : écouter l’usage actuel et proposer un
essai accompagné.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C · Philippe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choix sur le parcours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Étape 3 · Un diagnostic, beaucoup de questions
Qui : Le médecin traitant
Outils : Le téléphone
Irritants : I3 · « Ça me prend trop de temps. », I6 · « WhatsApp, c'est plus
simple : tout le monde l'a déjà. »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Table démo C · Philippe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Annexe des échanges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Étape 3 · Le téléphone
Pourquoi ce choix : Exemple fictif : identifier les bons contacts et organiser
l’échange utile.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ÉTOILES DU GROUPE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appréciations des outils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Santélien
Pertinence : 4,0/5 (2 groupe(s) évaluateur(s))
Facilité d’usage : 3,5/5 (2 groupe(s) évaluateur(s))
Gain de temps : 4,0/5 (2 groupe(s) évaluateur(s))
Difficulté d’équipement : 2,5/5 (2 groupe(s) évaluateur(s))
Chaque groupe pèse autant. Ses notes répétées sur un outil sont moyennées
avant la moyenne entre groupes.
Difficulté d’équipement : 5 signifie une difficulté élevée.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ÉTOILES DU GROUPE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Les appréciations des outils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 téléphone
Pertinence : 4,0/5 (1 groupe(s) évaluateur(s))
Facilité d’usage : 3,0/5 (1 groupe(s) évaluateur(s))
Gain de temps : 4,0/5 (1 groupe(s) évaluateur(s))
Difficulté d’équipement : 4,0/5 (1 groupe(s) évaluateur(s))
Chaque groupe pèse autant. Ses notes répétées sur un outil sont moyennées
avant la moyenne entre groupes.
Difficulté d’équipement : 5 signifie une difficulté élevée.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YN_SECTION">
            <a:extLst xmlns:a="http://schemas.openxmlformats.org/drawingml/2006/main">
              <a:ext uri="{FF2B5EF4-FFF2-40B4-BE49-F238E27FC236}">
                <a16:creationId xmlns:a16="http://schemas.microsoft.com/office/drawing/2014/main" id="{340938E2-F036-4549-BC6D-D851402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62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B77E69"/>
                </a:solidFill>
                <a:latin typeface="DejaVu Sans"/>
                <a:ea typeface="DejaVu Sans"/>
                <a:cs typeface="DejaVu Sans"/>
              </a:rPr>
              <a:t xml:space="preserve">PROCHAINES ÉTAPES</a:t>
            </a:r>
          </a:p>
        </p:txBody>
      </p:sp>
      <p:sp>
        <p:nvSpPr>
          <p:cNvPr id="2" name="DYN_TITLE">
            <a:extLst xmlns:a="http://schemas.openxmlformats.org/drawingml/2006/main">
              <a:ext uri="{FF2B5EF4-FFF2-40B4-BE49-F238E27FC236}">
                <a16:creationId xmlns:a16="http://schemas.microsoft.com/office/drawing/2014/main" id="{601DA1A2-1C63-4F14-B38C-8A947A5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Le suivi de la journée</a:t>
            </a:r>
          </a:p>
        </p:txBody>
      </p:sp>
      <p:sp>
        <p:nvSpPr>
          <p:cNvPr id="3" name="DYN_BODY">
            <a:extLst xmlns:a="http://schemas.openxmlformats.org/drawingml/2006/main">
              <a:ext uri="{FF2B5EF4-FFF2-40B4-BE49-F238E27FC236}">
                <a16:creationId xmlns:a16="http://schemas.microsoft.com/office/drawing/2014/main" id="{9FFEE18D-5662-41D7-A451-F89FB1D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763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9466E"/>
                </a:solidFill>
                <a:latin typeface="DejaVu Sans"/>
                <a:ea typeface="DejaVu Sans"/>
                <a:cs typeface="DejaVu Sans"/>
              </a:rPr>
              <a:t>EXEMPLE FICTIF : préciser un pilote et une échéance en plénière.
Les questions à confirmer restent ouvertes jusqu’à vérification.
Le JSON et le compte rendu détaillé conservent les saisies. Les participants
utilisent les fiches du kit avec leur date et leur statut.
Références : frises et annexe de l’organisateur, datées du 05/10/2026.</a:t>
            </a:r>
          </a:p>
        </p:txBody>
      </p:sp>
      <p:sp>
        <p:nvSpPr>
          <p:cNvPr id="4" name="DYN_FOOTER">
            <a:extLst xmlns:a="http://schemas.openxmlformats.org/drawingml/2006/main">
              <a:ext uri="{FF2B5EF4-FFF2-40B4-BE49-F238E27FC236}">
                <a16:creationId xmlns:a16="http://schemas.microsoft.com/office/drawing/2014/main" id="{21F97403-9DB7-4F01-8F8E-F876CFC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DÉMONSTRATION · données fictives</a:t>
            </a:r>
          </a:p>
        </p:txBody>
      </p:sp>
      <p:sp>
        <p:nvSpPr>
          <p:cNvPr id="5" name="DYN_PAGE">
            <a:extLst xmlns:a="http://schemas.openxmlformats.org/drawingml/2006/main">
              <a:ext uri="{FF2B5EF4-FFF2-40B4-BE49-F238E27FC236}">
                <a16:creationId xmlns:a16="http://schemas.microsoft.com/office/drawing/2014/main" id="{B05AE21D-8806-40B4-94EA-772D12C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95AF"/>
                </a:solidFill>
                <a:latin typeface="DejaVu Sans"/>
                <a:ea typeface="DejaVu Sans"/>
                <a:cs typeface="DejaVu San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109090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2026-10-18T15:26:06.6310000Z</dcterms:created>
  <dcterms:modified xsi:type="dcterms:W3CDTF">2026-10-18T15:26:06.6310000Z</dcterms:modified>
</coreProperties>
</file>