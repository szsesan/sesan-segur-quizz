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cd010ca-23dc-493e-f2d5-1733d667a2f0}">
          <p14:sldIdLst>
            <p14:sldId id="256"/>
            <p14:sldId id="257"/>
          </p14:sldIdLst>
        </p14:section>
        <p14:section name="Emilie, 37 ans" id="{e7285065-8d2a-0faf-e705-e81128fae6cf}">
          <p14:sldIdLst>
            <p14:sldId id="258"/>
            <p14:sldId id="259"/>
            <p14:sldId id="260"/>
          </p14:sldIdLst>
        </p14:section>
        <p14:section name="Monique, 89 ans" id="{9de5a962-8c31-6a33-233e-54ced5fb7d23}">
          <p14:sldIdLst>
            <p14:sldId id="261"/>
            <p14:sldId id="262"/>
            <p14:sldId id="263"/>
          </p14:sldIdLst>
        </p14:section>
        <p14:section name="Philippe, 58 ans" id="{c72569c5-4758-b245-a653-18286819db9c}">
          <p14:sldIdLst>
            <p14:sldId id="264"/>
            <p14:sldId id="265"/>
            <p14:sldId id="266"/>
          </p14:sldIdLst>
        </p14:section>
        <p14:section name="Planches de cartes" id="{ebbd8a3d-ddb7-c1cd-6e58-a7c4ea18f431}">
          <p14:sldIdLst>
            <p14:sldId id="267"/>
            <p14:sldId id="268"/>
            <p14:sldId id="269"/>
            <p14:sldId id="270"/>
            <p14:sldId id="271"/>
            <p14:sldId id="272"/>
            <p14:sldId id="273"/>
            <p14:sldId id="274"/>
            <p14:sldId id="275"/>
            <p14:sldId id="276"/>
          </p14:sldIdLst>
        </p14:section>
        <p14:section name="Annexe" id="{3608a059-ec87-8576-2c74-e41366e89612}">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Diaporama de l'atelier de l'après-midi. Diapos 2 à 12 : règles et frises (corrigé dans les notes de chaque frise). Diapos 13 à 20 : planches de cartes à imprimer (A4 paysage, puis découper). Diapo 21 : sources et statut des informations.
Déroulé : 14h00-14h45 jeu en groupes de 10 personnes au plus ; 14h45-15h30 restitution en groupe ; 15h30-16h30 plénière, 5 minutes par groupe avec une phrase choc.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CONSIGNES ANIMATEUR
Constituer des groupes de 10 personnes au plus ; une frise par groupe (ou une moitié de frise si les inscrits sont nombreux).
Distribuer : la frise imprimée en A3, les personnages découpés (à poser à côté de la carte, sur la zone « Qui ? »), les cartes outils et sous-cartes, au moins six cartes irritants et deux cartes « Autre irritant ».
Rappeler que la carte Gmail est une carte piège : elle n'est pas interdite en soi, mais exclue dès qu'il s'agit de données de santé nominatives (voir Philippe, trou n° 3).
La carte joker permet de proposer un outil absent du jeu ; le groupe doit le nommer.
Le corrigé figure dans les notes de chaque diapo de frise : meilleure réponse, réponses acceptables, réponses à écarter, point de discussion, question de relance, lien avec les missions. Plusieurs réponses sont recevables à chaque trou : l'objectif est la qualité de la justification, pas la bonne carte.
Nombre minimal d'irritants fixé ici à deux par frise : à ajuster par les organisateurs.
Pendant la restitution en groupe, faire formuler les éléments de langage en les rattachant aux missions des CPTS, MSP et centres de santé ; noter consensus et non-consensus sur la grille du livrable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personae à voix haute (2 minutes) avant de découvrir la frise. Faire repérer les acteurs déjà présents au départ : ce sont les premiers personnages à placer.
La frise compte 12 moments, dont 5 moments clés à compléter et 3 zones où un irritant est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Emilie, 37 ans, diapo 1/2
Moment 2 — Repère : la déclaration de grossesse en ligne par le médecin ou la sage-femme est transmise à la CPAM et à la CAF (source : ameli.fr, forum des assurés, réponses certifiées). Pas de carte : aucun arbitrage à discuter.
TROU N° 1 (moment 4)
Meilleure réponse : Médecin traitant, diététicienne de la MSP et gynécologue, autour d'Emilie. Outil : Santélien (cercle de soins et cahier de liaison), avec son tchat pour les échanges courants. Santélien est ouvert gratuitement à tout professionnel francilien, membre ou non de la MSP.
Acceptable, sous conditions : MSSanté si le gynécologue dispose d'une adresse : échange sécurisé et tracé, mais d'un professionnel à l'autre, sans fil collectif ni vue des intervenants. Les comptes rendus versés au DMP complètent l'échange sans le remplacer. Téléphone : pour une décision urgente, sans trace partagée.
À écarter : Gmail ou toute messagerie grand public (données de santé hors cadre sécurisé). Doctolib (prise de rendez-vous, pas coordination). Mon espace santé (ce n'est pas un outil d'échange entre professionnels).
Point de discussion attendu : Coordonner avec un professionnel extérieur à la MSP : l'outil interne de la MSP ne suffit pas toujours.
Question de relance : Le gynécologue n'a pas de compte Santélien : que lui proposez-vous concrètement, et qui s'en charge ?
Lien avec les missions : Coordination pluriprofessionnelle autour du patient (MSP) ; parcours grossesse, thème de parcours le plus fréquent dans les actions des CPTS franciliennes (diapo 21).
Irritant attendu sur ce moment : I7 ou I6 (éléments de langage dans les notes des planches irritants).
Sources : ARS Île-de-France, « Santélien : comment ça marche ? », 22/07/2025.
TROU N° 2 (moment 5)
Meilleure réponse : Médecin traitant (requérant) et diabétologue (requise), Emilie informée et consentante. Outil : Télésanté, sous-carte téléexpertise ; les éléments du dossier passent par MSSanté ou une plateforme sécurisée. La diabétologue rédige un compte rendu, versé au DMP et transmis au médecin traitant.
Acceptable, sous conditions : Téléphone entre confrères pour un avis rapide : pas de compte rendu formalisé, pas de trace partagée, pas de valorisation de l'acte.
À écarter : Téléconsultation (Emilie n'a pas besoin d'être vue : c'est un avis entre professionnels). Gmail. Toute sollicitation sans l'accord de la patiente.
Point de discussion attendu : Téléexpertise ou téléconsultation ? Qui recueille le consentement ? Où va le compte rendu ?
Question de relance : Qu'est-ce qui distingue ici la téléexpertise de la téléconsultation ? Qui doit recueillir l'accord d'Emilie, et comment le trace-t-on ?
Lien avec les missions : Accès aux soins de second recours (mission accès aux soins des CPTS). La convention médicale 2024-2029 (art. 79-1) permet au spécialiste de coter un avis ponctuel de consultant s'il doit voir la patiente dans les trois mois suivant une téléexpertise demandée par le médecin traitant.
Irritant attendu sur ce moment : I8 (éléments de langage dans les notes des planches irritants).
Sources : HAS, « Avec la télémédecine, une prise en charge rapide de vos patients » ; ARS Bretagne, mémo « Téléexpertise – mode d'emploi » ; Convention médicale 2024-2029, art. 79-1 (JO du 21/06/2024).
TROU N° 3 (moment 6)
Meilleure réponse : Diabétologue et Emilie, avec l'équipe de télésurveillance le cas échéant. Outil : Télésanté, sous-carte télésurveillance, si un dispositif inscrit sur la liste des activités de télésurveillance (ligne « diabète gestationnel ») et un opérateur déclaré sont disponibles ; téléconsultation pour les rendez-vous d'ajustement. Prescriptions : ordonnance numérique, ou envoi sécurisé dans la messagerie Mon espace santé d'Emilie.
Acceptable, sous conditions : Téléconsultations seules : l'analyse des glycémies se fait alors pendant la consultation. MSSanté vers la messagerie Mon espace santé pour faire parvenir l'ordonnance.
À écarter : Ordonnance envoyée par Gmail ou SMS. Doctolib comme canal de prescription.
Point de discussion attendu : La télésurveillance n'est pas une téléconsultation répétée : elle suppose un dispositif médical numérique et une organisation déclarée. Le lecteur de glycémie ne suffit pas.
Question de relance : Quelle différence entre suivre Emilie par téléconsultations répétées et la placer en télésurveillance ? Que faut-il réunir pour que la seconde soit possible ?
Lien avec les missions : Parcours grossesse et diabète ; articulation ville-spécialiste.
Sources : LFSS 2022, art. 36 ; décret n° 2022-1767 du 30/12/2022 ; arrêtés du 22/06/2023 (lignes génériques, dont diabète et diabète gestationnel) ; droit commun depuis le 01/07/2023 (sante.fr, ministère) ; Ordonnance n° 2020-1408 du 18/11/2020 ; décret n° 2023-1222 du 20/12/2023 ; ANS, Doctrine, fiche Ordonnance numérique (consultée le 05/10/2026) ; MACSF (éditeur privé) sur l'absence de sanction ; HAS, note de cadrage « Structuration de la posologie des médicaments » (QR code de l'ordonnance numérique).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Emilie, 37 ans, diapo 2/2
TROU N° 4 (moment 8)
Meilleure réponse : Équipe de la maternité (sage-femme, obstétricien). Outil : DMP, consulté avec l'accord d'Emilie, consciente et en mesure de le donner. Les comptes rendus, l'avis de la diabétologue et les prescriptions y figurent si les professionnels l'ont alimenté, comme la loi le leur impose (CSP, art. L.1111-15).
Acceptable, sous conditions : Emilie présente ses documents depuis l'application Mon espace santé (même dossier, accès patient). Téléphone au médecin traitant ou à la diabétologue pour compléter, aux heures ouvrées.
À écarter : Accès en urgence (« bris de glace ») : inutile, la patiente peut consentir ; il est réservé aux personnes hors d'état d'exprimer leur volonté (CSP, art. L.1111-17). Gmail. Santélien, sauf si la maternité a été ajoutée au cercle de soins.
Point de discussion attendu : DMP et Mon espace santé : un même dossier, deux portes (professionnel, patient). Consentement ou bris de glace. La qualité de l'alimentation en amont conditionne tout.
Question de relance : Qu'est-ce qui garantit que les résultats seront dans le DMP le jour J ? Que se passe-t-il si un professionnel ne l'a pas alimenté ?
Lien avec les missions : Continuité ville-hôpital.
Irritant attendu sur ce moment : I2 (éléments de langage dans les notes des planches irritants).
Sources : CSP, art. L.1111-15 (alimentation du DMP à chaque acte ou consultation, sauf opposition pour motif légitime), cité in ANS, Référentiel de sécurité DMP v0.7 ; CSP, art. L.1111-17 (I : accès au DMP d'une personne hors d'état d'exprimer sa volonté, risque immédiat, sauf opposition préalable), cité in dossier documentaire de la décision QPC n° 2024-1101 du 12/09/2024.
TROU N° 5 (moment 10)
Meilleure réponse : Équipe de la maternité, coordinateur de la CPTS, sage-femme libérale ou sage-femme de PMI, médecin traitant informé. Outil : Santélien, par la sollicitation de l'équipe ressource de la CPTS si elle l'a paramétrée, ou par le tchat ; puis ajout de la sage-femme au cercle de soins déjà ouvert (médecin traitant, diététicienne, gynécologue).
Acceptable, sous conditions : Téléphone au coordinateur de la CPTS pour amorcer, puis formalisation dans Santélien. MSSanté pour adresser le compte rendu de sortie à la sage-femme une fois identifiée. PRADO : si Emilie est éligible, la demande relève du conseiller de l'Assurance Maladie, pas de la CPTS. La CNAM indique un recul du PRADO maternité (−36 % d'adhésions en 2025), relayé par le droit commun ; l'existence d'un volet maternité dans ViaTrajectoire n'est pas établie.
À écarter : Doctolib comme outil de coordination (Emilie peut y trouver une sage-femme, mais la transmission d'informations entre professionnels ne passe pas par là). Gmail. Laisser Emilie chercher seule.
Point de discussion attendu : Qui organise la sortie : la maternité, l'Assurance Maladie (PRADO) ou la CPTS ? Comment l'hôpital sait-il qu'il peut solliciter la CPTS ?
Question de relance : Sur votre territoire, qui est capable de trouver une sage-femme en 48 heures ? Comment la maternité le sait-elle ?
Lien avec les missions : Mission parcours : « améliorer la prise en charge des femmes enceintes en sortie de maternité » figure parmi les actions les plus fréquentes des CPTS franciliennes (diapo 21).
Sources : ARS Île-de-France, « Santélien : comment ça marche ? », 22/07/2025 ; ANS / CNAM / SESAN, SantExpo 2026, atelier « ViaTrajectoire et PRADO », 19/05/2026.
Moment 11 — Repère : ViaTrajectoire couvre l'orientation de patients hospitalisés ou à domicile vers l'HAD (ANS, SantExpo 2026). La présence des HAD périnatales franciliennes dans ViaTrajectoire n'a pas été vérifiée.
Moment 12 — Repère : Mon espace santé propose un profil enfant géré par les parents (courbes de croissance, vaccinations, rappels d'examens) (ANS, JNMS 2026). Le carnet de santé papier reste en usage.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personae à voix haute (2 minutes) avant de découvrir la frise. Faire repérer les acteurs déjà présents au départ : ce sont les premiers personnages à placer.
La frise compte 12 moments, dont 5 moments clés à compléter et 3 zones où un irritant est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Monique, 89 ans, diapo 1/2
TROU N° 1 (moment 3)
Meilleure réponse : Aide à domicile, infirmier libéral, médecin traitant ; la fille informée. Outil : Santélien (cahier de liaison pour les observations, tchat pour signaler). L'ARS présente Santélien comme ouvert aux professionnels du médico-social et du social.
Acceptable, sous conditions : Le cahier papier, en complément : visible au domicile seulement. Téléphone pour une alerte immédiate.
À écarter : Groupe WhatsApp ou SMS entre intervenants et la fille avec des données de santé. Gmail. Mon espace santé (pas d'échange entre usagers ; l'accès aidant n'est pas en production).
Point de discussion attendu : La place de l'aidante : elle figure dans le cercle de soins comme contact, sans accès utilisateur (un accès patient est annoncé, non disponible). Que lui transmet-on, et par quel canal ?
Question de relance : La fille veut être prévenue dès que sa mère « n'est pas comme d'habitude ». Comment l'organiser sans faire circuler de données de santé sur une messagerie grand public ?
Lien avec les missions : Maintien à domicile des personnes âgées, deuxième thème de parcours des CPTS franciliennes (diapo 21) ; coordination entre soins et médico-social.
Sources : ARS Île-de-France, « Santélien : comment ça marche ? », 22/07/2025 ; ANS / Délégation au numérique en santé, JNMS, atelier n° 14 « Mon espace santé : état des lieux et perspectives », 10/03/2026 ; ANS, Doctrine du numérique en santé, fiche Mon espace santé, consultée le 05/10/2026.
TROU N° 2 (moment 5)
Meilleure réponse : Médecin urgentiste. Outil : DMP en accès d'urgence (« bris de glace ») : Monique, désorientée, est hors d'état d'exprimer sa volonté, et l'interruption de son traitement crée un risque immédiat (CSP, art. L.1111-17), sauf opposition préalable de sa part. Personne à prévenir : sous-carte « Contacts d'urgence » de Mon espace santé, si Monique les a renseignés.
Acceptable, sous conditions : Téléphone au médecin traitant ou au cardiologue s'ils sont joignables ; appel à sa pharmacie habituelle.
À écarter : Consulter le DMP hors situation d'urgence. Demander les antécédents à la voisine (secret médical). Gmail.
Point de discussion attendu : Les conditions du bris de glace ; ce que le patient peut bloquer (accès du SAMU, accès d'urgence d'un autre professionnel, documents masqués) ; traçabilité et notification au patient. La visibilité des contacts d'urgence par le professionnel est un point à confirmer.
Question de relance : Monique est désorientée mais elle parle : est-elle « hors d'état d'exprimer sa volonté » ? Qui en juge ?
Lien avec les missions : Lien ville-hôpital.
Irritant attendu sur ce moment : I4 (éléments de langage dans les notes des planches irritants).
Sources : CSP, art. L.1111-17 (I : accès au DMP d'une personne hors d'état d'exprimer sa volonté, risque immédiat, sauf opposition préalable), cité in dossier documentaire de la décision QPC n° 2024-1101 du 12/09/2024 ; ANS / Délégation au numérique en santé, JNMS, atelier n° 14 « Mon espace santé : état des lieux et perspectives », 10/03/2026 ; ANS, Doctrine du numérique en santé, fiche Mon espace santé, consultée le 05/10/2026.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Monique, 89 ans, diapo 2/2
TROU N° 3 (moment 8)
Meilleure réponse : Médecin du service de médecine interne vers le médecin traitant (destinataire obligatoire) et le cardiologue. Outil : MSSanté pour la lettre de liaison et les résultats, le jour de la sortie, et versement au DMP. Pour l'infirmier : inscription dans le cercle de soins Santélien, ou MSSanté si son adresse est connue.
Acceptable, sous conditions : Téléphone à l'infirmier par le service ou l'assistante sociale (sans trace). Remise de la lettre à Monique, obligatoire mais insuffisante au vu de ses troubles cognitifs.
À écarter : Gmail. Ne rien prévoir pour l'infirmier au motif que la réglementation ne l'impose pas.
Point de discussion attendu : Le CSP (art. R.1112-1-2) impose la transmission au médecin traitant et au praticien adresseur, pas à l'infirmier : c'est l'origine de l'irritant. Comment la CPTS organise-t-elle l'information des paramédicaux ?
Question de relance : Comment le service hospitalier connaît-il le nom de l'infirmier qui passe chez Monique ?
Lien avec les missions : Coordination ville-hôpital : « organisation des entrées et sorties » est le sous-thème dominant des actions lien ville-hôpital des CPTS (diapo 21).
Irritant attendu sur ce moment : I1 (éléments de langage dans les notes des planches irritants).
Sources : CSP, art. R.1112-1-2, issu du décret n° 2016-995 du 20/07/2016 ; HAS, certification 2025, critère 1.2-04 ; ARS Île-de-France, « Santélien : comment ça marche ? », 22/07/2025.
TROU N° 4 (moment 9)
Meilleure réponse : Équipe hospitalière (médecin, assistante sociale) avec la filière gériatrique, puis le CRT. Outil : ViaTrajectoire pour la demande d'admission en EHPAD. En Île-de-France, l'ARS indique que les orientations HTSH passent, selon les territoires, par les services hospitaliers, les filières gériatriques ou les DAC, et publie un annuaire des référents HTSH.
Acceptable, sous conditions : Téléphone au référent HTSH de l'EHPAD (coordonnées dans l'annuaire de l'ARS). ROR ou Maillage pour identifier l'offre. PRADO personnes âgées, proposé par le conseiller de l'Assurance Maladie, pour sécuriser le retour.
À écarter : Doctolib. Gmail pour transmettre le dossier médical. Laisser la fille chercher seule un EHPAD.
Point de discussion attendu : HTSH (30 jours au plus, reste à charge ramené au niveau du forfait hospitalier) ou hébergement temporaire classique ; rôle du CRT (accompagnement renforcé, alternative à l'EHPAD) ; qui pilote la sortie ?
Question de relance : Qui, de l'hôpital, du DAC ou du CRT, dépose la demande ? Comment le médecin traitant en est-il informé ?
Lien avec les missions : Parcours personne âgée ; lien ville-hôpital.
Sources : ARS Île-de-France, fiche HTSH et page « Structuration du dispositif HTSH en Île-de-France » (organisation par filières gériatriques depuis le 01/05/2023) ; DGCS, note d'information du 08/07/2024 ; ANS / CNAM / SESAN, SantExpo 2026, atelier « ViaTrajectoire et PRADO », 19/05/2026 ; Décret n° 2022-731 et arrêté du 27/04/2022 relatifs à la mission de centre de ressources territorial pour les personnes âgées.
Moment 10 — Repère : téléconsultation de préadmission (v2). Pas d'arbitrage : la modalité est donnée.
TROU N° 5 (moment 11)
Meilleure réponse : CRT (coordination), infirmier libéral, aide à domicile, médecin traitant, accueil de jour, avec la fille comme contact. Outil : Santélien (cercle de soins avec les coordonnées de tous, y compris l'aidante ; cahier de liaison ; tâches).
Acceptable, sous conditions : MSSanté entre professionnels identifiés. Un tableau papier au domicile, en complément.
À écarter : Tableur partagé via une messagerie grand public. Maillage pour coordonner : il sert à trouver l'offre, pas à suivre un patient.
Point de discussion attendu : Les coordonnées des intervenants habituels sont difficiles à retrouver : qui crée le cercle de soins, qui le tient à jour ?
Question de relance : Qui ouvre le dossier Santélien de Monique, et qui y ajoute l'aide à domicile et la fille ?
Lien avec les missions : Maintien à domicile ; appui de la CPTS (recherche d'un kinésithérapeute, moment 12).
Irritant attendu sur ce moment : I10 ou I3 (éléments de langage dans les notes des planches irritants).
Sources : ARS Île-de-France, « Santélien : comment ça marche ? », 22/07/2025 ; Décret n° 2022-731 et arrêté du 27/04/2022 relatifs à la mission de centre de ressources territorial pour les personnes âgées.
Moment 12 — Repère : appui de la CPTS à la recherche d'un professionnel (mission accès aux soins).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personae à voix haute (2 minutes) avant de découvrir la frise. Faire repérer les acteurs déjà présents au départ : ce sont les premiers personnages à placer.
La frise compte 10 moments, dont 5 moments clés à compléter et 3 zones où un irritant est attendu.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Philippe, 58 ans, diapo 1/2
TROU N° 1 (moment 3)
Meilleure réponse : Médecin traitant et Philippe. Outil : Mon espace santé : Philippe y retrouve les résultats versés au DMP ; le médecin peut lui écrire depuis sa MSSanté (sous-carte « Messagerie de santé ») et Philippe lui répondre ; le médecin peut clore l'échange à tout moment.
Acceptable, sous conditions : Documents papier remis en consultation, non centralisés. Services du catalogue Mon espace santé pour les mesures.
À écarter : Résultats envoyés par Gmail. Doctolib. Laisser Philippe chercher seul sur Internet.
Point de discussion attendu : La messagerie de Mon espace santé expose-t-elle à un flot de sollicitations ? (Seul le professionnel initie ; elle n'est pas destinée aux rendez-vous ; la responsabilité du professionnel n'est pas engagée pour un message non lu, selon l'ANS.) L'outil ne remplace pas l'éducation thérapeutique.
Question de relance : Philippe a « beaucoup de questions ». L'outil y répond-il, ou faut-il une autre réponse (éducation thérapeutique, IPA, ateliers du centre de santé) ?
Lien avec les missions : Prévention et éducation thérapeutique (centre de santé) ; parcours diabète.
Irritant attendu sur ce moment : I5 (éléments de langage dans les notes des planches irritants).
Sources : ANS, FAQ « En tant que professionnel habilité… communication avec les patients via MSSanté », mise à jour du 03/09/2025 ; ANS, fiche utilisateur MSSanté « Professionnel de santé libéral » (messagerie de Mon espace santé).
TROU N° 2 (moment 4)
Meilleure réponse : Médecin traitant vers l'ophtalmologiste, le cardiologue, le pédicure-podologue, le chirurgien-dentiste et le diététicien. Outil : MSSanté pour les courriers d'adressage ; DMP pour que chacun retrouve résultats biologiques et d'imagerie.
Acceptable, sous conditions : Courrier papier remis au patient (sans trace partagée, risque de perte). Santélien si plusieurs de ces professionnels suivent Philippe durablement.
À écarter : Gmail. Téléphone (ni trace ni document). Doctolib pour transmettre le dossier.
Point de discussion attendu : Tous les correspondants ont-ils une adresse MSSanté (podologue, chirurgien-dentiste) ? Comment le vérifier ?
Question de relance : Comment savoir si le podologue a une messagerie sécurisée ? Et s'il n'en a pas ?
Lien avec les missions : Coordination pluriprofessionnelle (MSP, CDS) ; parcours diabète (52 actions de CPTS sur le diabète de l'adulte, diapo 21).
Sources : ANS / Délégation au numérique en santé, JNMS, atelier n° 14 « Mon espace santé : état des lieux et perspectives », 10/03/2026.
TROU N° 3 (moment 5)
Meilleure réponse : Médecin traitant et coordinateur de la CPTS. Outil : ressources de la CPTS (annuaire, protocoles locaux, recensement de l'offre sport-santé) ; Maillage pour l'offre départementale référencée.
Acceptable, sous conditions : Téléphone ou courriel au coordinateur de la CPTS : tant qu'aucune donnée de santé nominative n'y figure, une messagerie grand public n'est pas interdite pour demander une liste.
À écarter : Doctolib. Transmettre l'identité et les résultats de Philippe à la Maison Sport Santé par Gmail.
Point de discussion attendu : La carte Gmail n'est pas interdite en soi : elle l'est pour des données de santé nominatives. Savoir où la CPTS publie ses ressources est un enjeu d'appropriation.
Question de relance : Le médecin écrit au coordinateur pour demander la liste : Gmail pose-t-il problème ? Et s'il ajoute le nom et l'hémoglobine glyquée de Philippe ?
Lien avec les missions : Mission prévention (sport-santé : 25 actions de CPTS recensées, diapo 21) et connaissance des ressources locales.
Irritant attendu sur ce moment : I11 (éléments de langage dans les notes des planches irritants).
Sources : SESAN (GRADeS Île-de-France), page « Maillage », consultée le 05/10/2026 ; Plexus Santé (source commerciale) : fiche Capterra ; formulaires d'adhésion de CPTS mentionnant l'outil.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ANIMATEUR — Philippe, 58 ans, diapo 2/2
Moment 6 — Repère : l'application carte Vitale est ouverte à tous les assurés depuis le 18/11/2025 (Assurance Maladie). L'ordonnance numérique peut être évoquée ici si le groupe la mentionne : voir le trou n° 3 d'Emilie et l'irritant I12.
TROU N° 4 (moment 7)
Meilleure réponse : Médecin traitant (requérant) et diabétologue (requise), Philippe informé et d'accord. Outil : Télésanté, sous-carte téléexpertise, via MSSanté ou une plateforme sécurisée ; compte rendu de la diabétologue versé au DMP et transmis au médecin traitant.
Acceptable, sous conditions : Téléphone entre confrères : avis rapide, sans compte rendu ni trace partagée ni valorisation.
À écarter : Téléconsultation (Philippe n'a pas besoin d'être vu). Gmail.
Point de discussion attendu : La téléexpertise « à faire deviner » (v2) : distinguer l'avis entre professionnels de la consultation à distance.
Question de relance : Si la diabétologue estime devoir voir Philippe après son avis, que se passe-t-il ?
Lien avec les missions : Accès au second recours. La convention médicale 2024-2029 (art. 79-1) permet de coter un avis ponctuel de consultant dans les trois mois suivant une téléexpertise demandée par le médecin traitant.
Sources : HAS, « Avec la télémédecine, une prise en charge rapide de vos patients » ; ARS Bretagne, mémo « Téléexpertise – mode d'emploi » ; Convention médicale 2024-2029, art. 79-1 (JO du 21/06/2024).
TROU N° 5 (moment 9)
Meilleure réponse : Médecin traitant, IPA de la CPTS, diabétologue, diététicien, Philippe. Outil : Santélien (cercle de soins et tchat). Une télésurveillance, si un dispositif inscrit et une organisation déclarée sont mis en place, vient en complément.
Acceptable, sous conditions : MSSanté pour les comptes rendus et les ajustements ponctuels. Téléphone en cas d'urgence. Messagerie Doctolib Siilo seulement si la structure a vérifié sa conformité, sachant qu'une solution régionale gratuite existe.
À écarter : Groupe WhatsApp. Gmail.
Point de discussion attendu : Le recours à l'IPA dans le cadre de l'exercice coordonné ; l'organisation en ville quand l'hôpital de jour n'a pas de place.
Question de relance : Qui ouvre le dossier de coordination de Philippe, et qui en est responsable s'il change de professionnel ?
Lien avec les missions : Exercice coordonné ; parcours diabète.
Irritant attendu sur ce moment : I6 (éléments de langage dans les notes des planches irritants).
Sources : ARS Île-de-France, « Santélien : comment ça marche ? », 22/07/2025 ; LFSS 2022, art. 36 ; décret n° 2022-1767 du 30/12/2022 ; arrêtés du 22/06/2023 (lignes génériques, dont diabète et diabète gestationnel) ; droit commun depuis le 01/07/2023 (sante.fr, ministère) ; Doctolib (source commerciale) : communiqué d'acquisition de Siilo (02/03/2023), fiche App Store « Doctolib Connect (Siilo) » ; Le Quotidien du pharmacien (presse professionnelle).
Moment 10 — Repère : le catalogue de services de Mon espace santé référence des applications qui peuvent verser des données dans le profil (ANS ; ARS ARA). Aucune application n'est citée nommément faute de vérification.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à imprimer en A4 paysage puis à découper ; prévoir plusieurs exemplaires de DMP, MSSanté, Santélien, Chat de Santélien et Télésanté.
Corrections apportées aux cartes existantes : « Santé lien » devient « Santélien », graphie retenue par l'ARS Île-de-France ; la carte ViaTrajectoire mentionne les SMR (et non plus les SSR) ; la carte Maillage précise que le portail est réservé aux professionnels (SESAN). La carte Mon espace santé conserve l'agenda : il s'agit de l'agenda de prévention présenté par l'ANS en mars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 ajoutées et justification :
Ordonnance numérique : Mobilisée par la v2 de Philippe (délivrance de la metformine) et utile au trou n° 3 d'Emilie (prescriptions à distance de la diabétologue), où elle doit être distinguée de l'envoi sécurisé d'un document au patient.
Ressources de la CPTS : Exigée par le trou n° 3 de Philippe (liste des Maisons Sport Santé) ; regroupe le site de la CPTS et ses outils d'adhérents. Plexus est cité comme exemple de solution commerciale ; « ATOMES » n'a pas pu être identifié.
Sous-carte Télésurveillance : La v2 d'Emilie (suivi à distance sous insuline) et celle de Philippe (capteur de glucose) appellent la distinction téléconsultation / télésurveillance ; la planche existante (diapo 17) n'en comporte pas.
Sous-cartes DMP, Mon espace santé, Santélien, Doctolib, ViaTrajectoire : Annoncées dans le texte de la diapo 17 mais absentes de son image, qui ne montre que les sous-cartes Télésanté ; elles servent les trous Monique n° 2 et n° 5, Emilie n° 5 et Philippe n° 1.
Outils mentionnés par les scénarios mais sans carte :
Déclaration de grossesse en ligne : Traitée en repère (Emilie, moment 2) : aucun arbitrage entre outils à discuter.
Application carte Vitale : Traitée en repère (Philippe, moment 6) : sans enjeu de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sous-cartes se posent sur ou à côté de la carte outil mère pour préciser l'usage. L'image de la diapo 17 d'origine ne montrait que les sous-cartes Télésanté ; les autres sous-cartes suivent le texte de cette diapo (DMP « bris de glace », Mon espace santé, Santélien, Doctolib).
Télésurveillance : droit commun depuis le 01/07/2023 (LFSS 2022, art. 36 ; décret n° 2022-1767 ; arrêtés du 22/06/2023).
Accès en urgence au DMP : CSP, art. L.1111-17, I. Le patient peut bloquer l'accès du SAMU, l'accès d'urgence des autres professionnels et l'accès d'urgence aux documents masqués (ANS, mars 2026).
Messagerie de santé : seul le professionnel initie ; exception pour la pharmacie depuis mi-mai 2023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Contacts d'urgence : rubrique du profil médical renseignée par le patient (ANS, Doctrine). Leur visibilité directe par un professionnel n'est pas établie de façon concordante (voir points à vérifier).
Santélien : fonctionnalités décrites par l'ARS Île-de-France (22/07/2025).
Doctolib : source commerciale ; l'application Siilo apparaît aussi sous le nom « Doctolib Connect » sur l'App Store. Son statut au regard de l'Espace de confiance MSSanté n'a pas été établi.
Volet PRADO de ViaTrajectoire : objectif CNAM de 100 % des demandes PRADO via ViaTrajectoire fin 2026 (SantExpo, 19/05/2026). La couverture du volet maternité n'est pas établie.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Personnages à imprimer (A4 paysage), découper et éventuellement coller sur carton pour les faire tenir debout ou les poser sur la frise. Les professionnels sont dessinés sans marqueur de genre ; les intitulés reprennent ceux des cartes. Les trois patients reprennent les personae : Monique (89 ans), Philippe (58 ans, capteur de glucose au bras), Emilie (37 ans, enceinte).
Chaque personnage intervient dans au moins une frise. Non retenus faute de rôle dans un moment clé : pompiers, amie voisine, téléassistance, Maison Sport Santé.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conseiller de l'Assurance Maladie n'intervient que dans les réponses relatives à PRADO (Emilie, trou n° 5 ; Monique, trou n° 4) : PRADO est un service de l'Assurance Maladie, que la CPTS n'organise pas.
Les structures (laboratoire, service hospitalier, maternité, HAD, EHPAD, CRT, CCAS) sont représentées par un professionnel qui y exerce.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ÉLÉMENTS DE LANGAGE PROPOSÉS (à ne pas imprimer sur les cartes)
I1 — « Les infirmiers libéraux ne sont pas prévenus de la sortie d'hospitalisation. »
Élément de langage : C'est un fait que la réglementation ne prévoit la transmission de la lettre de liaison, le jour de la sortie, qu'au médecin traitant et au praticien qui a adressé le patient (CSP, art. R.1112-1-2). L'infirmier doit donc être inscrit ailleurs : dans le cercle de soins Santélien du patient, outil que l'ARS présente comme progressivement connecté aux logiciels hospitaliers, notamment de l'AP-HP, pour signaler hospitalisations et sorties. La lettre de liaison est par ailleurs versée au DMP, que l'infirmier peut consulter avec l'accord du patient, dans les limites de la matrice d'habilitation. Organiser cette information est un objet naturel des protocoles ville-hôpital d'une CPTS.
Statut : Établi (règle de transmission) ; annoncé et progressif (interfaçage Santélien). Sources : CSP, art. R.1112-1-2, issu du décret n° 2016-995 du 20/07/2016 ; HAS, certification 2025, critère 1.2-04 ; ARS Île-de-France, « Santélien : comment ça marche ? », 22/07/2025.
I2 — « Je ne retrouve pas les documents dans le DMP. »
Élément de langage : La consultation du DMP intégrée au logiciel métier, avec tri et filtres, arrive avec la vague 2 du Ségur numérique, déployée progressivement depuis le premier trimestre 2026 ; en attendant, elle passe par le service web du DMP. Le dossier se remplit : 428 millions de documents y ont été versés en 2025 selon l'ANS, et les comptes rendus de biologie, de consultation et d'imagerie sont les plus consultés par les professionnels.
Statut : Annoncé, en déploiement (consultation intégrée) ; chiffre ANS de mars 2026. Sources : ANS / Délégation au numérique en santé, JNMS, atelier n° 14 « Mon espace santé : état des lieux et perspectives », 10/03/2026.
I3 — « Ça me prend trop de temps. »
Élément de langage : L'alimentation du DMP est largement automatisée par les logiciels référencés Ségur, et l'information du patient n'est à donner qu'une fois dans son suivi (ANS). Santélien reprend ce qui se fait déjà au téléphone ou sur un cahier, avec une trace partagée. Nous n'avons pas de mesure de gain de temps à opposer : si la question est déterminante pour votre équipe, objectivons-la sur un parcours précis.
Statut : Établi (règles d'alimentation) ; aucun chiffre de gain de temps disponible. Sources : ANS / Délégation au numérique en santé, JNMS, atelier n° 14 « Mon espace santé : état des lieux et perspectives », 10/03/2026 ; ARS Île-de-France, « Santélien : comment ça marche ? », 22/07/2025.
I4 — « Sans le consentement du patient, je ne peux pas ouvrir son DMP aux urgences. »
Élément de langage : La loi prévoit précisément ce cas : un professionnel peut accéder au DMP d'une personne hors d'état d'exprimer sa volonté, en présence d'un risque immédiat pour sa santé, sauf si elle s'y est opposée auparavant (CSP, art. L.1111-17). L'accès est tracé et le patient en est notifié. Le patient peut bloquer l'accès du SAMU, l'accès d'urgence des autres professionnels ou l'accès d'urgence à ses documents masqués.
Statut : En vigueur. Sources : CSP, art. L.1111-17 (I : accès au DMP d'une personne hors d'état d'exprimer sa volonté, risque immédiat, sauf opposition préalable), cité in dossier documentaire de la décision QPC n° 2024-1101 du 12/09/2024 ; ANS / Délégation au numérique en santé, JNMS, atelier n° 14 « Mon espace santé : état des lieux et perspectives », 10/03/2026.
I5 — « Si j'écris à mes patients sur Mon espace santé, ils vont m'inonder de messages. »
Élément de langage : Un patient ne peut pas écrire à un professionnel qui ne l'a pas contacté d'abord, et le professionnel peut clore l'échange à tout moment en envoyant un message dont l'objet est [FIN] (ANS, FAQ du 03/09/2025). La messagerie n'est pas destinée à la prise de rendez-vous. Seule exception : le patient peut adresser directement une ordonnance à sa pharmacie, depuis mi-mai 2023.
Statut : En vigueur (fonctionnement du service). Sources : ANS, FAQ « En tant que professionnel habilité… communication avec les patients via MSSanté », mise à jour du 03/09/2025 ; ANS, page « Mon espace santé – Professionnel de santé » (exception pharmacie depuis mi-mai 2023), consultée le 05/10/2026.
I6 — « WhatsApp, c'est plus simple : tout le monde l'a déjà. »
Élément de langage : Les informations de santé échangées entre professionnels restent couvertes par le secret et doivent circuler par des moyens qui en garantissent la confidentialité (CSP, art. L.1110-4). Le tchat de Santélien offre la même instantanéité, sur mobile et gratuitement, dans un cadre que l'ARS présente comme conforme à l'échange de données de santé, et il est rattaché au dossier du patient.
Statut : En vigueur (cadre juridique) ; service régional disponible depuis mai 2024. Sources : ARS Île-de-France, « Santélien : comment ça marche ? », 22/07/2025.
I7 — « Le gynéco n'est pas dans notre MSP : il n'a pas notre outil. »
Élément de langage : Santélien n'est pas l'outil d'une MSP : il est ouvert gratuitement à tous les professionnels franciliens, en ville comme à l'hôpital, et la création de compte est simplifiée pour les détenteurs d'une carte e-CPS (ARS Île-de-France). À défaut, MSSanté permet d'écrire à tout professionnel inscrit dans l'Espace de confiance.
Statut : Établi. Sources : ARS Île-de-France, « Santélien : comment ça marche ? », 22/07/2025.
I8 — « La téléexpertise, c'est compliqué et ce n'est pas rémunéré. »
Élément de langage : La téléexpertise est ouverte à tous les patients, facturable par le requérant comme par le requis, et un envoi par messagerie sécurisée suffit, sans vidéo (ARS Bretagne). La convention médicale de 2024 permet en outre au spécialiste de coter un avis ponctuel de consultant s'il doit voir le patient dans les trois mois qui suivent une téléexpertise demandée par le médecin traitant (art. 79-1).
Statut : En vigueur ; montants non repris ici (à vérifier sur ameli.fr avant diffusion). Sources : HAS, « Avec la télémédecine, une prise en charge rapide de vos patients » ; ARS Bretagne, mémo « Téléexpertise – mode d'emploi » ; Convention médicale 2024-2029, art. 79-1 (JO du 21/06/2024).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ÉLÉMENTS DE LANGAGE PROPOSÉS (à ne pas imprimer sur les cartes)
I9 — « ViaTrajectoire, c'est un outil de plus : un coup de fil va plus vite. »
Élément de langage : ViaTrajectoire est le service public national d'orientation, gratuit, avec un dossier d'admission unique partagé par les professionnels habilités et des tableaux de suivi en temps réel. Pour PRADO, la CNAM a indiqué que les demandes non présentées par ViaTrajectoire après fin 2026 ne seront plus traitées par les conseillers de l'Assurance Maladie.
Statut : Établi (service) ; doctrine CNAM annoncée en mai 2026. Sources : ANS / CNAM / SESAN, SantExpo 2026, atelier « ViaTrajectoire et PRADO », 19/05/2026.
I10 — « Je ne sais jamais qui intervient chez le patient, ni comment les joindre. »
Élément de langage : C'est la fonction du cercle de soins de Santélien : visualiser les intervenants autour d'un patient, professionnels, structures et aidants, avec leurs coordonnées (ARS Île-de-France). Il ne vaut que s'il est tenu à jour : la vraie question est de savoir qui l'alimente dans votre organisation.
Statut : Établi. Sources : ARS Île-de-France, « Santélien : comment ça marche ? », 22/07/2025.
I11 — « Les ressources du territoire, je les cherche sur Internet. »
Élément de langage : Maillage recense, département par département, l'offre sanitaire, médico-sociale et sociale à partir du ROR ; il est réservé aux professionnels et animé par les dispositifs d'appui à la coordination (SESAN). La CPTS complète avec ses propres protocoles et contacts locaux.
Statut : Établi. Sources : SESAN (GRADeS Île-de-France), page « Maillage », consultée le 05/10/2026.
I12 — « L'ordonnance numérique ne marche pas avec mon logiciel ou ma pharmacie. »
Élément de langage : L'obligation de prescrire par voie numérique s'applique depuis le 1er janvier 2025 (ordonnance n° 2020-1408, décret n° 2023-1222), sans sanction prévue, et le déploiement reste progressif : l'ANS présente 2026 comme l'année de généralisation chez les prescripteurs et les officines. La première question à poser porte sur la version du logiciel ; les délégués numériques en santé de l'Assurance Maladie accompagnent les professionnels.
Statut : En vigueur (obligation) ; déploiement inachevé. Sources : Ordonnance n° 2020-1408 du 18/11/2020 ; décret n° 2023-1222 du 20/12/2023 ; ANS, Doctrine, fiche Ordonnance numérique (consultée le 05/10/2026) ; MACSF (éditeur privé) sur l'absence de sanction.
Cartes « Autre irritant » : à remplir par les participants (note de la diapo 18 : « cartes bonus autres freins identifiés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détaillée des sources (références complètes) :
CSP, art. L.1111-17 (I : accès au DMP d'une personne hors d'état d'exprimer sa volonté, risque immédiat, sauf opposition préalable), cité in dossier documentaire de la décision QPC n° 2024-1101 du 12/09/2024
CSP, art. L.1111-15 (alimentation du DMP à chaque acte ou consultation, sauf opposition pour motif légitime), cité in ANS, Référentiel de sécurité DMP v0.7
ANS / Délégation au numérique en santé, JNMS, atelier n° 14 « Mon espace santé : état des lieux et perspectives », 10/03/2026
ANS, FAQ « En tant que professionnel habilité… communication avec les patients via MSSanté », mise à jour du 03/09/2025
ANS, page « Mon espace santé – Professionnel de santé » (exception pharmacie depuis mi-mai 2023), consultée le 05/10/2026
ANS, Doctrine du numérique en santé, fiche Mon espace santé, consultée le 05/10/2026
ANS, fiche utilisateur MSSanté « Professionnel de santé libéral » (messagerie de Mon espace santé)
Loi n° 2026-404 du 26/05/2026 visant à garantir l'égal accès de tous à l'accompagnement et aux soins palliatifs (délégation d'accès à l'espace numérique de santé) ; présentation : Weka (éditeur privé), 26/05/2026
ANS / CNAM / SESAN, SantExpo 2026, atelier « ViaTrajectoire et PRADO », 19/05/2026
ARS Île-de-France, fiche HTSH et page « Structuration du dispositif HTSH en Île-de-France » (organisation par filières gériatriques depuis le 01/05/2023) ; DGCS, note d'information du 08/07/2024
ARS Île-de-France, « Santélien : comment ça marche ? », 22/07/2025
SESAN (GRADeS Île-de-France), page « Maillage », consultée le 05/10/2026
LFSS 2022, art. 36 ; décret n° 2022-1767 du 30/12/2022 ; arrêtés du 22/06/2023 (lignes génériques, dont diabète et diabète gestationnel) ; droit commun depuis le 01/07/2023 (sante.fr, ministère)
Ordonnance n° 2020-1408 du 18/11/2020 ; décret n° 2023-1222 du 20/12/2023 ; ANS, Doctrine, fiche Ordonnance numérique (consultée le 05/10/2026) ; MACSF (éditeur privé) sur l'absence de sanction
HAS, « Avec la télémédecine, une prise en charge rapide de vos patients » ; ARS Bretagne, mémo « Téléexpertise – mode d'emploi » ; Convention médicale 2024-2029, art. 79-1 (JO du 21/06/2024)
CSP, art. R.1112-1-2, issu du décret n° 2016-995 du 20/07/2016 ; HAS, certification 2025, critère 1.2-04
Assurance Maladie, actualité « L'appli carte Vitale est désormais disponible pour tous les patients » (généralisation le 18/11/2025), relayée par l'ARS Guadeloupe (Info PS du 16/01/2026)
ameli.fr, forum des assurés, réponses certifiées par l'Assurance Maladie (déclaration en ligne transmise à la CPAM et à la CAF)
Décret n° 2022-731 et arrêté du 27/04/2022 relatifs à la mission de centre de ressources territorial pour les personnes âgées
Doctolib (source commerciale) : communiqué d'acquisition de Siilo (02/03/2023), fiche App Store « Doctolib Connect (Siilo) » ; Le Quotidien du pharmacien (presse professionnelle)
Plexus Santé (source commerciale) : fiche Capterra ; formulaires d'adhésion de CPTS mentionnant l'outil
Cour des comptes, « Les téléconsultations », communication à la commission des affaires sociales du Sénat, avril 2025
HAS, note de cadrage « Structuration de la posologie des médicaments » (QR code de l'ordonnance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EU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rtlCol="0"/>
          <a:lstStyle>
            <a:lvl1pPr algn="l" indent="0" marL="0">
              <a:buNone/>
              <a:defRPr lang="en-US" sz="2600" b="1" dirty="0">
                <a:solidFill>
                  <a:srgbClr val="1F4A42"/>
                </a:solidFill>
                <a:latin typeface="Georgia" pitchFamily="34" charset="0"/>
                <a:ea typeface="Georgia" pitchFamily="34" charset="-122"/>
                <a:cs typeface="Georgia" pitchFamily="34" charset="-120"/>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NCH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rtlCol="0"/>
          <a:lstStyle>
            <a:lvl1pPr algn="l" indent="0" marL="0">
              <a:buNone/>
              <a:defRPr lang="en-US" sz="2000" b="1" dirty="0">
                <a:solidFill>
                  <a:srgbClr val="1F4A42"/>
                </a:solidFill>
                <a:latin typeface="Georgia" pitchFamily="34" charset="0"/>
                <a:ea typeface="Georgia" pitchFamily="34" charset="-122"/>
                <a:cs typeface="Georgia" pitchFamily="34" charset="-120"/>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3.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3.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42"/>
        </a:solidFill>
      </p:bgPr>
    </p:bg>
    <p:spTree>
      <p:nvGrpSpPr>
        <p:cNvPr id="1" name=""/>
        <p:cNvGrpSpPr/>
        <p:nvPr/>
      </p:nvGrpSpPr>
      <p:grpSpPr>
        <a:xfrm>
          <a:off x="0" y="0"/>
          <a:ext cx="0" cy="0"/>
          <a:chOff x="0" y="0"/>
          <a:chExt cx="0" cy="0"/>
        </a:xfrm>
      </p:grpSpPr>
      <p:sp>
        <p:nvSpPr>
          <p:cNvPr id="2" name="deco1"/>
          <p:cNvSpPr/>
          <p:nvPr/>
        </p:nvSpPr>
        <p:spPr>
          <a:xfrm>
            <a:off x="8503920" y="-1097280"/>
            <a:ext cx="4754880" cy="4754880"/>
          </a:xfrm>
          <a:prstGeom prst="ellipse">
            <a:avLst/>
          </a:prstGeom>
          <a:solidFill>
            <a:srgbClr val="2F6E62"/>
          </a:solidFill>
          <a:ln/>
        </p:spPr>
      </p:sp>
      <p:sp>
        <p:nvSpPr>
          <p:cNvPr id="3" name="deco2"/>
          <p:cNvSpPr/>
          <p:nvPr/>
        </p:nvSpPr>
        <p:spPr>
          <a:xfrm>
            <a:off x="9966960" y="3931920"/>
            <a:ext cx="2926080" cy="2926080"/>
          </a:xfrm>
          <a:prstGeom prst="ellipse">
            <a:avLst/>
          </a:prstGeom>
          <a:solidFill>
            <a:srgbClr val="E2704F"/>
          </a:solidFill>
          <a:ln/>
        </p:spPr>
      </p:sp>
      <p:sp>
        <p:nvSpPr>
          <p:cNvPr id="4" name="Text 2"/>
          <p:cNvSpPr txBox="1"/>
          <p:nvPr/>
        </p:nvSpPr>
        <p:spPr>
          <a:xfrm>
            <a:off x="731520" y="1371600"/>
            <a:ext cx="7315200" cy="457200"/>
          </a:xfrm>
          <a:prstGeom prst="rect">
            <a:avLst/>
          </a:prstGeom>
          <a:noFill/>
          <a:ln/>
        </p:spPr>
        <p:txBody>
          <a:bodyPr wrap="square" lIns="0" tIns="0" rIns="0" bIns="0" rtlCol="0" anchor="ctr"/>
          <a:lstStyle/>
          <a:p>
            <a:pPr indent="0" marL="0">
              <a:buNone/>
            </a:pPr>
            <a:r>
              <a:rPr lang="en-US" sz="1800" b="1" dirty="0">
                <a:solidFill>
                  <a:srgbClr val="D9A441"/>
                </a:solidFill>
                <a:latin typeface="Calibri" pitchFamily="34" charset="0"/>
                <a:ea typeface="Calibri" pitchFamily="34" charset="-122"/>
                <a:cs typeface="Calibri" pitchFamily="34" charset="-120"/>
              </a:rPr>
              <a:t>Journée exco-num · 05/11</a:t>
            </a:r>
            <a:endParaRPr lang="en-US" sz="1800" dirty="0"/>
          </a:p>
        </p:txBody>
      </p:sp>
      <p:sp>
        <p:nvSpPr>
          <p:cNvPr id="5" name="Text 3"/>
          <p:cNvSpPr txBox="1"/>
          <p:nvPr/>
        </p:nvSpPr>
        <p:spPr>
          <a:xfrm>
            <a:off x="731520" y="1920240"/>
            <a:ext cx="822960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Atelier « parcours patient »</a:t>
            </a:r>
            <a:endParaRPr lang="en-US" sz="3600" dirty="0"/>
          </a:p>
        </p:txBody>
      </p:sp>
      <p:sp>
        <p:nvSpPr>
          <p:cNvPr id="6" name="Text 4"/>
          <p:cNvSpPr txBox="1"/>
          <p:nvPr/>
        </p:nvSpPr>
        <p:spPr>
          <a:xfrm>
            <a:off x="731520" y="2926080"/>
            <a:ext cx="731520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Trois frises de jeu, les cartes outils, acteurs et irritants, et le corrigé animateur (dans les notes du présentateur)</a:t>
            </a:r>
            <a:endParaRPr lang="en-US" sz="1800" dirty="0"/>
          </a:p>
        </p:txBody>
      </p:sp>
      <p:sp>
        <p:nvSpPr>
          <p:cNvPr id="7" name="Text 5"/>
          <p:cNvSpPr txBox="1"/>
          <p:nvPr/>
        </p:nvSpPr>
        <p:spPr>
          <a:xfrm>
            <a:off x="731520" y="5760720"/>
            <a:ext cx="7772400" cy="457200"/>
          </a:xfrm>
          <a:prstGeom prst="rect">
            <a:avLst/>
          </a:prstGeom>
          <a:noFill/>
          <a:ln/>
        </p:spPr>
        <p:txBody>
          <a:bodyPr wrap="square" lIns="0" tIns="0" rIns="0" bIns="0" rtlCol="0" anchor="ctr"/>
          <a:lstStyle/>
          <a:p>
            <a:pPr indent="0" marL="0">
              <a:buNone/>
            </a:pPr>
            <a:r>
              <a:rPr lang="en-US" sz="1200" i="1" dirty="0">
                <a:solidFill>
                  <a:srgbClr val="E7F0EC"/>
                </a:solidFill>
                <a:latin typeface="Calibri" pitchFamily="34" charset="0"/>
                <a:ea typeface="Calibri" pitchFamily="34" charset="-122"/>
                <a:cs typeface="Calibri" pitchFamily="34" charset="-120"/>
              </a:rPr>
              <a:t>Contenus vérifiés au 5 octobre 2026. Les outils évoluent vite : relire les points signalés « à confirmer » avant l'atelier.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Règles du jeu</a:t>
            </a:r>
            <a:endParaRPr lang="en-US" sz="2600" dirty="0"/>
          </a:p>
        </p:txBody>
      </p:sp>
      <p:sp>
        <p:nvSpPr>
          <p:cNvPr id="3" name="etape1"/>
          <p:cNvSpPr/>
          <p:nvPr/>
        </p:nvSpPr>
        <p:spPr>
          <a:xfrm>
            <a:off x="502920" y="1069848"/>
            <a:ext cx="457200" cy="457200"/>
          </a:xfrm>
          <a:prstGeom prst="ellipse">
            <a:avLst/>
          </a:prstGeom>
          <a:solidFill>
            <a:srgbClr val="1F4A42"/>
          </a:solidFill>
          <a:ln/>
        </p:spPr>
      </p:sp>
      <p:sp>
        <p:nvSpPr>
          <p:cNvPr id="4" name="Text 2"/>
          <p:cNvSpPr txBox="1"/>
          <p:nvPr/>
        </p:nvSpPr>
        <p:spPr>
          <a:xfrm>
            <a:off x="502920" y="1069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43000" y="1051560"/>
            <a:ext cx="5669280" cy="329184"/>
          </a:xfrm>
          <a:prstGeom prst="rect">
            <a:avLst/>
          </a:prstGeom>
          <a:noFill/>
          <a:ln/>
        </p:spPr>
        <p:txBody>
          <a:bodyPr wrap="square" lIns="0" tIns="0" rIns="0" bIns="0" rtlCol="0" anchor="ctr"/>
          <a:lstStyle/>
          <a:p>
            <a:pPr indent="0" marL="0">
              <a:buNone/>
            </a:pPr>
            <a:r>
              <a:rPr lang="en-US" sz="1600" b="1" dirty="0">
                <a:solidFill>
                  <a:srgbClr val="1F4A42"/>
                </a:solidFill>
                <a:latin typeface="Calibri" pitchFamily="34" charset="0"/>
                <a:ea typeface="Calibri" pitchFamily="34" charset="-122"/>
                <a:cs typeface="Calibri" pitchFamily="34" charset="-120"/>
              </a:rPr>
              <a:t>Lisez la frise dans l'ordre</a:t>
            </a:r>
            <a:endParaRPr lang="en-US" sz="1600" dirty="0"/>
          </a:p>
        </p:txBody>
      </p:sp>
      <p:sp>
        <p:nvSpPr>
          <p:cNvPr id="6" name="Text 4"/>
          <p:cNvSpPr txBox="1"/>
          <p:nvPr/>
        </p:nvSpPr>
        <p:spPr>
          <a:xfrm>
            <a:off x="1143000" y="1380744"/>
            <a:ext cx="5669280" cy="32004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Les cartes vertes « Repère » situent le parcours : on n'y pose rien.</a:t>
            </a:r>
            <a:endParaRPr lang="en-US" sz="1300" dirty="0"/>
          </a:p>
        </p:txBody>
      </p:sp>
      <p:sp>
        <p:nvSpPr>
          <p:cNvPr id="7" name="etape2"/>
          <p:cNvSpPr/>
          <p:nvPr/>
        </p:nvSpPr>
        <p:spPr>
          <a:xfrm>
            <a:off x="502920" y="1755648"/>
            <a:ext cx="457200" cy="457200"/>
          </a:xfrm>
          <a:prstGeom prst="ellipse">
            <a:avLst/>
          </a:prstGeom>
          <a:solidFill>
            <a:srgbClr val="1F4A42"/>
          </a:solidFill>
          <a:ln/>
        </p:spPr>
      </p:sp>
      <p:sp>
        <p:nvSpPr>
          <p:cNvPr id="8" name="Text 6"/>
          <p:cNvSpPr txBox="1"/>
          <p:nvPr/>
        </p:nvSpPr>
        <p:spPr>
          <a:xfrm>
            <a:off x="502920" y="1755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1737360"/>
            <a:ext cx="5669280" cy="329184"/>
          </a:xfrm>
          <a:prstGeom prst="rect">
            <a:avLst/>
          </a:prstGeom>
          <a:noFill/>
          <a:ln/>
        </p:spPr>
        <p:txBody>
          <a:bodyPr wrap="square" lIns="0" tIns="0" rIns="0" bIns="0" rtlCol="0" anchor="ctr"/>
          <a:lstStyle/>
          <a:p>
            <a:pPr indent="0" marL="0">
              <a:buNone/>
            </a:pPr>
            <a:r>
              <a:rPr lang="en-US" sz="1600" b="1" dirty="0">
                <a:solidFill>
                  <a:srgbClr val="1F4A42"/>
                </a:solidFill>
                <a:latin typeface="Calibri" pitchFamily="34" charset="0"/>
                <a:ea typeface="Calibri" pitchFamily="34" charset="-122"/>
                <a:cs typeface="Calibri" pitchFamily="34" charset="-120"/>
              </a:rPr>
              <a:t>Complétez chaque moment clé</a:t>
            </a:r>
            <a:endParaRPr lang="en-US" sz="1600" dirty="0"/>
          </a:p>
        </p:txBody>
      </p:sp>
      <p:sp>
        <p:nvSpPr>
          <p:cNvPr id="10" name="Text 8"/>
          <p:cNvSpPr txBox="1"/>
          <p:nvPr/>
        </p:nvSpPr>
        <p:spPr>
          <a:xfrm>
            <a:off x="1143000" y="2066544"/>
            <a:ext cx="5669280" cy="105156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Sur chaque carte corail, posez dans « Qui ? » les personnages concernés, et dans « Outil ? » la carte la plus adaptée et la plus sûre pour les données de santé. Plusieurs cartes sont admises si vous savez les justifier ; les sous-cartes précisent un usage.</a:t>
            </a:r>
            <a:endParaRPr lang="en-US" sz="1300" dirty="0"/>
          </a:p>
        </p:txBody>
      </p:sp>
      <p:sp>
        <p:nvSpPr>
          <p:cNvPr id="11" name="etape3"/>
          <p:cNvSpPr/>
          <p:nvPr/>
        </p:nvSpPr>
        <p:spPr>
          <a:xfrm>
            <a:off x="502920" y="3172968"/>
            <a:ext cx="457200" cy="457200"/>
          </a:xfrm>
          <a:prstGeom prst="ellipse">
            <a:avLst/>
          </a:prstGeom>
          <a:solidFill>
            <a:srgbClr val="1F4A42"/>
          </a:solidFill>
          <a:ln/>
        </p:spPr>
      </p:sp>
      <p:sp>
        <p:nvSpPr>
          <p:cNvPr id="12" name="Text 10"/>
          <p:cNvSpPr txBox="1"/>
          <p:nvPr/>
        </p:nvSpPr>
        <p:spPr>
          <a:xfrm>
            <a:off x="50292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143000" y="3154680"/>
            <a:ext cx="5669280" cy="329184"/>
          </a:xfrm>
          <a:prstGeom prst="rect">
            <a:avLst/>
          </a:prstGeom>
          <a:noFill/>
          <a:ln/>
        </p:spPr>
        <p:txBody>
          <a:bodyPr wrap="square" lIns="0" tIns="0" rIns="0" bIns="0" rtlCol="0" anchor="ctr"/>
          <a:lstStyle/>
          <a:p>
            <a:pPr indent="0" marL="0">
              <a:buNone/>
            </a:pPr>
            <a:r>
              <a:rPr lang="en-US" sz="1600" b="1" dirty="0">
                <a:solidFill>
                  <a:srgbClr val="1F4A42"/>
                </a:solidFill>
                <a:latin typeface="Calibri" pitchFamily="34" charset="0"/>
                <a:ea typeface="Calibri" pitchFamily="34" charset="-122"/>
                <a:cs typeface="Calibri" pitchFamily="34" charset="-120"/>
              </a:rPr>
              <a:t>Posez au moins deux irritants</a:t>
            </a:r>
            <a:endParaRPr lang="en-US" sz="1600" dirty="0"/>
          </a:p>
        </p:txBody>
      </p:sp>
      <p:sp>
        <p:nvSpPr>
          <p:cNvPr id="14" name="Text 12"/>
          <p:cNvSpPr txBox="1"/>
          <p:nvPr/>
        </p:nvSpPr>
        <p:spPr>
          <a:xfrm>
            <a:off x="1143000" y="3483864"/>
            <a:ext cx="5669280" cy="68580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Placez des cartes rouges sur les zones « ! » ou ailleurs, et formulez pour chacune la réponse que vous feriez au professionnel.</a:t>
            </a:r>
            <a:endParaRPr lang="en-US" sz="1300" dirty="0"/>
          </a:p>
        </p:txBody>
      </p:sp>
      <p:sp>
        <p:nvSpPr>
          <p:cNvPr id="15" name="etape4"/>
          <p:cNvSpPr/>
          <p:nvPr/>
        </p:nvSpPr>
        <p:spPr>
          <a:xfrm>
            <a:off x="502920" y="4224528"/>
            <a:ext cx="457200" cy="457200"/>
          </a:xfrm>
          <a:prstGeom prst="ellipse">
            <a:avLst/>
          </a:prstGeom>
          <a:solidFill>
            <a:srgbClr val="1F4A42"/>
          </a:solidFill>
          <a:ln/>
        </p:spPr>
      </p:sp>
      <p:sp>
        <p:nvSpPr>
          <p:cNvPr id="16" name="Text 14"/>
          <p:cNvSpPr txBox="1"/>
          <p:nvPr/>
        </p:nvSpPr>
        <p:spPr>
          <a:xfrm>
            <a:off x="502920" y="42245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143000" y="4206240"/>
            <a:ext cx="5669280" cy="329184"/>
          </a:xfrm>
          <a:prstGeom prst="rect">
            <a:avLst/>
          </a:prstGeom>
          <a:noFill/>
          <a:ln/>
        </p:spPr>
        <p:txBody>
          <a:bodyPr wrap="square" lIns="0" tIns="0" rIns="0" bIns="0" rtlCol="0" anchor="ctr"/>
          <a:lstStyle/>
          <a:p>
            <a:pPr indent="0" marL="0">
              <a:buNone/>
            </a:pPr>
            <a:r>
              <a:rPr lang="en-US" sz="1600" b="1" dirty="0">
                <a:solidFill>
                  <a:srgbClr val="1F4A42"/>
                </a:solidFill>
                <a:latin typeface="Calibri" pitchFamily="34" charset="0"/>
                <a:ea typeface="Calibri" pitchFamily="34" charset="-122"/>
                <a:cs typeface="Calibri" pitchFamily="34" charset="-120"/>
              </a:rPr>
              <a:t>Retenez l'essentiel</a:t>
            </a:r>
            <a:endParaRPr lang="en-US" sz="1600" dirty="0"/>
          </a:p>
        </p:txBody>
      </p:sp>
      <p:sp>
        <p:nvSpPr>
          <p:cNvPr id="18" name="Text 16"/>
          <p:cNvSpPr txBox="1"/>
          <p:nvPr/>
        </p:nvSpPr>
        <p:spPr>
          <a:xfrm>
            <a:off x="1143000" y="4535424"/>
            <a:ext cx="5669280" cy="685800"/>
          </a:xfrm>
          <a:prstGeom prst="rect">
            <a:avLst/>
          </a:prstGeom>
          <a:noFill/>
          <a:ln/>
        </p:spPr>
        <p:txBody>
          <a:bodyPr wrap="square" lIns="0" tIns="0" rIns="0" bIns="0" rtlCol="0" anchor="t"/>
          <a:lstStyle/>
          <a:p>
            <a:pPr indent="0" marL="0">
              <a:buNone/>
            </a:pPr>
            <a:r>
              <a:rPr lang="en-US" sz="1300" dirty="0">
                <a:solidFill>
                  <a:srgbClr val="16302A"/>
                </a:solidFill>
                <a:latin typeface="Calibri" pitchFamily="34" charset="0"/>
                <a:ea typeface="Calibri" pitchFamily="34" charset="-122"/>
                <a:cs typeface="Calibri" pitchFamily="34" charset="-120"/>
              </a:rPr>
              <a:t>Notez vos consensus, vos désaccords et une phrase choc : ils alimenteront le livrable remis aux CPTS, MSP et centres de santé.</a:t>
            </a:r>
            <a:endParaRPr lang="en-US" sz="1300" dirty="0"/>
          </a:p>
        </p:txBody>
      </p:sp>
      <p:sp>
        <p:nvSpPr>
          <p:cNvPr id="19" name="horaires"/>
          <p:cNvSpPr/>
          <p:nvPr/>
        </p:nvSpPr>
        <p:spPr>
          <a:xfrm>
            <a:off x="502920" y="5870448"/>
            <a:ext cx="6309360" cy="566928"/>
          </a:xfrm>
          <a:prstGeom prst="roundRect">
            <a:avLst>
              <a:gd name="adj" fmla="val 12903"/>
            </a:avLst>
          </a:prstGeom>
          <a:solidFill>
            <a:srgbClr val="E7F0EC"/>
          </a:solidFill>
          <a:ln/>
        </p:spPr>
      </p:sp>
      <p:sp>
        <p:nvSpPr>
          <p:cNvPr id="20" name="Text 18"/>
          <p:cNvSpPr txBox="1"/>
          <p:nvPr/>
        </p:nvSpPr>
        <p:spPr>
          <a:xfrm>
            <a:off x="685800" y="5870448"/>
            <a:ext cx="6035040" cy="566928"/>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45 min </a:t>
            </a:r>
            <a:pPr indent="0" marL="0">
              <a:buNone/>
            </a:pPr>
            <a:r>
              <a:rPr lang="en-US" sz="1300" dirty="0">
                <a:solidFill>
                  <a:srgbClr val="16302A"/>
                </a:solidFill>
                <a:latin typeface="Calibri" pitchFamily="34" charset="0"/>
                <a:ea typeface="Calibri" pitchFamily="34" charset="-122"/>
                <a:cs typeface="Calibri" pitchFamily="34" charset="-120"/>
              </a:rPr>
              <a:t>de jeu  ·  </a:t>
            </a:r>
            <a:pPr indent="0" marL="0">
              <a:buNone/>
            </a:pPr>
            <a:r>
              <a:rPr lang="en-US" sz="1300" b="1" dirty="0">
                <a:solidFill>
                  <a:srgbClr val="1F4A42"/>
                </a:solidFill>
                <a:latin typeface="Calibri" pitchFamily="34" charset="0"/>
                <a:ea typeface="Calibri" pitchFamily="34" charset="-122"/>
                <a:cs typeface="Calibri" pitchFamily="34" charset="-120"/>
              </a:rPr>
              <a:t>45 min </a:t>
            </a:r>
            <a:pPr indent="0" marL="0">
              <a:buNone/>
            </a:pPr>
            <a:r>
              <a:rPr lang="en-US" sz="1300" dirty="0">
                <a:solidFill>
                  <a:srgbClr val="16302A"/>
                </a:solidFill>
                <a:latin typeface="Calibri" pitchFamily="34" charset="0"/>
                <a:ea typeface="Calibri" pitchFamily="34" charset="-122"/>
                <a:cs typeface="Calibri" pitchFamily="34" charset="-120"/>
              </a:rPr>
              <a:t>de restitution en groupe  ·  </a:t>
            </a:r>
            <a:pPr indent="0" marL="0">
              <a:buNone/>
            </a:pPr>
            <a:r>
              <a:rPr lang="en-US" sz="1300" b="1" dirty="0">
                <a:solidFill>
                  <a:srgbClr val="1F4A42"/>
                </a:solidFill>
                <a:latin typeface="Calibri" pitchFamily="34" charset="0"/>
                <a:ea typeface="Calibri" pitchFamily="34" charset="-122"/>
                <a:cs typeface="Calibri" pitchFamily="34" charset="-120"/>
              </a:rPr>
              <a:t>5 min </a:t>
            </a:r>
            <a:pPr indent="0" marL="0">
              <a:buNone/>
            </a:pPr>
            <a:r>
              <a:rPr lang="en-US" sz="1300" dirty="0">
                <a:solidFill>
                  <a:srgbClr val="16302A"/>
                </a:solidFill>
                <a:latin typeface="Calibri" pitchFamily="34" charset="0"/>
                <a:ea typeface="Calibri" pitchFamily="34" charset="-122"/>
                <a:cs typeface="Calibri" pitchFamily="34" charset="-120"/>
              </a:rPr>
              <a:t>par groupe en plénière</a:t>
            </a:r>
            <a:endParaRPr lang="en-US" sz="1300" dirty="0"/>
          </a:p>
        </p:txBody>
      </p:sp>
      <p:sp>
        <p:nvSpPr>
          <p:cNvPr id="21" name="Text 19"/>
          <p:cNvSpPr txBox="1"/>
          <p:nvPr/>
        </p:nvSpPr>
        <p:spPr>
          <a:xfrm>
            <a:off x="7315200" y="1097280"/>
            <a:ext cx="4389120" cy="329184"/>
          </a:xfrm>
          <a:prstGeom prst="rect">
            <a:avLst/>
          </a:prstGeom>
          <a:noFill/>
          <a:ln/>
        </p:spPr>
        <p:txBody>
          <a:bodyPr wrap="square" lIns="0" tIns="0" rIns="0" bIns="0" rtlCol="0" anchor="ctr"/>
          <a:lstStyle/>
          <a:p>
            <a:pPr indent="0" marL="0">
              <a:buNone/>
            </a:pPr>
            <a:r>
              <a:rPr lang="en-US" sz="1500" b="1" dirty="0">
                <a:solidFill>
                  <a:srgbClr val="1F4A42"/>
                </a:solidFill>
                <a:latin typeface="Calibri" pitchFamily="34" charset="0"/>
                <a:ea typeface="Calibri" pitchFamily="34" charset="-122"/>
                <a:cs typeface="Calibri" pitchFamily="34" charset="-120"/>
              </a:rPr>
              <a:t>Ce que vous trouverez sur la table</a:t>
            </a:r>
            <a:endParaRPr lang="en-US" sz="1500" dirty="0"/>
          </a:p>
        </p:txBody>
      </p:sp>
      <p:sp>
        <p:nvSpPr>
          <p:cNvPr id="22" name="legende_0"/>
          <p:cNvSpPr/>
          <p:nvPr/>
        </p:nvSpPr>
        <p:spPr>
          <a:xfrm>
            <a:off x="7315200" y="1554480"/>
            <a:ext cx="868680" cy="548640"/>
          </a:xfrm>
          <a:prstGeom prst="roundRect">
            <a:avLst>
              <a:gd name="adj" fmla="val 10000"/>
            </a:avLst>
          </a:prstGeom>
          <a:solidFill>
            <a:srgbClr val="FCE9E1"/>
          </a:solidFill>
          <a:ln w="19050">
            <a:solidFill>
              <a:srgbClr val="E2704F"/>
            </a:solidFill>
            <a:prstDash val="dash"/>
          </a:ln>
        </p:spPr>
      </p:sp>
      <p:sp>
        <p:nvSpPr>
          <p:cNvPr id="23" name="Text 21"/>
          <p:cNvSpPr txBox="1"/>
          <p:nvPr/>
        </p:nvSpPr>
        <p:spPr>
          <a:xfrm>
            <a:off x="8366760" y="1572768"/>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Moment clé</a:t>
            </a:r>
            <a:endParaRPr lang="en-US" sz="1300" dirty="0"/>
          </a:p>
        </p:txBody>
      </p:sp>
      <p:sp>
        <p:nvSpPr>
          <p:cNvPr id="24" name="Text 22"/>
          <p:cNvSpPr txBox="1"/>
          <p:nvPr/>
        </p:nvSpPr>
        <p:spPr>
          <a:xfrm>
            <a:off x="8366760" y="1828800"/>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À compléter : qui ? quel outil ?</a:t>
            </a:r>
            <a:endParaRPr lang="en-US" sz="1200" dirty="0"/>
          </a:p>
        </p:txBody>
      </p:sp>
      <p:sp>
        <p:nvSpPr>
          <p:cNvPr id="25" name="legende_1"/>
          <p:cNvSpPr/>
          <p:nvPr/>
        </p:nvSpPr>
        <p:spPr>
          <a:xfrm>
            <a:off x="7315200" y="2267712"/>
            <a:ext cx="868680" cy="548640"/>
          </a:xfrm>
          <a:prstGeom prst="roundRect">
            <a:avLst>
              <a:gd name="adj" fmla="val 10000"/>
            </a:avLst>
          </a:prstGeom>
          <a:solidFill>
            <a:srgbClr val="E7F0EC"/>
          </a:solidFill>
          <a:ln w="19050">
            <a:solidFill>
              <a:srgbClr val="2F6E62"/>
            </a:solidFill>
            <a:prstDash val="solid"/>
          </a:ln>
        </p:spPr>
      </p:sp>
      <p:sp>
        <p:nvSpPr>
          <p:cNvPr id="26" name="Text 24"/>
          <p:cNvSpPr txBox="1"/>
          <p:nvPr/>
        </p:nvSpPr>
        <p:spPr>
          <a:xfrm>
            <a:off x="8366760" y="2286000"/>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Repère</a:t>
            </a:r>
            <a:endParaRPr lang="en-US" sz="1300" dirty="0"/>
          </a:p>
        </p:txBody>
      </p:sp>
      <p:sp>
        <p:nvSpPr>
          <p:cNvPr id="27" name="Text 25"/>
          <p:cNvSpPr txBox="1"/>
          <p:nvPr/>
        </p:nvSpPr>
        <p:spPr>
          <a:xfrm>
            <a:off x="8366760" y="2542032"/>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Contexte, rien à poser</a:t>
            </a:r>
            <a:endParaRPr lang="en-US" sz="1200" dirty="0"/>
          </a:p>
        </p:txBody>
      </p:sp>
      <p:sp>
        <p:nvSpPr>
          <p:cNvPr id="28" name="legende_2"/>
          <p:cNvSpPr/>
          <p:nvPr/>
        </p:nvSpPr>
        <p:spPr>
          <a:xfrm>
            <a:off x="7315200" y="2980944"/>
            <a:ext cx="868680" cy="548640"/>
          </a:xfrm>
          <a:prstGeom prst="roundRect">
            <a:avLst>
              <a:gd name="adj" fmla="val 10000"/>
            </a:avLst>
          </a:prstGeom>
          <a:solidFill>
            <a:srgbClr val="FFFFFF"/>
          </a:solidFill>
          <a:ln w="19050">
            <a:solidFill>
              <a:srgbClr val="B9C4BC"/>
            </a:solidFill>
            <a:prstDash val="dash"/>
          </a:ln>
        </p:spPr>
      </p:sp>
      <p:sp>
        <p:nvSpPr>
          <p:cNvPr id="29" name="Text 27"/>
          <p:cNvSpPr txBox="1"/>
          <p:nvPr/>
        </p:nvSpPr>
        <p:spPr>
          <a:xfrm>
            <a:off x="8366760" y="2999232"/>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Carte outil</a:t>
            </a:r>
            <a:endParaRPr lang="en-US" sz="1300" dirty="0"/>
          </a:p>
        </p:txBody>
      </p:sp>
      <p:sp>
        <p:nvSpPr>
          <p:cNvPr id="30" name="Text 28"/>
          <p:cNvSpPr txBox="1"/>
          <p:nvPr/>
        </p:nvSpPr>
        <p:spPr>
          <a:xfrm>
            <a:off x="8366760" y="3255264"/>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Outils et services numériques</a:t>
            </a:r>
            <a:endParaRPr lang="en-US" sz="1200" dirty="0"/>
          </a:p>
        </p:txBody>
      </p:sp>
      <p:sp>
        <p:nvSpPr>
          <p:cNvPr id="31" name="legende_3"/>
          <p:cNvSpPr/>
          <p:nvPr/>
        </p:nvSpPr>
        <p:spPr>
          <a:xfrm>
            <a:off x="7315200" y="3694176"/>
            <a:ext cx="868680" cy="548640"/>
          </a:xfrm>
          <a:prstGeom prst="roundRect">
            <a:avLst>
              <a:gd name="adj" fmla="val 10000"/>
            </a:avLst>
          </a:prstGeom>
          <a:solidFill>
            <a:srgbClr val="FBF1DE"/>
          </a:solidFill>
          <a:ln w="19050">
            <a:solidFill>
              <a:srgbClr val="D9A441"/>
            </a:solidFill>
            <a:prstDash val="solid"/>
          </a:ln>
        </p:spPr>
      </p:sp>
      <p:sp>
        <p:nvSpPr>
          <p:cNvPr id="32" name="Text 30"/>
          <p:cNvSpPr txBox="1"/>
          <p:nvPr/>
        </p:nvSpPr>
        <p:spPr>
          <a:xfrm>
            <a:off x="8366760" y="3712464"/>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Sous-carte</a:t>
            </a:r>
            <a:endParaRPr lang="en-US" sz="1300" dirty="0"/>
          </a:p>
        </p:txBody>
      </p:sp>
      <p:sp>
        <p:nvSpPr>
          <p:cNvPr id="33" name="Text 31"/>
          <p:cNvSpPr txBox="1"/>
          <p:nvPr/>
        </p:nvSpPr>
        <p:spPr>
          <a:xfrm>
            <a:off x="8366760" y="3968496"/>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Usage précis d'un outil</a:t>
            </a:r>
            <a:endParaRPr lang="en-US" sz="1200" dirty="0"/>
          </a:p>
        </p:txBody>
      </p:sp>
      <p:sp>
        <p:nvSpPr>
          <p:cNvPr id="34" name="legende_4"/>
          <p:cNvSpPr/>
          <p:nvPr/>
        </p:nvSpPr>
        <p:spPr>
          <a:xfrm>
            <a:off x="7315200" y="4407408"/>
            <a:ext cx="868680" cy="548640"/>
          </a:xfrm>
          <a:prstGeom prst="roundRect">
            <a:avLst>
              <a:gd name="adj" fmla="val 10000"/>
            </a:avLst>
          </a:prstGeom>
          <a:solidFill>
            <a:srgbClr val="E6EEF3"/>
          </a:solidFill>
          <a:ln w="19050">
            <a:solidFill>
              <a:srgbClr val="3A6B8C"/>
            </a:solidFill>
            <a:prstDash val="solid"/>
          </a:ln>
        </p:spPr>
      </p:sp>
      <p:sp>
        <p:nvSpPr>
          <p:cNvPr id="35" name="Text 33"/>
          <p:cNvSpPr txBox="1"/>
          <p:nvPr/>
        </p:nvSpPr>
        <p:spPr>
          <a:xfrm>
            <a:off x="8366760" y="4425696"/>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Personnage</a:t>
            </a:r>
            <a:endParaRPr lang="en-US" sz="1300" dirty="0"/>
          </a:p>
        </p:txBody>
      </p:sp>
      <p:sp>
        <p:nvSpPr>
          <p:cNvPr id="36" name="Text 34"/>
          <p:cNvSpPr txBox="1"/>
          <p:nvPr/>
        </p:nvSpPr>
        <p:spPr>
          <a:xfrm>
            <a:off x="8366760" y="4681728"/>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Patients, aidants, professionnels</a:t>
            </a:r>
            <a:endParaRPr lang="en-US" sz="1200" dirty="0"/>
          </a:p>
        </p:txBody>
      </p:sp>
      <p:sp>
        <p:nvSpPr>
          <p:cNvPr id="37" name="legende_5"/>
          <p:cNvSpPr/>
          <p:nvPr/>
        </p:nvSpPr>
        <p:spPr>
          <a:xfrm>
            <a:off x="7315200" y="5120640"/>
            <a:ext cx="868680" cy="548640"/>
          </a:xfrm>
          <a:prstGeom prst="roundRect">
            <a:avLst>
              <a:gd name="adj" fmla="val 10000"/>
            </a:avLst>
          </a:prstGeom>
          <a:solidFill>
            <a:srgbClr val="FDE8E6"/>
          </a:solidFill>
          <a:ln w="19050">
            <a:solidFill>
              <a:srgbClr val="C0392B"/>
            </a:solidFill>
            <a:prstDash val="solid"/>
          </a:ln>
        </p:spPr>
      </p:sp>
      <p:sp>
        <p:nvSpPr>
          <p:cNvPr id="38" name="Text 36"/>
          <p:cNvSpPr txBox="1"/>
          <p:nvPr/>
        </p:nvSpPr>
        <p:spPr>
          <a:xfrm>
            <a:off x="8366760" y="5138928"/>
            <a:ext cx="3383280" cy="274320"/>
          </a:xfrm>
          <a:prstGeom prst="rect">
            <a:avLst/>
          </a:prstGeom>
          <a:noFill/>
          <a:ln/>
        </p:spPr>
        <p:txBody>
          <a:bodyPr wrap="square" lIns="0" tIns="0" rIns="0" bIns="0" rtlCol="0" anchor="ctr"/>
          <a:lstStyle/>
          <a:p>
            <a:pPr indent="0" marL="0">
              <a:buNone/>
            </a:pPr>
            <a:r>
              <a:rPr lang="en-US" sz="1300" b="1" dirty="0">
                <a:solidFill>
                  <a:srgbClr val="1F4A42"/>
                </a:solidFill>
                <a:latin typeface="Calibri" pitchFamily="34" charset="0"/>
                <a:ea typeface="Calibri" pitchFamily="34" charset="-122"/>
                <a:cs typeface="Calibri" pitchFamily="34" charset="-120"/>
              </a:rPr>
              <a:t>Irritant</a:t>
            </a:r>
            <a:endParaRPr lang="en-US" sz="1300" dirty="0"/>
          </a:p>
        </p:txBody>
      </p:sp>
      <p:sp>
        <p:nvSpPr>
          <p:cNvPr id="39" name="Text 37"/>
          <p:cNvSpPr txBox="1"/>
          <p:nvPr/>
        </p:nvSpPr>
        <p:spPr>
          <a:xfrm>
            <a:off x="8366760" y="5394960"/>
            <a:ext cx="3383280" cy="274320"/>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Objection fréquente d'un professionnel</a:t>
            </a:r>
            <a:endParaRPr lang="en-US" sz="1200" dirty="0"/>
          </a:p>
        </p:txBody>
      </p:sp>
      <p:sp>
        <p:nvSpPr>
          <p:cNvPr id="40" name="zone_irritant_legende"/>
          <p:cNvSpPr/>
          <p:nvPr/>
        </p:nvSpPr>
        <p:spPr>
          <a:xfrm>
            <a:off x="7571232" y="5870448"/>
            <a:ext cx="365760" cy="365760"/>
          </a:xfrm>
          <a:prstGeom prst="ellipse">
            <a:avLst/>
          </a:prstGeom>
          <a:solidFill>
            <a:srgbClr val="C0392B"/>
          </a:solidFill>
          <a:ln/>
        </p:spPr>
      </p:sp>
      <p:sp>
        <p:nvSpPr>
          <p:cNvPr id="41" name="Text 39"/>
          <p:cNvSpPr txBox="1"/>
          <p:nvPr/>
        </p:nvSpPr>
        <p:spPr>
          <a:xfrm>
            <a:off x="7571232" y="58704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2" name="Text 40"/>
          <p:cNvSpPr txBox="1"/>
          <p:nvPr/>
        </p:nvSpPr>
        <p:spPr>
          <a:xfrm>
            <a:off x="8366760" y="5907024"/>
            <a:ext cx="3383280" cy="292608"/>
          </a:xfrm>
          <a:prstGeom prst="rect">
            <a:avLst/>
          </a:prstGeom>
          <a:noFill/>
          <a:ln/>
        </p:spPr>
        <p:txBody>
          <a:bodyPr wrap="square" lIns="0" tIns="0" rIns="0" bIns="0" rtlCol="0" anchor="ctr"/>
          <a:lstStyle/>
          <a:p>
            <a:pPr indent="0" marL="0">
              <a:buNone/>
            </a:pPr>
            <a:r>
              <a:rPr lang="en-US" sz="1200" dirty="0">
                <a:solidFill>
                  <a:srgbClr val="6B7A73"/>
                </a:solidFill>
                <a:latin typeface="Calibri" pitchFamily="34" charset="0"/>
                <a:ea typeface="Calibri" pitchFamily="34" charset="-122"/>
                <a:cs typeface="Calibri" pitchFamily="34" charset="-120"/>
              </a:rPr>
              <a:t>Zone où un irritant est attendu</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Emilie, 37 ans — personae</a:t>
            </a:r>
            <a:endParaRPr lang="en-US" sz="2600" dirty="0"/>
          </a:p>
        </p:txBody>
      </p:sp>
      <p:sp>
        <p:nvSpPr>
          <p:cNvPr id="3" name="Text 1"/>
          <p:cNvSpPr txBox="1"/>
          <p:nvPr/>
        </p:nvSpPr>
        <p:spPr>
          <a:xfrm>
            <a:off x="457200" y="804672"/>
            <a:ext cx="7315200" cy="320040"/>
          </a:xfrm>
          <a:prstGeom prst="rect">
            <a:avLst/>
          </a:prstGeom>
          <a:noFill/>
          <a:ln/>
        </p:spPr>
        <p:txBody>
          <a:bodyPr wrap="square" lIns="0" tIns="0" rIns="0" bIns="0" rtlCol="0" anchor="ctr"/>
          <a:lstStyle/>
          <a:p>
            <a:pPr indent="0" marL="0">
              <a:buNone/>
            </a:pPr>
            <a:r>
              <a:rPr lang="en-US" sz="1400" i="1" dirty="0">
                <a:solidFill>
                  <a:srgbClr val="6B7A73"/>
                </a:solidFill>
                <a:latin typeface="Calibri" pitchFamily="34" charset="0"/>
                <a:ea typeface="Calibri" pitchFamily="34" charset="-122"/>
                <a:cs typeface="Calibri" pitchFamily="34" charset="-120"/>
              </a:rPr>
              <a:t>Périnatalité</a:t>
            </a:r>
            <a:endParaRPr lang="en-US" sz="1400" dirty="0"/>
          </a:p>
        </p:txBody>
      </p:sp>
      <p:sp>
        <p:nvSpPr>
          <p:cNvPr id="4" name="panneau_personae"/>
          <p:cNvSpPr/>
          <p:nvPr/>
        </p:nvSpPr>
        <p:spPr>
          <a:xfrm>
            <a:off x="457200" y="1325880"/>
            <a:ext cx="3017520" cy="5074920"/>
          </a:xfrm>
          <a:prstGeom prst="roundRect">
            <a:avLst>
              <a:gd name="adj" fmla="val 3636"/>
            </a:avLst>
          </a:prstGeom>
          <a:solidFill>
            <a:srgbClr val="E7F0EC"/>
          </a:solidFill>
          <a:ln/>
        </p:spPr>
      </p:sp>
      <p:sp>
        <p:nvSpPr>
          <p:cNvPr id="5" name="avatar"/>
          <p:cNvSpPr/>
          <p:nvPr/>
        </p:nvSpPr>
        <p:spPr>
          <a:xfrm>
            <a:off x="1005840" y="1691640"/>
            <a:ext cx="1920240" cy="1920240"/>
          </a:xfrm>
          <a:prstGeom prst="ellipse">
            <a:avLst/>
          </a:prstGeom>
          <a:solidFill>
            <a:srgbClr val="2F6E62"/>
          </a:solidFill>
          <a:ln/>
        </p:spPr>
      </p:sp>
      <p:sp>
        <p:nvSpPr>
          <p:cNvPr id="6" name="Text 4"/>
          <p:cNvSpPr txBox="1"/>
          <p:nvPr/>
        </p:nvSpPr>
        <p:spPr>
          <a:xfrm>
            <a:off x="1005840" y="1691640"/>
            <a:ext cx="1920240" cy="1920240"/>
          </a:xfrm>
          <a:prstGeom prst="rect">
            <a:avLst/>
          </a:prstGeom>
          <a:noFill/>
          <a:ln/>
        </p:spPr>
        <p:txBody>
          <a:bodyPr wrap="square" lIns="0" tIns="0" rIns="0" bIns="0" rtlCol="0" anchor="ctr"/>
          <a:lstStyle/>
          <a:p>
            <a:pPr algn="ctr" indent="0" marL="0">
              <a:buNone/>
            </a:pPr>
            <a:r>
              <a:rPr lang="en-US" sz="6600" b="1" dirty="0">
                <a:solidFill>
                  <a:srgbClr val="FFFFFF"/>
                </a:solidFill>
                <a:latin typeface="Georgia" pitchFamily="34" charset="0"/>
                <a:ea typeface="Georgia" pitchFamily="34" charset="-122"/>
                <a:cs typeface="Georgia" pitchFamily="34" charset="-120"/>
              </a:rPr>
              <a:t>E</a:t>
            </a:r>
            <a:endParaRPr lang="en-US" sz="6600" dirty="0"/>
          </a:p>
        </p:txBody>
      </p:sp>
      <p:sp>
        <p:nvSpPr>
          <p:cNvPr id="7" name="Text 5"/>
          <p:cNvSpPr txBox="1"/>
          <p:nvPr/>
        </p:nvSpPr>
        <p:spPr>
          <a:xfrm>
            <a:off x="640080" y="3794760"/>
            <a:ext cx="2651760" cy="411480"/>
          </a:xfrm>
          <a:prstGeom prst="rect">
            <a:avLst/>
          </a:prstGeom>
          <a:noFill/>
          <a:ln/>
        </p:spPr>
        <p:txBody>
          <a:bodyPr wrap="square" lIns="0" tIns="0" rIns="0" bIns="0" rtlCol="0" anchor="ctr"/>
          <a:lstStyle/>
          <a:p>
            <a:pPr algn="ctr" indent="0" marL="0">
              <a:buNone/>
            </a:pPr>
            <a:r>
              <a:rPr lang="en-US" sz="1800" b="1" dirty="0">
                <a:solidFill>
                  <a:srgbClr val="1F4A42"/>
                </a:solidFill>
                <a:latin typeface="Georgia" pitchFamily="34" charset="0"/>
                <a:ea typeface="Georgia" pitchFamily="34" charset="-122"/>
                <a:cs typeface="Georgia" pitchFamily="34" charset="-120"/>
              </a:rPr>
              <a:t>Emilie, 37 ans</a:t>
            </a:r>
            <a:endParaRPr lang="en-US" sz="1800" dirty="0"/>
          </a:p>
        </p:txBody>
      </p:sp>
      <p:sp>
        <p:nvSpPr>
          <p:cNvPr id="8" name="Text 6"/>
          <p:cNvSpPr txBox="1"/>
          <p:nvPr/>
        </p:nvSpPr>
        <p:spPr>
          <a:xfrm>
            <a:off x="685800" y="4343400"/>
            <a:ext cx="2560320" cy="274320"/>
          </a:xfrm>
          <a:prstGeom prst="rect">
            <a:avLst/>
          </a:prstGeom>
          <a:noFill/>
          <a:ln/>
        </p:spPr>
        <p:txBody>
          <a:bodyPr wrap="square" lIns="0" tIns="0" rIns="0" bIns="0" rtlCol="0" anchor="ctr"/>
          <a:lstStyle/>
          <a:p>
            <a:pPr indent="0" marL="0">
              <a:buNone/>
            </a:pPr>
            <a:r>
              <a:rPr lang="en-US" sz="1150" b="1" dirty="0">
                <a:solidFill>
                  <a:srgbClr val="1F4A42"/>
                </a:solidFill>
                <a:latin typeface="Calibri" pitchFamily="34" charset="0"/>
                <a:ea typeface="Calibri" pitchFamily="34" charset="-122"/>
                <a:cs typeface="Calibri" pitchFamily="34" charset="-120"/>
              </a:rPr>
              <a:t>Déjà autour d'elle au départ :</a:t>
            </a:r>
            <a:endParaRPr lang="en-US" sz="1150" dirty="0"/>
          </a:p>
        </p:txBody>
      </p:sp>
      <p:sp>
        <p:nvSpPr>
          <p:cNvPr id="9" name="acteur_depart_0"/>
          <p:cNvSpPr/>
          <p:nvPr/>
        </p:nvSpPr>
        <p:spPr>
          <a:xfrm>
            <a:off x="685800" y="4681728"/>
            <a:ext cx="2560320" cy="274320"/>
          </a:xfrm>
          <a:prstGeom prst="roundRect">
            <a:avLst>
              <a:gd name="adj" fmla="val 16667"/>
            </a:avLst>
          </a:prstGeom>
          <a:solidFill>
            <a:srgbClr val="E6EEF3"/>
          </a:solidFill>
          <a:ln w="9525">
            <a:solidFill>
              <a:srgbClr val="3A6B8C"/>
            </a:solidFill>
            <a:prstDash val="solid"/>
          </a:ln>
        </p:spPr>
      </p:sp>
      <p:sp>
        <p:nvSpPr>
          <p:cNvPr id="10" name="Text 8"/>
          <p:cNvSpPr txBox="1"/>
          <p:nvPr/>
        </p:nvSpPr>
        <p:spPr>
          <a:xfrm>
            <a:off x="777240" y="4681728"/>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Médecin traitant (MSP)</a:t>
            </a:r>
            <a:endParaRPr lang="en-US" sz="1100" dirty="0"/>
          </a:p>
        </p:txBody>
      </p:sp>
      <p:sp>
        <p:nvSpPr>
          <p:cNvPr id="11" name="acteur_depart_1"/>
          <p:cNvSpPr/>
          <p:nvPr/>
        </p:nvSpPr>
        <p:spPr>
          <a:xfrm>
            <a:off x="685800" y="5010912"/>
            <a:ext cx="2560320" cy="274320"/>
          </a:xfrm>
          <a:prstGeom prst="roundRect">
            <a:avLst>
              <a:gd name="adj" fmla="val 16667"/>
            </a:avLst>
          </a:prstGeom>
          <a:solidFill>
            <a:srgbClr val="E6EEF3"/>
          </a:solidFill>
          <a:ln w="9525">
            <a:solidFill>
              <a:srgbClr val="3A6B8C"/>
            </a:solidFill>
            <a:prstDash val="solid"/>
          </a:ln>
        </p:spPr>
      </p:sp>
      <p:sp>
        <p:nvSpPr>
          <p:cNvPr id="12" name="Text 10"/>
          <p:cNvSpPr txBox="1"/>
          <p:nvPr/>
        </p:nvSpPr>
        <p:spPr>
          <a:xfrm>
            <a:off x="777240" y="5010912"/>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Gynécologue de ville</a:t>
            </a:r>
            <a:endParaRPr lang="en-US" sz="1100" dirty="0"/>
          </a:p>
        </p:txBody>
      </p:sp>
      <p:sp>
        <p:nvSpPr>
          <p:cNvPr id="13" name="acteur_depart_2"/>
          <p:cNvSpPr/>
          <p:nvPr/>
        </p:nvSpPr>
        <p:spPr>
          <a:xfrm>
            <a:off x="685800" y="5340096"/>
            <a:ext cx="2560320" cy="274320"/>
          </a:xfrm>
          <a:prstGeom prst="roundRect">
            <a:avLst>
              <a:gd name="adj" fmla="val 16667"/>
            </a:avLst>
          </a:prstGeom>
          <a:solidFill>
            <a:srgbClr val="E6EEF3"/>
          </a:solidFill>
          <a:ln w="9525">
            <a:solidFill>
              <a:srgbClr val="3A6B8C"/>
            </a:solidFill>
            <a:prstDash val="solid"/>
          </a:ln>
        </p:spPr>
      </p:sp>
      <p:sp>
        <p:nvSpPr>
          <p:cNvPr id="14" name="Text 12"/>
          <p:cNvSpPr txBox="1"/>
          <p:nvPr/>
        </p:nvSpPr>
        <p:spPr>
          <a:xfrm>
            <a:off x="777240" y="5340096"/>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Laboratoire</a:t>
            </a:r>
            <a:endParaRPr lang="en-US" sz="1100" dirty="0"/>
          </a:p>
        </p:txBody>
      </p:sp>
      <p:sp>
        <p:nvSpPr>
          <p:cNvPr id="15" name="Text 13"/>
          <p:cNvSpPr txBox="1"/>
          <p:nvPr/>
        </p:nvSpPr>
        <p:spPr>
          <a:xfrm>
            <a:off x="3886200" y="132588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Situation</a:t>
            </a:r>
            <a:endParaRPr lang="en-US" sz="1500" dirty="0"/>
          </a:p>
        </p:txBody>
      </p:sp>
      <p:sp>
        <p:nvSpPr>
          <p:cNvPr id="16" name="Text 14"/>
          <p:cNvSpPr txBox="1"/>
          <p:nvPr/>
        </p:nvSpPr>
        <p:spPr>
          <a:xfrm>
            <a:off x="3886200" y="165506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37 ans, célibataire, cadre en entreprise. Première grossesse.</a:t>
            </a:r>
            <a:endParaRPr lang="en-US" sz="1500" dirty="0"/>
          </a:p>
        </p:txBody>
      </p:sp>
      <p:sp>
        <p:nvSpPr>
          <p:cNvPr id="17" name="Text 15"/>
          <p:cNvSpPr txBox="1"/>
          <p:nvPr/>
        </p:nvSpPr>
        <p:spPr>
          <a:xfrm>
            <a:off x="3886200" y="260604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Entourage</a:t>
            </a:r>
            <a:endParaRPr lang="en-US" sz="1500" dirty="0"/>
          </a:p>
        </p:txBody>
      </p:sp>
      <p:sp>
        <p:nvSpPr>
          <p:cNvPr id="18" name="Text 16"/>
          <p:cNvSpPr txBox="1"/>
          <p:nvPr/>
        </p:nvSpPr>
        <p:spPr>
          <a:xfrm>
            <a:off x="3886200" y="293522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Sa famille vit en Nouvelle-Aquitaine : pas de proche disponible au quotidien en Île-de-France.</a:t>
            </a:r>
            <a:endParaRPr lang="en-US" sz="1500" dirty="0"/>
          </a:p>
        </p:txBody>
      </p:sp>
      <p:sp>
        <p:nvSpPr>
          <p:cNvPr id="19" name="Text 17"/>
          <p:cNvSpPr txBox="1"/>
          <p:nvPr/>
        </p:nvSpPr>
        <p:spPr>
          <a:xfrm>
            <a:off x="3886200" y="388620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Santé et suivi</a:t>
            </a:r>
            <a:endParaRPr lang="en-US" sz="1500" dirty="0"/>
          </a:p>
        </p:txBody>
      </p:sp>
      <p:sp>
        <p:nvSpPr>
          <p:cNvPr id="20" name="Text 18"/>
          <p:cNvSpPr txBox="1"/>
          <p:nvPr/>
        </p:nvSpPr>
        <p:spPr>
          <a:xfrm>
            <a:off x="3886200" y="421538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Pas de problème de santé connu. Antécédents de diabète dans la famille. Voit son médecin traitant, qui exerce en MSP, environ une fois par an ; suivi gynécologique en ville.</a:t>
            </a:r>
            <a:endParaRPr lang="en-US" sz="1500" dirty="0"/>
          </a:p>
        </p:txBody>
      </p:sp>
      <p:sp>
        <p:nvSpPr>
          <p:cNvPr id="21" name="Text 19"/>
          <p:cNvSpPr txBox="1"/>
          <p:nvPr/>
        </p:nvSpPr>
        <p:spPr>
          <a:xfrm>
            <a:off x="3886200" y="516636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Rapport à sa santé</a:t>
            </a:r>
            <a:endParaRPr lang="en-US" sz="1500" dirty="0"/>
          </a:p>
        </p:txBody>
      </p:sp>
      <p:sp>
        <p:nvSpPr>
          <p:cNvPr id="22" name="Text 20"/>
          <p:cNvSpPr txBox="1"/>
          <p:nvPr/>
        </p:nvSpPr>
        <p:spPr>
          <a:xfrm>
            <a:off x="3886200" y="549554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Autonome et organisée, attentive à son alimentation, sport occasionnel ; peu disponible en semaine.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Emilie, 37 ans — 1/2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De la confirmation de grossesse au retour à domicile après la maternité</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1"/>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1"/>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Emilie consulte son médecin traitant pour confirmer sa grossesse. Il lui prescrit un premier bilan sanguin ; le laboratoire lui adresse les résultats.</a:t>
            </a:r>
            <a:endParaRPr lang="en-US" sz="1200" dirty="0"/>
          </a:p>
        </p:txBody>
      </p:sp>
      <p:sp>
        <p:nvSpPr>
          <p:cNvPr id="16" name="fleche_1"/>
          <p:cNvSpPr/>
          <p:nvPr/>
        </p:nvSpPr>
        <p:spPr>
          <a:xfrm>
            <a:off x="4059936" y="2468880"/>
            <a:ext cx="173736" cy="182880"/>
          </a:xfrm>
          <a:prstGeom prst="rightArrow">
            <a:avLst/>
          </a:prstGeom>
          <a:solidFill>
            <a:srgbClr val="B9C4BC"/>
          </a:solidFill>
          <a:ln/>
        </p:spPr>
      </p:sp>
      <p:sp>
        <p:nvSpPr>
          <p:cNvPr id="17" name="moment_2"/>
          <p:cNvSpPr/>
          <p:nvPr/>
        </p:nvSpPr>
        <p:spPr>
          <a:xfrm>
            <a:off x="4270248" y="1371600"/>
            <a:ext cx="3566160" cy="2377440"/>
          </a:xfrm>
          <a:prstGeom prst="roundRect">
            <a:avLst>
              <a:gd name="adj" fmla="val 3846"/>
            </a:avLst>
          </a:prstGeom>
          <a:solidFill>
            <a:srgbClr val="E7F0EC"/>
          </a:solidFill>
          <a:ln w="15875">
            <a:solidFill>
              <a:srgbClr val="2F6E62"/>
            </a:solidFill>
            <a:prstDash val="solid"/>
          </a:ln>
        </p:spPr>
      </p:sp>
      <p:sp>
        <p:nvSpPr>
          <p:cNvPr id="18" name="num_2"/>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21" name="Text 19"/>
          <p:cNvSpPr txBox="1"/>
          <p:nvPr/>
        </p:nvSpPr>
        <p:spPr>
          <a:xfrm>
            <a:off x="4453128"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Elle confie le suivi de sa grossesse à son gynécologue, qui n'exerce pas à la MSP. Au premier examen prénatal, il déclare la grossesse en ligne : CPAM et CAF sont informées sans démarche de sa part.</a:t>
            </a:r>
            <a:endParaRPr lang="en-US" sz="1200" dirty="0"/>
          </a:p>
        </p:txBody>
      </p:sp>
      <p:sp>
        <p:nvSpPr>
          <p:cNvPr id="22" name="fleche_2"/>
          <p:cNvSpPr/>
          <p:nvPr/>
        </p:nvSpPr>
        <p:spPr>
          <a:xfrm>
            <a:off x="7872984" y="2468880"/>
            <a:ext cx="173736" cy="182880"/>
          </a:xfrm>
          <a:prstGeom prst="rightArrow">
            <a:avLst/>
          </a:prstGeom>
          <a:solidFill>
            <a:srgbClr val="B9C4BC"/>
          </a:solidFill>
          <a:ln/>
        </p:spPr>
      </p:sp>
      <p:sp>
        <p:nvSpPr>
          <p:cNvPr id="23" name="moment_3"/>
          <p:cNvSpPr/>
          <p:nvPr/>
        </p:nvSpPr>
        <p:spPr>
          <a:xfrm>
            <a:off x="8083296" y="1371600"/>
            <a:ext cx="3566160" cy="2377440"/>
          </a:xfrm>
          <a:prstGeom prst="roundRect">
            <a:avLst>
              <a:gd name="adj" fmla="val 3846"/>
            </a:avLst>
          </a:prstGeom>
          <a:solidFill>
            <a:srgbClr val="E7F0EC"/>
          </a:solidFill>
          <a:ln w="15875">
            <a:solidFill>
              <a:srgbClr val="2F6E62"/>
            </a:solidFill>
            <a:prstDash val="solid"/>
          </a:ln>
        </p:spPr>
      </p:sp>
      <p:sp>
        <p:nvSpPr>
          <p:cNvPr id="24" name="num_3"/>
          <p:cNvSpPr/>
          <p:nvPr/>
        </p:nvSpPr>
        <p:spPr>
          <a:xfrm>
            <a:off x="8220456" y="1499616"/>
            <a:ext cx="384048" cy="384048"/>
          </a:xfrm>
          <a:prstGeom prst="ellipse">
            <a:avLst/>
          </a:prstGeom>
          <a:solidFill>
            <a:srgbClr val="1F4A42"/>
          </a:solidFill>
          <a:ln/>
        </p:spPr>
      </p:sp>
      <p:sp>
        <p:nvSpPr>
          <p:cNvPr id="25" name="Text 23"/>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27" name="Text 25"/>
          <p:cNvSpPr txBox="1"/>
          <p:nvPr/>
        </p:nvSpPr>
        <p:spPr>
          <a:xfrm>
            <a:off x="8266176"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À trois mois, première échographie et inscription dans une maternité. Le suivi se déroule normalement ; comptes rendus d'examens et de consultations s'accumulent.</a:t>
            </a:r>
            <a:endParaRPr lang="en-US" sz="1200" dirty="0"/>
          </a:p>
        </p:txBody>
      </p:sp>
      <p:sp>
        <p:nvSpPr>
          <p:cNvPr id="28" name="moment_4"/>
          <p:cNvSpPr/>
          <p:nvPr/>
        </p:nvSpPr>
        <p:spPr>
          <a:xfrm>
            <a:off x="457200" y="3977640"/>
            <a:ext cx="3566160" cy="2377440"/>
          </a:xfrm>
          <a:prstGeom prst="roundRect">
            <a:avLst>
              <a:gd name="adj" fmla="val 3846"/>
            </a:avLst>
          </a:prstGeom>
          <a:solidFill>
            <a:srgbClr val="FCE9E1"/>
          </a:solidFill>
          <a:ln w="22225">
            <a:solidFill>
              <a:srgbClr val="E2704F"/>
            </a:solidFill>
            <a:prstDash val="dash"/>
          </a:ln>
        </p:spPr>
      </p:sp>
      <p:sp>
        <p:nvSpPr>
          <p:cNvPr id="29" name="num_4"/>
          <p:cNvSpPr/>
          <p:nvPr/>
        </p:nvSpPr>
        <p:spPr>
          <a:xfrm>
            <a:off x="594360" y="4105656"/>
            <a:ext cx="384048" cy="384048"/>
          </a:xfrm>
          <a:prstGeom prst="ellipse">
            <a:avLst/>
          </a:prstGeom>
          <a:solidFill>
            <a:srgbClr val="1F4A42"/>
          </a:solidFill>
          <a:ln/>
        </p:spPr>
      </p:sp>
      <p:sp>
        <p:nvSpPr>
          <p:cNvPr id="30" name="Text 28"/>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1</a:t>
            </a:r>
            <a:endParaRPr lang="en-US" sz="1000" dirty="0"/>
          </a:p>
        </p:txBody>
      </p:sp>
      <p:sp>
        <p:nvSpPr>
          <p:cNvPr id="32" name="irritant_4"/>
          <p:cNvSpPr/>
          <p:nvPr/>
        </p:nvSpPr>
        <p:spPr>
          <a:xfrm>
            <a:off x="3520440" y="4114800"/>
            <a:ext cx="365760" cy="365760"/>
          </a:xfrm>
          <a:prstGeom prst="ellipse">
            <a:avLst/>
          </a:prstGeom>
          <a:solidFill>
            <a:srgbClr val="C0392B"/>
          </a:solidFill>
          <a:ln/>
        </p:spPr>
      </p:sp>
      <p:sp>
        <p:nvSpPr>
          <p:cNvPr id="33" name="Text 31"/>
          <p:cNvSpPr txBox="1"/>
          <p:nvPr/>
        </p:nvSpPr>
        <p:spPr>
          <a:xfrm>
            <a:off x="3520440"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4" name="Text 32"/>
          <p:cNvSpPr txBox="1"/>
          <p:nvPr/>
        </p:nvSpPr>
        <p:spPr>
          <a:xfrm>
            <a:off x="640080"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Au 5e mois, le bilan montre une glycémie élevée. Le médecin traitant oriente Emilie vers la diététicienne de la MSP et met en place une autosurveillance glycémique. Avec le gynécologue, hors MSP, les trois professionnels doivent suivre ensemble les relevés et ajuster la prise en charge au fil des semaines.</a:t>
            </a:r>
            <a:endParaRPr lang="en-US" sz="1150" dirty="0"/>
          </a:p>
        </p:txBody>
      </p:sp>
      <p:sp>
        <p:nvSpPr>
          <p:cNvPr id="35" name="qui_4"/>
          <p:cNvSpPr/>
          <p:nvPr/>
        </p:nvSpPr>
        <p:spPr>
          <a:xfrm>
            <a:off x="640080" y="5806440"/>
            <a:ext cx="1874520" cy="411480"/>
          </a:xfrm>
          <a:prstGeom prst="roundRect">
            <a:avLst>
              <a:gd name="adj" fmla="val 11111"/>
            </a:avLst>
          </a:prstGeom>
          <a:solidFill>
            <a:srgbClr val="FFFFFF"/>
          </a:solidFill>
          <a:ln w="12700">
            <a:solidFill>
              <a:srgbClr val="E2704F"/>
            </a:solidFill>
            <a:prstDash val="dash"/>
          </a:ln>
        </p:spPr>
      </p:sp>
      <p:sp>
        <p:nvSpPr>
          <p:cNvPr id="36" name="Text 34"/>
          <p:cNvSpPr txBox="1"/>
          <p:nvPr/>
        </p:nvSpPr>
        <p:spPr>
          <a:xfrm>
            <a:off x="731520"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37" name="outil_4"/>
          <p:cNvSpPr/>
          <p:nvPr/>
        </p:nvSpPr>
        <p:spPr>
          <a:xfrm>
            <a:off x="2633472" y="5806440"/>
            <a:ext cx="1207008" cy="411480"/>
          </a:xfrm>
          <a:prstGeom prst="roundRect">
            <a:avLst>
              <a:gd name="adj" fmla="val 11111"/>
            </a:avLst>
          </a:prstGeom>
          <a:solidFill>
            <a:srgbClr val="FFFFFF"/>
          </a:solidFill>
          <a:ln w="12700">
            <a:solidFill>
              <a:srgbClr val="E2704F"/>
            </a:solidFill>
            <a:prstDash val="dash"/>
          </a:ln>
        </p:spPr>
      </p:sp>
      <p:sp>
        <p:nvSpPr>
          <p:cNvPr id="38" name="Text 36"/>
          <p:cNvSpPr txBox="1"/>
          <p:nvPr/>
        </p:nvSpPr>
        <p:spPr>
          <a:xfrm>
            <a:off x="2724912"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39" name="fleche_4"/>
          <p:cNvSpPr/>
          <p:nvPr/>
        </p:nvSpPr>
        <p:spPr>
          <a:xfrm>
            <a:off x="4059936" y="5074920"/>
            <a:ext cx="173736" cy="182880"/>
          </a:xfrm>
          <a:prstGeom prst="rightArrow">
            <a:avLst/>
          </a:prstGeom>
          <a:solidFill>
            <a:srgbClr val="B9C4BC"/>
          </a:solidFill>
          <a:ln/>
        </p:spPr>
      </p:sp>
      <p:sp>
        <p:nvSpPr>
          <p:cNvPr id="40" name="moment_5"/>
          <p:cNvSpPr/>
          <p:nvPr/>
        </p:nvSpPr>
        <p:spPr>
          <a:xfrm>
            <a:off x="4270248" y="3977640"/>
            <a:ext cx="3566160" cy="2377440"/>
          </a:xfrm>
          <a:prstGeom prst="roundRect">
            <a:avLst>
              <a:gd name="adj" fmla="val 3846"/>
            </a:avLst>
          </a:prstGeom>
          <a:solidFill>
            <a:srgbClr val="FCE9E1"/>
          </a:solidFill>
          <a:ln w="22225">
            <a:solidFill>
              <a:srgbClr val="E2704F"/>
            </a:solidFill>
            <a:prstDash val="dash"/>
          </a:ln>
        </p:spPr>
      </p:sp>
      <p:sp>
        <p:nvSpPr>
          <p:cNvPr id="41" name="num_5"/>
          <p:cNvSpPr/>
          <p:nvPr/>
        </p:nvSpPr>
        <p:spPr>
          <a:xfrm>
            <a:off x="4407408" y="4105656"/>
            <a:ext cx="384048" cy="384048"/>
          </a:xfrm>
          <a:prstGeom prst="ellipse">
            <a:avLst/>
          </a:prstGeom>
          <a:solidFill>
            <a:srgbClr val="1F4A42"/>
          </a:solidFill>
          <a:ln/>
        </p:spPr>
      </p:sp>
      <p:sp>
        <p:nvSpPr>
          <p:cNvPr id="42" name="Text 40"/>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3" name="Text 41"/>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2</a:t>
            </a:r>
            <a:endParaRPr lang="en-US" sz="1000" dirty="0"/>
          </a:p>
        </p:txBody>
      </p:sp>
      <p:sp>
        <p:nvSpPr>
          <p:cNvPr id="44" name="irritant_5"/>
          <p:cNvSpPr/>
          <p:nvPr/>
        </p:nvSpPr>
        <p:spPr>
          <a:xfrm>
            <a:off x="7333488" y="4114800"/>
            <a:ext cx="365760" cy="365760"/>
          </a:xfrm>
          <a:prstGeom prst="ellipse">
            <a:avLst/>
          </a:prstGeom>
          <a:solidFill>
            <a:srgbClr val="C0392B"/>
          </a:solidFill>
          <a:ln/>
        </p:spPr>
      </p:sp>
      <p:sp>
        <p:nvSpPr>
          <p:cNvPr id="45" name="Text 43"/>
          <p:cNvSpPr txBox="1"/>
          <p:nvPr/>
        </p:nvSpPr>
        <p:spPr>
          <a:xfrm>
            <a:off x="7333488"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6" name="Text 44"/>
          <p:cNvSpPr txBox="1"/>
          <p:nvPr/>
        </p:nvSpPr>
        <p:spPr>
          <a:xfrm>
            <a:off x="4453128"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Emilie prend beaucoup de poids et l'équilibre glycémique reste difficile. Le médecin traitant voudrait l'avis d'une diabétologue sur la conduite à tenir, mais le premier rendez-vous disponible est lointain. Emilie accepte qu'il sollicite cet avis.</a:t>
            </a:r>
            <a:endParaRPr lang="en-US" sz="1150" dirty="0"/>
          </a:p>
        </p:txBody>
      </p:sp>
      <p:sp>
        <p:nvSpPr>
          <p:cNvPr id="47" name="qui_5"/>
          <p:cNvSpPr/>
          <p:nvPr/>
        </p:nvSpPr>
        <p:spPr>
          <a:xfrm>
            <a:off x="4453128" y="5806440"/>
            <a:ext cx="1874520" cy="411480"/>
          </a:xfrm>
          <a:prstGeom prst="roundRect">
            <a:avLst>
              <a:gd name="adj" fmla="val 11111"/>
            </a:avLst>
          </a:prstGeom>
          <a:solidFill>
            <a:srgbClr val="FFFFFF"/>
          </a:solidFill>
          <a:ln w="12700">
            <a:solidFill>
              <a:srgbClr val="E2704F"/>
            </a:solidFill>
            <a:prstDash val="dash"/>
          </a:ln>
        </p:spPr>
      </p:sp>
      <p:sp>
        <p:nvSpPr>
          <p:cNvPr id="48" name="Text 46"/>
          <p:cNvSpPr txBox="1"/>
          <p:nvPr/>
        </p:nvSpPr>
        <p:spPr>
          <a:xfrm>
            <a:off x="4544568"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49" name="outil_5"/>
          <p:cNvSpPr/>
          <p:nvPr/>
        </p:nvSpPr>
        <p:spPr>
          <a:xfrm>
            <a:off x="6446520" y="5806440"/>
            <a:ext cx="1207008" cy="411480"/>
          </a:xfrm>
          <a:prstGeom prst="roundRect">
            <a:avLst>
              <a:gd name="adj" fmla="val 11111"/>
            </a:avLst>
          </a:prstGeom>
          <a:solidFill>
            <a:srgbClr val="FFFFFF"/>
          </a:solidFill>
          <a:ln w="12700">
            <a:solidFill>
              <a:srgbClr val="E2704F"/>
            </a:solidFill>
            <a:prstDash val="dash"/>
          </a:ln>
        </p:spPr>
      </p:sp>
      <p:sp>
        <p:nvSpPr>
          <p:cNvPr id="50" name="Text 48"/>
          <p:cNvSpPr txBox="1"/>
          <p:nvPr/>
        </p:nvSpPr>
        <p:spPr>
          <a:xfrm>
            <a:off x="6537960"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51" name="fleche_5"/>
          <p:cNvSpPr/>
          <p:nvPr/>
        </p:nvSpPr>
        <p:spPr>
          <a:xfrm>
            <a:off x="7872984" y="5074920"/>
            <a:ext cx="173736" cy="182880"/>
          </a:xfrm>
          <a:prstGeom prst="rightArrow">
            <a:avLst/>
          </a:prstGeom>
          <a:solidFill>
            <a:srgbClr val="B9C4BC"/>
          </a:solidFill>
          <a:ln/>
        </p:spPr>
      </p:sp>
      <p:sp>
        <p:nvSpPr>
          <p:cNvPr id="52" name="moment_6"/>
          <p:cNvSpPr/>
          <p:nvPr/>
        </p:nvSpPr>
        <p:spPr>
          <a:xfrm>
            <a:off x="8083296" y="3977640"/>
            <a:ext cx="3566160" cy="2377440"/>
          </a:xfrm>
          <a:prstGeom prst="roundRect">
            <a:avLst>
              <a:gd name="adj" fmla="val 3846"/>
            </a:avLst>
          </a:prstGeom>
          <a:solidFill>
            <a:srgbClr val="FCE9E1"/>
          </a:solidFill>
          <a:ln w="22225">
            <a:solidFill>
              <a:srgbClr val="E2704F"/>
            </a:solidFill>
            <a:prstDash val="dash"/>
          </a:ln>
        </p:spPr>
      </p:sp>
      <p:sp>
        <p:nvSpPr>
          <p:cNvPr id="53" name="num_6"/>
          <p:cNvSpPr/>
          <p:nvPr/>
        </p:nvSpPr>
        <p:spPr>
          <a:xfrm>
            <a:off x="8220456" y="4105656"/>
            <a:ext cx="384048" cy="384048"/>
          </a:xfrm>
          <a:prstGeom prst="ellipse">
            <a:avLst/>
          </a:prstGeom>
          <a:solidFill>
            <a:srgbClr val="1F4A42"/>
          </a:solidFill>
          <a:ln/>
        </p:spPr>
      </p:sp>
      <p:sp>
        <p:nvSpPr>
          <p:cNvPr id="54" name="Text 52"/>
          <p:cNvSpPr txBox="1"/>
          <p:nvPr/>
        </p:nvSpPr>
        <p:spPr>
          <a:xfrm>
            <a:off x="8220456"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55" name="Text 53"/>
          <p:cNvSpPr txBox="1"/>
          <p:nvPr/>
        </p:nvSpPr>
        <p:spPr>
          <a:xfrm>
            <a:off x="8705088"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3</a:t>
            </a:r>
            <a:endParaRPr lang="en-US" sz="1000" dirty="0"/>
          </a:p>
        </p:txBody>
      </p:sp>
      <p:sp>
        <p:nvSpPr>
          <p:cNvPr id="56" name="Text 54"/>
          <p:cNvSpPr txBox="1"/>
          <p:nvPr/>
        </p:nvSpPr>
        <p:spPr>
          <a:xfrm>
            <a:off x="8266176"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La diabétologue reçoit Emilie une première fois et instaure l'insuline. Pour la suite, elle veut suivre ses glycémies entre les consultations et lui faire parvenir ses prescriptions sans la faire revenir à chaque ajustement.</a:t>
            </a:r>
            <a:endParaRPr lang="en-US" sz="1150" dirty="0"/>
          </a:p>
        </p:txBody>
      </p:sp>
      <p:sp>
        <p:nvSpPr>
          <p:cNvPr id="57" name="qui_6"/>
          <p:cNvSpPr/>
          <p:nvPr/>
        </p:nvSpPr>
        <p:spPr>
          <a:xfrm>
            <a:off x="8266176" y="5806440"/>
            <a:ext cx="1874520" cy="411480"/>
          </a:xfrm>
          <a:prstGeom prst="roundRect">
            <a:avLst>
              <a:gd name="adj" fmla="val 11111"/>
            </a:avLst>
          </a:prstGeom>
          <a:solidFill>
            <a:srgbClr val="FFFFFF"/>
          </a:solidFill>
          <a:ln w="12700">
            <a:solidFill>
              <a:srgbClr val="E2704F"/>
            </a:solidFill>
            <a:prstDash val="dash"/>
          </a:ln>
        </p:spPr>
      </p:sp>
      <p:sp>
        <p:nvSpPr>
          <p:cNvPr id="58" name="Text 56"/>
          <p:cNvSpPr txBox="1"/>
          <p:nvPr/>
        </p:nvSpPr>
        <p:spPr>
          <a:xfrm>
            <a:off x="8357616"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59" name="outil_6"/>
          <p:cNvSpPr/>
          <p:nvPr/>
        </p:nvSpPr>
        <p:spPr>
          <a:xfrm>
            <a:off x="10259568" y="5806440"/>
            <a:ext cx="1207008" cy="411480"/>
          </a:xfrm>
          <a:prstGeom prst="roundRect">
            <a:avLst>
              <a:gd name="adj" fmla="val 11111"/>
            </a:avLst>
          </a:prstGeom>
          <a:solidFill>
            <a:srgbClr val="FFFFFF"/>
          </a:solidFill>
          <a:ln w="12700">
            <a:solidFill>
              <a:srgbClr val="E2704F"/>
            </a:solidFill>
            <a:prstDash val="dash"/>
          </a:ln>
        </p:spPr>
      </p:sp>
      <p:sp>
        <p:nvSpPr>
          <p:cNvPr id="60" name="Text 58"/>
          <p:cNvSpPr txBox="1"/>
          <p:nvPr/>
        </p:nvSpPr>
        <p:spPr>
          <a:xfrm>
            <a:off x="10351008"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61" name="Text 59"/>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  ·  Suite sur la diapo suivante.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Emilie, 37 ans — 2/2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De la confirmation de grossesse au retour à domicile après la maternité</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7"/>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7"/>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En fin de grossesse, contractions et début de dilatation du col : Emilie est orientée en urgence vers une maternité de niveau 2. Elle part de chez elle sans son dossier d'examens.</a:t>
            </a:r>
            <a:endParaRPr lang="en-US" sz="1200" dirty="0"/>
          </a:p>
        </p:txBody>
      </p:sp>
      <p:sp>
        <p:nvSpPr>
          <p:cNvPr id="16" name="fleche_7"/>
          <p:cNvSpPr/>
          <p:nvPr/>
        </p:nvSpPr>
        <p:spPr>
          <a:xfrm>
            <a:off x="4059936" y="2468880"/>
            <a:ext cx="173736" cy="182880"/>
          </a:xfrm>
          <a:prstGeom prst="rightArrow">
            <a:avLst/>
          </a:prstGeom>
          <a:solidFill>
            <a:srgbClr val="B9C4BC"/>
          </a:solidFill>
          <a:ln/>
        </p:spPr>
      </p:sp>
      <p:sp>
        <p:nvSpPr>
          <p:cNvPr id="17" name="moment_8"/>
          <p:cNvSpPr/>
          <p:nvPr/>
        </p:nvSpPr>
        <p:spPr>
          <a:xfrm>
            <a:off x="4270248" y="1371600"/>
            <a:ext cx="3566160" cy="2377440"/>
          </a:xfrm>
          <a:prstGeom prst="roundRect">
            <a:avLst>
              <a:gd name="adj" fmla="val 3846"/>
            </a:avLst>
          </a:prstGeom>
          <a:solidFill>
            <a:srgbClr val="FCE9E1"/>
          </a:solidFill>
          <a:ln w="22225">
            <a:solidFill>
              <a:srgbClr val="E2704F"/>
            </a:solidFill>
            <a:prstDash val="dash"/>
          </a:ln>
        </p:spPr>
      </p:sp>
      <p:sp>
        <p:nvSpPr>
          <p:cNvPr id="18" name="num_8"/>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4</a:t>
            </a:r>
            <a:endParaRPr lang="en-US" sz="1000" dirty="0"/>
          </a:p>
        </p:txBody>
      </p:sp>
      <p:sp>
        <p:nvSpPr>
          <p:cNvPr id="21" name="irritant_8"/>
          <p:cNvSpPr/>
          <p:nvPr/>
        </p:nvSpPr>
        <p:spPr>
          <a:xfrm>
            <a:off x="7333488" y="1508760"/>
            <a:ext cx="365760" cy="365760"/>
          </a:xfrm>
          <a:prstGeom prst="ellipse">
            <a:avLst/>
          </a:prstGeom>
          <a:solidFill>
            <a:srgbClr val="C0392B"/>
          </a:solidFill>
          <a:ln/>
        </p:spPr>
      </p:sp>
      <p:sp>
        <p:nvSpPr>
          <p:cNvPr id="22" name="Text 20"/>
          <p:cNvSpPr txBox="1"/>
          <p:nvPr/>
        </p:nvSpPr>
        <p:spPr>
          <a:xfrm>
            <a:off x="7333488" y="1508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4453128"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À son arrivée, l'équipe de la maternité doit reconstituer rapidement l'historique : échographies, bilans, traitement par insuline, avis de la diabétologue.</a:t>
            </a:r>
            <a:endParaRPr lang="en-US" sz="1150" dirty="0"/>
          </a:p>
        </p:txBody>
      </p:sp>
      <p:sp>
        <p:nvSpPr>
          <p:cNvPr id="24" name="qui_8"/>
          <p:cNvSpPr/>
          <p:nvPr/>
        </p:nvSpPr>
        <p:spPr>
          <a:xfrm>
            <a:off x="4453128" y="3200400"/>
            <a:ext cx="1874520" cy="411480"/>
          </a:xfrm>
          <a:prstGeom prst="roundRect">
            <a:avLst>
              <a:gd name="adj" fmla="val 11111"/>
            </a:avLst>
          </a:prstGeom>
          <a:solidFill>
            <a:srgbClr val="FFFFFF"/>
          </a:solidFill>
          <a:ln w="12700">
            <a:solidFill>
              <a:srgbClr val="E2704F"/>
            </a:solidFill>
            <a:prstDash val="dash"/>
          </a:ln>
        </p:spPr>
      </p:sp>
      <p:sp>
        <p:nvSpPr>
          <p:cNvPr id="25" name="Text 23"/>
          <p:cNvSpPr txBox="1"/>
          <p:nvPr/>
        </p:nvSpPr>
        <p:spPr>
          <a:xfrm>
            <a:off x="4544568"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26" name="outil_8"/>
          <p:cNvSpPr/>
          <p:nvPr/>
        </p:nvSpPr>
        <p:spPr>
          <a:xfrm>
            <a:off x="6446520" y="3200400"/>
            <a:ext cx="1207008" cy="411480"/>
          </a:xfrm>
          <a:prstGeom prst="roundRect">
            <a:avLst>
              <a:gd name="adj" fmla="val 11111"/>
            </a:avLst>
          </a:prstGeom>
          <a:solidFill>
            <a:srgbClr val="FFFFFF"/>
          </a:solidFill>
          <a:ln w="12700">
            <a:solidFill>
              <a:srgbClr val="E2704F"/>
            </a:solidFill>
            <a:prstDash val="dash"/>
          </a:ln>
        </p:spPr>
      </p:sp>
      <p:sp>
        <p:nvSpPr>
          <p:cNvPr id="27" name="Text 25"/>
          <p:cNvSpPr txBox="1"/>
          <p:nvPr/>
        </p:nvSpPr>
        <p:spPr>
          <a:xfrm>
            <a:off x="6537960"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28" name="fleche_8"/>
          <p:cNvSpPr/>
          <p:nvPr/>
        </p:nvSpPr>
        <p:spPr>
          <a:xfrm>
            <a:off x="7872984" y="2468880"/>
            <a:ext cx="173736" cy="182880"/>
          </a:xfrm>
          <a:prstGeom prst="rightArrow">
            <a:avLst/>
          </a:prstGeom>
          <a:solidFill>
            <a:srgbClr val="B9C4BC"/>
          </a:solidFill>
          <a:ln/>
        </p:spPr>
      </p:sp>
      <p:sp>
        <p:nvSpPr>
          <p:cNvPr id="29" name="moment_9"/>
          <p:cNvSpPr/>
          <p:nvPr/>
        </p:nvSpPr>
        <p:spPr>
          <a:xfrm>
            <a:off x="8083296" y="1371600"/>
            <a:ext cx="3566160" cy="2377440"/>
          </a:xfrm>
          <a:prstGeom prst="roundRect">
            <a:avLst>
              <a:gd name="adj" fmla="val 3846"/>
            </a:avLst>
          </a:prstGeom>
          <a:solidFill>
            <a:srgbClr val="E7F0EC"/>
          </a:solidFill>
          <a:ln w="15875">
            <a:solidFill>
              <a:srgbClr val="2F6E62"/>
            </a:solidFill>
            <a:prstDash val="solid"/>
          </a:ln>
        </p:spPr>
      </p:sp>
      <p:sp>
        <p:nvSpPr>
          <p:cNvPr id="30" name="num_9"/>
          <p:cNvSpPr/>
          <p:nvPr/>
        </p:nvSpPr>
        <p:spPr>
          <a:xfrm>
            <a:off x="8220456" y="1499616"/>
            <a:ext cx="384048" cy="384048"/>
          </a:xfrm>
          <a:prstGeom prst="ellipse">
            <a:avLst/>
          </a:prstGeom>
          <a:solidFill>
            <a:srgbClr val="1F4A42"/>
          </a:solidFill>
          <a:ln/>
        </p:spPr>
      </p:sp>
      <p:sp>
        <p:nvSpPr>
          <p:cNvPr id="31" name="Text 29"/>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33" name="Text 31"/>
          <p:cNvSpPr txBox="1"/>
          <p:nvPr/>
        </p:nvSpPr>
        <p:spPr>
          <a:xfrm>
            <a:off x="8266176"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Accouchement à terme par césarienne. Emilie et son bébé vont bien, mais Emilie est épuisée ; le bébé a du mal à prendre le sein et sa prise de poids est lente.</a:t>
            </a:r>
            <a:endParaRPr lang="en-US" sz="1200" dirty="0"/>
          </a:p>
        </p:txBody>
      </p:sp>
      <p:sp>
        <p:nvSpPr>
          <p:cNvPr id="34" name="moment_10"/>
          <p:cNvSpPr/>
          <p:nvPr/>
        </p:nvSpPr>
        <p:spPr>
          <a:xfrm>
            <a:off x="457200" y="3977640"/>
            <a:ext cx="3566160" cy="2377440"/>
          </a:xfrm>
          <a:prstGeom prst="roundRect">
            <a:avLst>
              <a:gd name="adj" fmla="val 3846"/>
            </a:avLst>
          </a:prstGeom>
          <a:solidFill>
            <a:srgbClr val="FCE9E1"/>
          </a:solidFill>
          <a:ln w="22225">
            <a:solidFill>
              <a:srgbClr val="E2704F"/>
            </a:solidFill>
            <a:prstDash val="dash"/>
          </a:ln>
        </p:spPr>
      </p:sp>
      <p:sp>
        <p:nvSpPr>
          <p:cNvPr id="35" name="num_10"/>
          <p:cNvSpPr/>
          <p:nvPr/>
        </p:nvSpPr>
        <p:spPr>
          <a:xfrm>
            <a:off x="594360" y="4105656"/>
            <a:ext cx="384048" cy="384048"/>
          </a:xfrm>
          <a:prstGeom prst="ellipse">
            <a:avLst/>
          </a:prstGeom>
          <a:solidFill>
            <a:srgbClr val="1F4A42"/>
          </a:solidFill>
          <a:ln/>
        </p:spPr>
      </p:sp>
      <p:sp>
        <p:nvSpPr>
          <p:cNvPr id="36" name="Text 34"/>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7" name="Text 35"/>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5</a:t>
            </a:r>
            <a:endParaRPr lang="en-US" sz="1000" dirty="0"/>
          </a:p>
        </p:txBody>
      </p:sp>
      <p:sp>
        <p:nvSpPr>
          <p:cNvPr id="38" name="Text 36"/>
          <p:cNvSpPr txBox="1"/>
          <p:nvPr/>
        </p:nvSpPr>
        <p:spPr>
          <a:xfrm>
            <a:off x="640080"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La maternité prépare la sortie. Emilie, seule en Île-de-France, a besoin du passage d'une sage-femme à domicile dans les jours qui suivent ; elle n'en connaît aucune. Il faut trouver rapidement un relais en ville et prévenir ceux qui la suivent déjà.</a:t>
            </a:r>
            <a:endParaRPr lang="en-US" sz="1150" dirty="0"/>
          </a:p>
        </p:txBody>
      </p:sp>
      <p:sp>
        <p:nvSpPr>
          <p:cNvPr id="39" name="qui_10"/>
          <p:cNvSpPr/>
          <p:nvPr/>
        </p:nvSpPr>
        <p:spPr>
          <a:xfrm>
            <a:off x="640080" y="5806440"/>
            <a:ext cx="1874520" cy="411480"/>
          </a:xfrm>
          <a:prstGeom prst="roundRect">
            <a:avLst>
              <a:gd name="adj" fmla="val 11111"/>
            </a:avLst>
          </a:prstGeom>
          <a:solidFill>
            <a:srgbClr val="FFFFFF"/>
          </a:solidFill>
          <a:ln w="12700">
            <a:solidFill>
              <a:srgbClr val="E2704F"/>
            </a:solidFill>
            <a:prstDash val="dash"/>
          </a:ln>
        </p:spPr>
      </p:sp>
      <p:sp>
        <p:nvSpPr>
          <p:cNvPr id="40" name="Text 38"/>
          <p:cNvSpPr txBox="1"/>
          <p:nvPr/>
        </p:nvSpPr>
        <p:spPr>
          <a:xfrm>
            <a:off x="731520"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41" name="outil_10"/>
          <p:cNvSpPr/>
          <p:nvPr/>
        </p:nvSpPr>
        <p:spPr>
          <a:xfrm>
            <a:off x="2633472" y="5806440"/>
            <a:ext cx="1207008" cy="411480"/>
          </a:xfrm>
          <a:prstGeom prst="roundRect">
            <a:avLst>
              <a:gd name="adj" fmla="val 11111"/>
            </a:avLst>
          </a:prstGeom>
          <a:solidFill>
            <a:srgbClr val="FFFFFF"/>
          </a:solidFill>
          <a:ln w="12700">
            <a:solidFill>
              <a:srgbClr val="E2704F"/>
            </a:solidFill>
            <a:prstDash val="dash"/>
          </a:ln>
        </p:spPr>
      </p:sp>
      <p:sp>
        <p:nvSpPr>
          <p:cNvPr id="42" name="Text 40"/>
          <p:cNvSpPr txBox="1"/>
          <p:nvPr/>
        </p:nvSpPr>
        <p:spPr>
          <a:xfrm>
            <a:off x="2724912"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43" name="fleche_10"/>
          <p:cNvSpPr/>
          <p:nvPr/>
        </p:nvSpPr>
        <p:spPr>
          <a:xfrm>
            <a:off x="4059936" y="5074920"/>
            <a:ext cx="173736" cy="182880"/>
          </a:xfrm>
          <a:prstGeom prst="rightArrow">
            <a:avLst/>
          </a:prstGeom>
          <a:solidFill>
            <a:srgbClr val="B9C4BC"/>
          </a:solidFill>
          <a:ln/>
        </p:spPr>
      </p:sp>
      <p:sp>
        <p:nvSpPr>
          <p:cNvPr id="44" name="moment_11"/>
          <p:cNvSpPr/>
          <p:nvPr/>
        </p:nvSpPr>
        <p:spPr>
          <a:xfrm>
            <a:off x="4270248" y="3977640"/>
            <a:ext cx="3566160" cy="2377440"/>
          </a:xfrm>
          <a:prstGeom prst="roundRect">
            <a:avLst>
              <a:gd name="adj" fmla="val 3846"/>
            </a:avLst>
          </a:prstGeom>
          <a:solidFill>
            <a:srgbClr val="E7F0EC"/>
          </a:solidFill>
          <a:ln w="15875">
            <a:solidFill>
              <a:srgbClr val="2F6E62"/>
            </a:solidFill>
            <a:prstDash val="solid"/>
          </a:ln>
        </p:spPr>
      </p:sp>
      <p:sp>
        <p:nvSpPr>
          <p:cNvPr id="45" name="num_11"/>
          <p:cNvSpPr/>
          <p:nvPr/>
        </p:nvSpPr>
        <p:spPr>
          <a:xfrm>
            <a:off x="4407408" y="4105656"/>
            <a:ext cx="384048" cy="384048"/>
          </a:xfrm>
          <a:prstGeom prst="ellipse">
            <a:avLst/>
          </a:prstGeom>
          <a:solidFill>
            <a:srgbClr val="1F4A42"/>
          </a:solidFill>
          <a:ln/>
        </p:spPr>
      </p:sp>
      <p:sp>
        <p:nvSpPr>
          <p:cNvPr id="46" name="Text 44"/>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48" name="Text 46"/>
          <p:cNvSpPr txBox="1"/>
          <p:nvPr/>
        </p:nvSpPr>
        <p:spPr>
          <a:xfrm>
            <a:off x="4453128"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La prise de poids du bébé reste insuffisante et les suites de la césarienne sont difficiles : le médecin traitant fait une demande d'admission en HAD périnatale.</a:t>
            </a:r>
            <a:endParaRPr lang="en-US" sz="1200" dirty="0"/>
          </a:p>
        </p:txBody>
      </p:sp>
      <p:sp>
        <p:nvSpPr>
          <p:cNvPr id="49" name="fleche_11"/>
          <p:cNvSpPr/>
          <p:nvPr/>
        </p:nvSpPr>
        <p:spPr>
          <a:xfrm>
            <a:off x="7872984" y="5074920"/>
            <a:ext cx="173736" cy="182880"/>
          </a:xfrm>
          <a:prstGeom prst="rightArrow">
            <a:avLst/>
          </a:prstGeom>
          <a:solidFill>
            <a:srgbClr val="B9C4BC"/>
          </a:solidFill>
          <a:ln/>
        </p:spPr>
      </p:sp>
      <p:sp>
        <p:nvSpPr>
          <p:cNvPr id="50" name="moment_12"/>
          <p:cNvSpPr/>
          <p:nvPr/>
        </p:nvSpPr>
        <p:spPr>
          <a:xfrm>
            <a:off x="8083296" y="3977640"/>
            <a:ext cx="3566160" cy="2377440"/>
          </a:xfrm>
          <a:prstGeom prst="roundRect">
            <a:avLst>
              <a:gd name="adj" fmla="val 3846"/>
            </a:avLst>
          </a:prstGeom>
          <a:solidFill>
            <a:srgbClr val="E7F0EC"/>
          </a:solidFill>
          <a:ln w="15875">
            <a:solidFill>
              <a:srgbClr val="2F6E62"/>
            </a:solidFill>
            <a:prstDash val="solid"/>
          </a:ln>
        </p:spPr>
      </p:sp>
      <p:sp>
        <p:nvSpPr>
          <p:cNvPr id="51" name="num_12"/>
          <p:cNvSpPr/>
          <p:nvPr/>
        </p:nvSpPr>
        <p:spPr>
          <a:xfrm>
            <a:off x="8220456" y="4105656"/>
            <a:ext cx="384048" cy="384048"/>
          </a:xfrm>
          <a:prstGeom prst="ellipse">
            <a:avLst/>
          </a:prstGeom>
          <a:solidFill>
            <a:srgbClr val="1F4A42"/>
          </a:solidFill>
          <a:ln/>
        </p:spPr>
      </p:sp>
      <p:sp>
        <p:nvSpPr>
          <p:cNvPr id="52" name="Text 50"/>
          <p:cNvSpPr txBox="1"/>
          <p:nvPr/>
        </p:nvSpPr>
        <p:spPr>
          <a:xfrm>
            <a:off x="8220456"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53" name="Text 51"/>
          <p:cNvSpPr txBox="1"/>
          <p:nvPr/>
        </p:nvSpPr>
        <p:spPr>
          <a:xfrm>
            <a:off x="8705088"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54" name="Text 52"/>
          <p:cNvSpPr txBox="1"/>
          <p:nvPr/>
        </p:nvSpPr>
        <p:spPr>
          <a:xfrm>
            <a:off x="8266176"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Emilie reporte les pesées de son bébé dans le profil Mon espace santé de l'enfant. Une fois l'HAD terminée, la PMI prend le relais du suivi.</a:t>
            </a:r>
            <a:endParaRPr lang="en-US" sz="1200" dirty="0"/>
          </a:p>
        </p:txBody>
      </p:sp>
      <p:sp>
        <p:nvSpPr>
          <p:cNvPr id="55" name="Text 53"/>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Monique, 89 ans — personae</a:t>
            </a:r>
            <a:endParaRPr lang="en-US" sz="2600" dirty="0"/>
          </a:p>
        </p:txBody>
      </p:sp>
      <p:sp>
        <p:nvSpPr>
          <p:cNvPr id="3" name="Text 1"/>
          <p:cNvSpPr txBox="1"/>
          <p:nvPr/>
        </p:nvSpPr>
        <p:spPr>
          <a:xfrm>
            <a:off x="457200" y="804672"/>
            <a:ext cx="7315200" cy="320040"/>
          </a:xfrm>
          <a:prstGeom prst="rect">
            <a:avLst/>
          </a:prstGeom>
          <a:noFill/>
          <a:ln/>
        </p:spPr>
        <p:txBody>
          <a:bodyPr wrap="square" lIns="0" tIns="0" rIns="0" bIns="0" rtlCol="0" anchor="ctr"/>
          <a:lstStyle/>
          <a:p>
            <a:pPr indent="0" marL="0">
              <a:buNone/>
            </a:pPr>
            <a:r>
              <a:rPr lang="en-US" sz="1400" i="1" dirty="0">
                <a:solidFill>
                  <a:srgbClr val="6B7A73"/>
                </a:solidFill>
                <a:latin typeface="Calibri" pitchFamily="34" charset="0"/>
                <a:ea typeface="Calibri" pitchFamily="34" charset="-122"/>
                <a:cs typeface="Calibri" pitchFamily="34" charset="-120"/>
              </a:rPr>
              <a:t>Personne âgée, chute et sortie d'hospitalisation</a:t>
            </a:r>
            <a:endParaRPr lang="en-US" sz="1400" dirty="0"/>
          </a:p>
        </p:txBody>
      </p:sp>
      <p:sp>
        <p:nvSpPr>
          <p:cNvPr id="4" name="panneau_personae"/>
          <p:cNvSpPr/>
          <p:nvPr/>
        </p:nvSpPr>
        <p:spPr>
          <a:xfrm>
            <a:off x="457200" y="1325880"/>
            <a:ext cx="3017520" cy="5074920"/>
          </a:xfrm>
          <a:prstGeom prst="roundRect">
            <a:avLst>
              <a:gd name="adj" fmla="val 3636"/>
            </a:avLst>
          </a:prstGeom>
          <a:solidFill>
            <a:srgbClr val="E7F0EC"/>
          </a:solidFill>
          <a:ln/>
        </p:spPr>
      </p:sp>
      <p:sp>
        <p:nvSpPr>
          <p:cNvPr id="5" name="avatar"/>
          <p:cNvSpPr/>
          <p:nvPr/>
        </p:nvSpPr>
        <p:spPr>
          <a:xfrm>
            <a:off x="1005840" y="1691640"/>
            <a:ext cx="1920240" cy="1920240"/>
          </a:xfrm>
          <a:prstGeom prst="ellipse">
            <a:avLst/>
          </a:prstGeom>
          <a:solidFill>
            <a:srgbClr val="2F6E62"/>
          </a:solidFill>
          <a:ln/>
        </p:spPr>
      </p:sp>
      <p:sp>
        <p:nvSpPr>
          <p:cNvPr id="6" name="Text 4"/>
          <p:cNvSpPr txBox="1"/>
          <p:nvPr/>
        </p:nvSpPr>
        <p:spPr>
          <a:xfrm>
            <a:off x="1005840" y="1691640"/>
            <a:ext cx="1920240" cy="1920240"/>
          </a:xfrm>
          <a:prstGeom prst="rect">
            <a:avLst/>
          </a:prstGeom>
          <a:noFill/>
          <a:ln/>
        </p:spPr>
        <p:txBody>
          <a:bodyPr wrap="square" lIns="0" tIns="0" rIns="0" bIns="0" rtlCol="0" anchor="ctr"/>
          <a:lstStyle/>
          <a:p>
            <a:pPr algn="ctr" indent="0" marL="0">
              <a:buNone/>
            </a:pPr>
            <a:r>
              <a:rPr lang="en-US" sz="6600" b="1" dirty="0">
                <a:solidFill>
                  <a:srgbClr val="FFFFFF"/>
                </a:solidFill>
                <a:latin typeface="Georgia" pitchFamily="34" charset="0"/>
                <a:ea typeface="Georgia" pitchFamily="34" charset="-122"/>
                <a:cs typeface="Georgia" pitchFamily="34" charset="-120"/>
              </a:rPr>
              <a:t>M</a:t>
            </a:r>
            <a:endParaRPr lang="en-US" sz="6600" dirty="0"/>
          </a:p>
        </p:txBody>
      </p:sp>
      <p:sp>
        <p:nvSpPr>
          <p:cNvPr id="7" name="Text 5"/>
          <p:cNvSpPr txBox="1"/>
          <p:nvPr/>
        </p:nvSpPr>
        <p:spPr>
          <a:xfrm>
            <a:off x="640080" y="3794760"/>
            <a:ext cx="2651760" cy="411480"/>
          </a:xfrm>
          <a:prstGeom prst="rect">
            <a:avLst/>
          </a:prstGeom>
          <a:noFill/>
          <a:ln/>
        </p:spPr>
        <p:txBody>
          <a:bodyPr wrap="square" lIns="0" tIns="0" rIns="0" bIns="0" rtlCol="0" anchor="ctr"/>
          <a:lstStyle/>
          <a:p>
            <a:pPr algn="ctr" indent="0" marL="0">
              <a:buNone/>
            </a:pPr>
            <a:r>
              <a:rPr lang="en-US" sz="1800" b="1" dirty="0">
                <a:solidFill>
                  <a:srgbClr val="1F4A42"/>
                </a:solidFill>
                <a:latin typeface="Georgia" pitchFamily="34" charset="0"/>
                <a:ea typeface="Georgia" pitchFamily="34" charset="-122"/>
                <a:cs typeface="Georgia" pitchFamily="34" charset="-120"/>
              </a:rPr>
              <a:t>Monique, 89 ans</a:t>
            </a:r>
            <a:endParaRPr lang="en-US" sz="1800" dirty="0"/>
          </a:p>
        </p:txBody>
      </p:sp>
      <p:sp>
        <p:nvSpPr>
          <p:cNvPr id="8" name="Text 6"/>
          <p:cNvSpPr txBox="1"/>
          <p:nvPr/>
        </p:nvSpPr>
        <p:spPr>
          <a:xfrm>
            <a:off x="685800" y="4343400"/>
            <a:ext cx="2560320" cy="274320"/>
          </a:xfrm>
          <a:prstGeom prst="rect">
            <a:avLst/>
          </a:prstGeom>
          <a:noFill/>
          <a:ln/>
        </p:spPr>
        <p:txBody>
          <a:bodyPr wrap="square" lIns="0" tIns="0" rIns="0" bIns="0" rtlCol="0" anchor="ctr"/>
          <a:lstStyle/>
          <a:p>
            <a:pPr indent="0" marL="0">
              <a:buNone/>
            </a:pPr>
            <a:r>
              <a:rPr lang="en-US" sz="1150" b="1" dirty="0">
                <a:solidFill>
                  <a:srgbClr val="1F4A42"/>
                </a:solidFill>
                <a:latin typeface="Calibri" pitchFamily="34" charset="0"/>
                <a:ea typeface="Calibri" pitchFamily="34" charset="-122"/>
                <a:cs typeface="Calibri" pitchFamily="34" charset="-120"/>
              </a:rPr>
              <a:t>Déjà autour d'elle au départ :</a:t>
            </a:r>
            <a:endParaRPr lang="en-US" sz="1150" dirty="0"/>
          </a:p>
        </p:txBody>
      </p:sp>
      <p:sp>
        <p:nvSpPr>
          <p:cNvPr id="9" name="acteur_depart_0"/>
          <p:cNvSpPr/>
          <p:nvPr/>
        </p:nvSpPr>
        <p:spPr>
          <a:xfrm>
            <a:off x="685800" y="4681728"/>
            <a:ext cx="2560320" cy="274320"/>
          </a:xfrm>
          <a:prstGeom prst="roundRect">
            <a:avLst>
              <a:gd name="adj" fmla="val 16667"/>
            </a:avLst>
          </a:prstGeom>
          <a:solidFill>
            <a:srgbClr val="E6EEF3"/>
          </a:solidFill>
          <a:ln w="9525">
            <a:solidFill>
              <a:srgbClr val="3A6B8C"/>
            </a:solidFill>
            <a:prstDash val="solid"/>
          </a:ln>
        </p:spPr>
      </p:sp>
      <p:sp>
        <p:nvSpPr>
          <p:cNvPr id="10" name="Text 8"/>
          <p:cNvSpPr txBox="1"/>
          <p:nvPr/>
        </p:nvSpPr>
        <p:spPr>
          <a:xfrm>
            <a:off x="777240" y="4681728"/>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Médecin traitant</a:t>
            </a:r>
            <a:endParaRPr lang="en-US" sz="1100" dirty="0"/>
          </a:p>
        </p:txBody>
      </p:sp>
      <p:sp>
        <p:nvSpPr>
          <p:cNvPr id="11" name="acteur_depart_1"/>
          <p:cNvSpPr/>
          <p:nvPr/>
        </p:nvSpPr>
        <p:spPr>
          <a:xfrm>
            <a:off x="685800" y="5010912"/>
            <a:ext cx="2560320" cy="274320"/>
          </a:xfrm>
          <a:prstGeom prst="roundRect">
            <a:avLst>
              <a:gd name="adj" fmla="val 16667"/>
            </a:avLst>
          </a:prstGeom>
          <a:solidFill>
            <a:srgbClr val="E6EEF3"/>
          </a:solidFill>
          <a:ln w="9525">
            <a:solidFill>
              <a:srgbClr val="3A6B8C"/>
            </a:solidFill>
            <a:prstDash val="solid"/>
          </a:ln>
        </p:spPr>
      </p:sp>
      <p:sp>
        <p:nvSpPr>
          <p:cNvPr id="12" name="Text 10"/>
          <p:cNvSpPr txBox="1"/>
          <p:nvPr/>
        </p:nvSpPr>
        <p:spPr>
          <a:xfrm>
            <a:off x="777240" y="5010912"/>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Cardiologue</a:t>
            </a:r>
            <a:endParaRPr lang="en-US" sz="1100" dirty="0"/>
          </a:p>
        </p:txBody>
      </p:sp>
      <p:sp>
        <p:nvSpPr>
          <p:cNvPr id="13" name="acteur_depart_2"/>
          <p:cNvSpPr/>
          <p:nvPr/>
        </p:nvSpPr>
        <p:spPr>
          <a:xfrm>
            <a:off x="685800" y="5340096"/>
            <a:ext cx="2560320" cy="274320"/>
          </a:xfrm>
          <a:prstGeom prst="roundRect">
            <a:avLst>
              <a:gd name="adj" fmla="val 16667"/>
            </a:avLst>
          </a:prstGeom>
          <a:solidFill>
            <a:srgbClr val="E6EEF3"/>
          </a:solidFill>
          <a:ln w="9525">
            <a:solidFill>
              <a:srgbClr val="3A6B8C"/>
            </a:solidFill>
            <a:prstDash val="solid"/>
          </a:ln>
        </p:spPr>
      </p:sp>
      <p:sp>
        <p:nvSpPr>
          <p:cNvPr id="14" name="Text 12"/>
          <p:cNvSpPr txBox="1"/>
          <p:nvPr/>
        </p:nvSpPr>
        <p:spPr>
          <a:xfrm>
            <a:off x="777240" y="5340096"/>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Infirmier libéral</a:t>
            </a:r>
            <a:endParaRPr lang="en-US" sz="1100" dirty="0"/>
          </a:p>
        </p:txBody>
      </p:sp>
      <p:sp>
        <p:nvSpPr>
          <p:cNvPr id="15" name="acteur_depart_3"/>
          <p:cNvSpPr/>
          <p:nvPr/>
        </p:nvSpPr>
        <p:spPr>
          <a:xfrm>
            <a:off x="685800" y="5669280"/>
            <a:ext cx="2560320" cy="274320"/>
          </a:xfrm>
          <a:prstGeom prst="roundRect">
            <a:avLst>
              <a:gd name="adj" fmla="val 16667"/>
            </a:avLst>
          </a:prstGeom>
          <a:solidFill>
            <a:srgbClr val="E6EEF3"/>
          </a:solidFill>
          <a:ln w="9525">
            <a:solidFill>
              <a:srgbClr val="3A6B8C"/>
            </a:solidFill>
            <a:prstDash val="solid"/>
          </a:ln>
        </p:spPr>
      </p:sp>
      <p:sp>
        <p:nvSpPr>
          <p:cNvPr id="16" name="Text 14"/>
          <p:cNvSpPr txBox="1"/>
          <p:nvPr/>
        </p:nvSpPr>
        <p:spPr>
          <a:xfrm>
            <a:off x="777240" y="5669280"/>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Aide à domicile</a:t>
            </a:r>
            <a:endParaRPr lang="en-US" sz="1100" dirty="0"/>
          </a:p>
        </p:txBody>
      </p:sp>
      <p:sp>
        <p:nvSpPr>
          <p:cNvPr id="17" name="acteur_depart_4"/>
          <p:cNvSpPr/>
          <p:nvPr/>
        </p:nvSpPr>
        <p:spPr>
          <a:xfrm>
            <a:off x="685800" y="5998464"/>
            <a:ext cx="2560320" cy="274320"/>
          </a:xfrm>
          <a:prstGeom prst="roundRect">
            <a:avLst>
              <a:gd name="adj" fmla="val 16667"/>
            </a:avLst>
          </a:prstGeom>
          <a:solidFill>
            <a:srgbClr val="E6EEF3"/>
          </a:solidFill>
          <a:ln w="9525">
            <a:solidFill>
              <a:srgbClr val="3A6B8C"/>
            </a:solidFill>
            <a:prstDash val="solid"/>
          </a:ln>
        </p:spPr>
      </p:sp>
      <p:sp>
        <p:nvSpPr>
          <p:cNvPr id="18" name="Text 16"/>
          <p:cNvSpPr txBox="1"/>
          <p:nvPr/>
        </p:nvSpPr>
        <p:spPr>
          <a:xfrm>
            <a:off x="777240" y="5998464"/>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CCAS</a:t>
            </a:r>
            <a:endParaRPr lang="en-US" sz="1100" dirty="0"/>
          </a:p>
        </p:txBody>
      </p:sp>
      <p:sp>
        <p:nvSpPr>
          <p:cNvPr id="19" name="Text 17"/>
          <p:cNvSpPr txBox="1"/>
          <p:nvPr/>
        </p:nvSpPr>
        <p:spPr>
          <a:xfrm>
            <a:off x="3886200" y="132588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Situation</a:t>
            </a:r>
            <a:endParaRPr lang="en-US" sz="1500" dirty="0"/>
          </a:p>
        </p:txBody>
      </p:sp>
      <p:sp>
        <p:nvSpPr>
          <p:cNvPr id="20" name="Text 18"/>
          <p:cNvSpPr txBox="1"/>
          <p:nvPr/>
        </p:nvSpPr>
        <p:spPr>
          <a:xfrm>
            <a:off x="3886200" y="165506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89 ans, veuve, vit seule chez elle. Maladie d'Alzheimer débutante, diagnostiquée récemment.</a:t>
            </a:r>
            <a:endParaRPr lang="en-US" sz="1500" dirty="0"/>
          </a:p>
        </p:txBody>
      </p:sp>
      <p:sp>
        <p:nvSpPr>
          <p:cNvPr id="21" name="Text 19"/>
          <p:cNvSpPr txBox="1"/>
          <p:nvPr/>
        </p:nvSpPr>
        <p:spPr>
          <a:xfrm>
            <a:off x="3886200" y="260604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Entourage</a:t>
            </a:r>
            <a:endParaRPr lang="en-US" sz="1500" dirty="0"/>
          </a:p>
        </p:txBody>
      </p:sp>
      <p:sp>
        <p:nvSpPr>
          <p:cNvPr id="22" name="Text 20"/>
          <p:cNvSpPr txBox="1"/>
          <p:nvPr/>
        </p:nvSpPr>
        <p:spPr>
          <a:xfrm>
            <a:off x="3886200" y="293522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Une fille très présente, mais en déplacement professionnel à Chicago ; une amie voisine, veuve elle aussi.</a:t>
            </a:r>
            <a:endParaRPr lang="en-US" sz="1500" dirty="0"/>
          </a:p>
        </p:txBody>
      </p:sp>
      <p:sp>
        <p:nvSpPr>
          <p:cNvPr id="23" name="Text 21"/>
          <p:cNvSpPr txBox="1"/>
          <p:nvPr/>
        </p:nvSpPr>
        <p:spPr>
          <a:xfrm>
            <a:off x="3886200" y="388620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Santé et suivi</a:t>
            </a:r>
            <a:endParaRPr lang="en-US" sz="1500" dirty="0"/>
          </a:p>
        </p:txBody>
      </p:sp>
      <p:sp>
        <p:nvSpPr>
          <p:cNvPr id="24" name="Text 22"/>
          <p:cNvSpPr txBox="1"/>
          <p:nvPr/>
        </p:nvSpPr>
        <p:spPr>
          <a:xfrm>
            <a:off x="3886200" y="421538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Suivie régulièrement par son médecin traitant et par un cardiologue. Via le CCAS : aide à domicile 2 h trois fois par semaine, portage des repas, passage hebdomadaire d'un infirmier libéral pour le pilulier.</a:t>
            </a:r>
            <a:endParaRPr lang="en-US" sz="1500" dirty="0"/>
          </a:p>
        </p:txBody>
      </p:sp>
      <p:sp>
        <p:nvSpPr>
          <p:cNvPr id="25" name="Text 23"/>
          <p:cNvSpPr txBox="1"/>
          <p:nvPr/>
        </p:nvSpPr>
        <p:spPr>
          <a:xfrm>
            <a:off x="3886200" y="516636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Rapport à sa santé</a:t>
            </a:r>
            <a:endParaRPr lang="en-US" sz="1500" dirty="0"/>
          </a:p>
        </p:txBody>
      </p:sp>
      <p:sp>
        <p:nvSpPr>
          <p:cNvPr id="26" name="Text 24"/>
          <p:cNvSpPr txBox="1"/>
          <p:nvPr/>
        </p:nvSpPr>
        <p:spPr>
          <a:xfrm>
            <a:off x="3886200" y="549554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Veut rester chez elle « le plus longtemps possible » et y mourir, comme son mari ; refuse le « mouroir ». Sa fille s'est engagée à tout faire pour le permettre.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Monique, 89 ans — 1/2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Du maintien à domicile fragile au retour chez elle après une chute</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1"/>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1"/>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Monique vit seule à son domicile. Sa maladie d'Alzheimer débute ; elle tient à ses habitudes, à son amie voisine et à sa maison.</a:t>
            </a:r>
            <a:endParaRPr lang="en-US" sz="1200" dirty="0"/>
          </a:p>
        </p:txBody>
      </p:sp>
      <p:sp>
        <p:nvSpPr>
          <p:cNvPr id="16" name="fleche_1"/>
          <p:cNvSpPr/>
          <p:nvPr/>
        </p:nvSpPr>
        <p:spPr>
          <a:xfrm>
            <a:off x="4059936" y="2468880"/>
            <a:ext cx="173736" cy="182880"/>
          </a:xfrm>
          <a:prstGeom prst="rightArrow">
            <a:avLst/>
          </a:prstGeom>
          <a:solidFill>
            <a:srgbClr val="B9C4BC"/>
          </a:solidFill>
          <a:ln/>
        </p:spPr>
      </p:sp>
      <p:sp>
        <p:nvSpPr>
          <p:cNvPr id="17" name="moment_2"/>
          <p:cNvSpPr/>
          <p:nvPr/>
        </p:nvSpPr>
        <p:spPr>
          <a:xfrm>
            <a:off x="4270248" y="1371600"/>
            <a:ext cx="3566160" cy="2377440"/>
          </a:xfrm>
          <a:prstGeom prst="roundRect">
            <a:avLst>
              <a:gd name="adj" fmla="val 3846"/>
            </a:avLst>
          </a:prstGeom>
          <a:solidFill>
            <a:srgbClr val="E7F0EC"/>
          </a:solidFill>
          <a:ln w="15875">
            <a:solidFill>
              <a:srgbClr val="2F6E62"/>
            </a:solidFill>
            <a:prstDash val="solid"/>
          </a:ln>
        </p:spPr>
      </p:sp>
      <p:sp>
        <p:nvSpPr>
          <p:cNvPr id="18" name="num_2"/>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21" name="Text 19"/>
          <p:cNvSpPr txBox="1"/>
          <p:nvPr/>
        </p:nvSpPr>
        <p:spPr>
          <a:xfrm>
            <a:off x="4453128"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Sa fille a organisé avec le CCAS une aide à domicile, le portage des repas et le passage hebdomadaire de l'infirmier libéral. Monique voit régulièrement son médecin traitant et son cardiologue.</a:t>
            </a:r>
            <a:endParaRPr lang="en-US" sz="1200" dirty="0"/>
          </a:p>
        </p:txBody>
      </p:sp>
      <p:sp>
        <p:nvSpPr>
          <p:cNvPr id="22" name="fleche_2"/>
          <p:cNvSpPr/>
          <p:nvPr/>
        </p:nvSpPr>
        <p:spPr>
          <a:xfrm>
            <a:off x="7872984" y="2468880"/>
            <a:ext cx="173736" cy="182880"/>
          </a:xfrm>
          <a:prstGeom prst="rightArrow">
            <a:avLst/>
          </a:prstGeom>
          <a:solidFill>
            <a:srgbClr val="B9C4BC"/>
          </a:solidFill>
          <a:ln/>
        </p:spPr>
      </p:sp>
      <p:sp>
        <p:nvSpPr>
          <p:cNvPr id="23" name="moment_3"/>
          <p:cNvSpPr/>
          <p:nvPr/>
        </p:nvSpPr>
        <p:spPr>
          <a:xfrm>
            <a:off x="8083296" y="1371600"/>
            <a:ext cx="3566160" cy="2377440"/>
          </a:xfrm>
          <a:prstGeom prst="roundRect">
            <a:avLst>
              <a:gd name="adj" fmla="val 3846"/>
            </a:avLst>
          </a:prstGeom>
          <a:solidFill>
            <a:srgbClr val="FCE9E1"/>
          </a:solidFill>
          <a:ln w="22225">
            <a:solidFill>
              <a:srgbClr val="E2704F"/>
            </a:solidFill>
            <a:prstDash val="dash"/>
          </a:ln>
        </p:spPr>
      </p:sp>
      <p:sp>
        <p:nvSpPr>
          <p:cNvPr id="24" name="num_3"/>
          <p:cNvSpPr/>
          <p:nvPr/>
        </p:nvSpPr>
        <p:spPr>
          <a:xfrm>
            <a:off x="8220456" y="1499616"/>
            <a:ext cx="384048" cy="384048"/>
          </a:xfrm>
          <a:prstGeom prst="ellipse">
            <a:avLst/>
          </a:prstGeom>
          <a:solidFill>
            <a:srgbClr val="1F4A42"/>
          </a:solidFill>
          <a:ln/>
        </p:spPr>
      </p:sp>
      <p:sp>
        <p:nvSpPr>
          <p:cNvPr id="25" name="Text 23"/>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1</a:t>
            </a:r>
            <a:endParaRPr lang="en-US" sz="1000" dirty="0"/>
          </a:p>
        </p:txBody>
      </p:sp>
      <p:sp>
        <p:nvSpPr>
          <p:cNvPr id="27" name="Text 25"/>
          <p:cNvSpPr txBox="1"/>
          <p:nvPr/>
        </p:nvSpPr>
        <p:spPr>
          <a:xfrm>
            <a:off x="8266176"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L'aide à domicile laisse des petits mots à l'infirmier sur un cahier posé dans la cuisine : frigo resté plein, Monique « pas comme d'habitude ». L'infirmier ne passe qu'une fois par semaine et la fille est loin. Ces signaux doivent circuler plus vite.</a:t>
            </a:r>
            <a:endParaRPr lang="en-US" sz="1150" dirty="0"/>
          </a:p>
        </p:txBody>
      </p:sp>
      <p:sp>
        <p:nvSpPr>
          <p:cNvPr id="28" name="qui_3"/>
          <p:cNvSpPr/>
          <p:nvPr/>
        </p:nvSpPr>
        <p:spPr>
          <a:xfrm>
            <a:off x="8266176" y="3200400"/>
            <a:ext cx="1874520" cy="411480"/>
          </a:xfrm>
          <a:prstGeom prst="roundRect">
            <a:avLst>
              <a:gd name="adj" fmla="val 11111"/>
            </a:avLst>
          </a:prstGeom>
          <a:solidFill>
            <a:srgbClr val="FFFFFF"/>
          </a:solidFill>
          <a:ln w="12700">
            <a:solidFill>
              <a:srgbClr val="E2704F"/>
            </a:solidFill>
            <a:prstDash val="dash"/>
          </a:ln>
        </p:spPr>
      </p:sp>
      <p:sp>
        <p:nvSpPr>
          <p:cNvPr id="29" name="Text 27"/>
          <p:cNvSpPr txBox="1"/>
          <p:nvPr/>
        </p:nvSpPr>
        <p:spPr>
          <a:xfrm>
            <a:off x="8357616"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30" name="outil_3"/>
          <p:cNvSpPr/>
          <p:nvPr/>
        </p:nvSpPr>
        <p:spPr>
          <a:xfrm>
            <a:off x="10259568" y="3200400"/>
            <a:ext cx="1207008" cy="411480"/>
          </a:xfrm>
          <a:prstGeom prst="roundRect">
            <a:avLst>
              <a:gd name="adj" fmla="val 11111"/>
            </a:avLst>
          </a:prstGeom>
          <a:solidFill>
            <a:srgbClr val="FFFFFF"/>
          </a:solidFill>
          <a:ln w="12700">
            <a:solidFill>
              <a:srgbClr val="E2704F"/>
            </a:solidFill>
            <a:prstDash val="dash"/>
          </a:ln>
        </p:spPr>
      </p:sp>
      <p:sp>
        <p:nvSpPr>
          <p:cNvPr id="31" name="Text 29"/>
          <p:cNvSpPr txBox="1"/>
          <p:nvPr/>
        </p:nvSpPr>
        <p:spPr>
          <a:xfrm>
            <a:off x="10351008"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32" name="moment_4"/>
          <p:cNvSpPr/>
          <p:nvPr/>
        </p:nvSpPr>
        <p:spPr>
          <a:xfrm>
            <a:off x="457200" y="3977640"/>
            <a:ext cx="3566160" cy="2377440"/>
          </a:xfrm>
          <a:prstGeom prst="roundRect">
            <a:avLst>
              <a:gd name="adj" fmla="val 3846"/>
            </a:avLst>
          </a:prstGeom>
          <a:solidFill>
            <a:srgbClr val="E7F0EC"/>
          </a:solidFill>
          <a:ln w="15875">
            <a:solidFill>
              <a:srgbClr val="2F6E62"/>
            </a:solidFill>
            <a:prstDash val="solid"/>
          </a:ln>
        </p:spPr>
      </p:sp>
      <p:sp>
        <p:nvSpPr>
          <p:cNvPr id="33" name="num_4"/>
          <p:cNvSpPr/>
          <p:nvPr/>
        </p:nvSpPr>
        <p:spPr>
          <a:xfrm>
            <a:off x="594360" y="4105656"/>
            <a:ext cx="384048" cy="384048"/>
          </a:xfrm>
          <a:prstGeom prst="ellipse">
            <a:avLst/>
          </a:prstGeom>
          <a:solidFill>
            <a:srgbClr val="1F4A42"/>
          </a:solidFill>
          <a:ln/>
        </p:spPr>
      </p:sp>
      <p:sp>
        <p:nvSpPr>
          <p:cNvPr id="34" name="Text 32"/>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36" name="Text 34"/>
          <p:cNvSpPr txBox="1"/>
          <p:nvPr/>
        </p:nvSpPr>
        <p:spPr>
          <a:xfrm>
            <a:off x="640080"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Un jour, Monique chute. Elle reste plusieurs heures au sol, sans ses médicaments, déshydratée. Son amie la découvre et appelle les pompiers.</a:t>
            </a:r>
            <a:endParaRPr lang="en-US" sz="1200" dirty="0"/>
          </a:p>
        </p:txBody>
      </p:sp>
      <p:sp>
        <p:nvSpPr>
          <p:cNvPr id="37" name="fleche_4"/>
          <p:cNvSpPr/>
          <p:nvPr/>
        </p:nvSpPr>
        <p:spPr>
          <a:xfrm>
            <a:off x="4059936" y="5074920"/>
            <a:ext cx="173736" cy="182880"/>
          </a:xfrm>
          <a:prstGeom prst="rightArrow">
            <a:avLst/>
          </a:prstGeom>
          <a:solidFill>
            <a:srgbClr val="B9C4BC"/>
          </a:solidFill>
          <a:ln/>
        </p:spPr>
      </p:sp>
      <p:sp>
        <p:nvSpPr>
          <p:cNvPr id="38" name="moment_5"/>
          <p:cNvSpPr/>
          <p:nvPr/>
        </p:nvSpPr>
        <p:spPr>
          <a:xfrm>
            <a:off x="4270248" y="3977640"/>
            <a:ext cx="3566160" cy="2377440"/>
          </a:xfrm>
          <a:prstGeom prst="roundRect">
            <a:avLst>
              <a:gd name="adj" fmla="val 3846"/>
            </a:avLst>
          </a:prstGeom>
          <a:solidFill>
            <a:srgbClr val="FCE9E1"/>
          </a:solidFill>
          <a:ln w="22225">
            <a:solidFill>
              <a:srgbClr val="E2704F"/>
            </a:solidFill>
            <a:prstDash val="dash"/>
          </a:ln>
        </p:spPr>
      </p:sp>
      <p:sp>
        <p:nvSpPr>
          <p:cNvPr id="39" name="num_5"/>
          <p:cNvSpPr/>
          <p:nvPr/>
        </p:nvSpPr>
        <p:spPr>
          <a:xfrm>
            <a:off x="4407408" y="4105656"/>
            <a:ext cx="384048" cy="384048"/>
          </a:xfrm>
          <a:prstGeom prst="ellipse">
            <a:avLst/>
          </a:prstGeom>
          <a:solidFill>
            <a:srgbClr val="1F4A42"/>
          </a:solidFill>
          <a:ln/>
        </p:spPr>
      </p:sp>
      <p:sp>
        <p:nvSpPr>
          <p:cNvPr id="40" name="Text 38"/>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1" name="Text 39"/>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2</a:t>
            </a:r>
            <a:endParaRPr lang="en-US" sz="1000" dirty="0"/>
          </a:p>
        </p:txBody>
      </p:sp>
      <p:sp>
        <p:nvSpPr>
          <p:cNvPr id="42" name="irritant_5"/>
          <p:cNvSpPr/>
          <p:nvPr/>
        </p:nvSpPr>
        <p:spPr>
          <a:xfrm>
            <a:off x="7333488" y="4114800"/>
            <a:ext cx="365760" cy="365760"/>
          </a:xfrm>
          <a:prstGeom prst="ellipse">
            <a:avLst/>
          </a:prstGeom>
          <a:solidFill>
            <a:srgbClr val="C0392B"/>
          </a:solidFill>
          <a:ln/>
        </p:spPr>
      </p:sp>
      <p:sp>
        <p:nvSpPr>
          <p:cNvPr id="43" name="Text 41"/>
          <p:cNvSpPr txBox="1"/>
          <p:nvPr/>
        </p:nvSpPr>
        <p:spPr>
          <a:xfrm>
            <a:off x="7333488"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4" name="Text 42"/>
          <p:cNvSpPr txBox="1"/>
          <p:nvPr/>
        </p:nvSpPr>
        <p:spPr>
          <a:xfrm>
            <a:off x="4453128"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Aux urgences, Monique est désorientée. Elle sait qu'elle a des problèmes cardiaques, mais ne retrouve ni ses médicaments ni le numéro de sa fille ; elle n'a pas son téléphone. Le médecin urgentiste ne trouve aucune trace d'elle dans le dossier de l'hôpital.</a:t>
            </a:r>
            <a:endParaRPr lang="en-US" sz="1150" dirty="0"/>
          </a:p>
        </p:txBody>
      </p:sp>
      <p:sp>
        <p:nvSpPr>
          <p:cNvPr id="45" name="qui_5"/>
          <p:cNvSpPr/>
          <p:nvPr/>
        </p:nvSpPr>
        <p:spPr>
          <a:xfrm>
            <a:off x="4453128" y="5806440"/>
            <a:ext cx="1874520" cy="411480"/>
          </a:xfrm>
          <a:prstGeom prst="roundRect">
            <a:avLst>
              <a:gd name="adj" fmla="val 11111"/>
            </a:avLst>
          </a:prstGeom>
          <a:solidFill>
            <a:srgbClr val="FFFFFF"/>
          </a:solidFill>
          <a:ln w="12700">
            <a:solidFill>
              <a:srgbClr val="E2704F"/>
            </a:solidFill>
            <a:prstDash val="dash"/>
          </a:ln>
        </p:spPr>
      </p:sp>
      <p:sp>
        <p:nvSpPr>
          <p:cNvPr id="46" name="Text 44"/>
          <p:cNvSpPr txBox="1"/>
          <p:nvPr/>
        </p:nvSpPr>
        <p:spPr>
          <a:xfrm>
            <a:off x="4544568"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47" name="outil_5"/>
          <p:cNvSpPr/>
          <p:nvPr/>
        </p:nvSpPr>
        <p:spPr>
          <a:xfrm>
            <a:off x="6446520" y="5806440"/>
            <a:ext cx="1207008" cy="411480"/>
          </a:xfrm>
          <a:prstGeom prst="roundRect">
            <a:avLst>
              <a:gd name="adj" fmla="val 11111"/>
            </a:avLst>
          </a:prstGeom>
          <a:solidFill>
            <a:srgbClr val="FFFFFF"/>
          </a:solidFill>
          <a:ln w="12700">
            <a:solidFill>
              <a:srgbClr val="E2704F"/>
            </a:solidFill>
            <a:prstDash val="dash"/>
          </a:ln>
        </p:spPr>
      </p:sp>
      <p:sp>
        <p:nvSpPr>
          <p:cNvPr id="48" name="Text 46"/>
          <p:cNvSpPr txBox="1"/>
          <p:nvPr/>
        </p:nvSpPr>
        <p:spPr>
          <a:xfrm>
            <a:off x="6537960"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49" name="fleche_5"/>
          <p:cNvSpPr/>
          <p:nvPr/>
        </p:nvSpPr>
        <p:spPr>
          <a:xfrm>
            <a:off x="7872984" y="5074920"/>
            <a:ext cx="173736" cy="182880"/>
          </a:xfrm>
          <a:prstGeom prst="rightArrow">
            <a:avLst/>
          </a:prstGeom>
          <a:solidFill>
            <a:srgbClr val="B9C4BC"/>
          </a:solidFill>
          <a:ln/>
        </p:spPr>
      </p:sp>
      <p:sp>
        <p:nvSpPr>
          <p:cNvPr id="50" name="moment_6"/>
          <p:cNvSpPr/>
          <p:nvPr/>
        </p:nvSpPr>
        <p:spPr>
          <a:xfrm>
            <a:off x="8083296" y="3977640"/>
            <a:ext cx="3566160" cy="2377440"/>
          </a:xfrm>
          <a:prstGeom prst="roundRect">
            <a:avLst>
              <a:gd name="adj" fmla="val 3846"/>
            </a:avLst>
          </a:prstGeom>
          <a:solidFill>
            <a:srgbClr val="E7F0EC"/>
          </a:solidFill>
          <a:ln w="15875">
            <a:solidFill>
              <a:srgbClr val="2F6E62"/>
            </a:solidFill>
            <a:prstDash val="solid"/>
          </a:ln>
        </p:spPr>
      </p:sp>
      <p:sp>
        <p:nvSpPr>
          <p:cNvPr id="51" name="num_6"/>
          <p:cNvSpPr/>
          <p:nvPr/>
        </p:nvSpPr>
        <p:spPr>
          <a:xfrm>
            <a:off x="8220456" y="4105656"/>
            <a:ext cx="384048" cy="384048"/>
          </a:xfrm>
          <a:prstGeom prst="ellipse">
            <a:avLst/>
          </a:prstGeom>
          <a:solidFill>
            <a:srgbClr val="1F4A42"/>
          </a:solidFill>
          <a:ln/>
        </p:spPr>
      </p:sp>
      <p:sp>
        <p:nvSpPr>
          <p:cNvPr id="52" name="Text 50"/>
          <p:cNvSpPr txBox="1"/>
          <p:nvPr/>
        </p:nvSpPr>
        <p:spPr>
          <a:xfrm>
            <a:off x="8220456"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53" name="Text 51"/>
          <p:cNvSpPr txBox="1"/>
          <p:nvPr/>
        </p:nvSpPr>
        <p:spPr>
          <a:xfrm>
            <a:off x="8705088"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54" name="Text 52"/>
          <p:cNvSpPr txBox="1"/>
          <p:nvPr/>
        </p:nvSpPr>
        <p:spPr>
          <a:xfrm>
            <a:off x="8266176"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Le bilan révèle une fracture du col de l'humérus droit (elle est droitière) : 45 jours d'immobilisation. Elle est hospitalisée en médecine interne ; le service joint sa fille, qui rentrera la semaine suivante.</a:t>
            </a:r>
            <a:endParaRPr lang="en-US" sz="1200" dirty="0"/>
          </a:p>
        </p:txBody>
      </p:sp>
      <p:sp>
        <p:nvSpPr>
          <p:cNvPr id="55" name="Text 53"/>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  ·  Suite sur la diapo suivante.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Monique, 89 ans — 2/2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Du maintien à domicile fragile au retour chez elle après une chute</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7"/>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7"/>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Une place en SMR ou en EHPAD est un temps envisagée ; Monique refuse catégoriquement. Après 24 heures sur un brancard aux urgences et trois jours en médecine interne, la sortie se prépare.</a:t>
            </a:r>
            <a:endParaRPr lang="en-US" sz="1200" dirty="0"/>
          </a:p>
        </p:txBody>
      </p:sp>
      <p:sp>
        <p:nvSpPr>
          <p:cNvPr id="16" name="fleche_7"/>
          <p:cNvSpPr/>
          <p:nvPr/>
        </p:nvSpPr>
        <p:spPr>
          <a:xfrm>
            <a:off x="4059936" y="2468880"/>
            <a:ext cx="173736" cy="182880"/>
          </a:xfrm>
          <a:prstGeom prst="rightArrow">
            <a:avLst/>
          </a:prstGeom>
          <a:solidFill>
            <a:srgbClr val="B9C4BC"/>
          </a:solidFill>
          <a:ln/>
        </p:spPr>
      </p:sp>
      <p:sp>
        <p:nvSpPr>
          <p:cNvPr id="17" name="moment_8"/>
          <p:cNvSpPr/>
          <p:nvPr/>
        </p:nvSpPr>
        <p:spPr>
          <a:xfrm>
            <a:off x="4270248" y="1371600"/>
            <a:ext cx="3566160" cy="2377440"/>
          </a:xfrm>
          <a:prstGeom prst="roundRect">
            <a:avLst>
              <a:gd name="adj" fmla="val 3846"/>
            </a:avLst>
          </a:prstGeom>
          <a:solidFill>
            <a:srgbClr val="FCE9E1"/>
          </a:solidFill>
          <a:ln w="22225">
            <a:solidFill>
              <a:srgbClr val="E2704F"/>
            </a:solidFill>
            <a:prstDash val="dash"/>
          </a:ln>
        </p:spPr>
      </p:sp>
      <p:sp>
        <p:nvSpPr>
          <p:cNvPr id="18" name="num_8"/>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3</a:t>
            </a:r>
            <a:endParaRPr lang="en-US" sz="1000" dirty="0"/>
          </a:p>
        </p:txBody>
      </p:sp>
      <p:sp>
        <p:nvSpPr>
          <p:cNvPr id="21" name="irritant_8"/>
          <p:cNvSpPr/>
          <p:nvPr/>
        </p:nvSpPr>
        <p:spPr>
          <a:xfrm>
            <a:off x="7333488" y="1508760"/>
            <a:ext cx="365760" cy="365760"/>
          </a:xfrm>
          <a:prstGeom prst="ellipse">
            <a:avLst/>
          </a:prstGeom>
          <a:solidFill>
            <a:srgbClr val="C0392B"/>
          </a:solidFill>
          <a:ln/>
        </p:spPr>
      </p:sp>
      <p:sp>
        <p:nvSpPr>
          <p:cNvPr id="22" name="Text 20"/>
          <p:cNvSpPr txBox="1"/>
          <p:nvPr/>
        </p:nvSpPr>
        <p:spPr>
          <a:xfrm>
            <a:off x="7333488" y="1508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4453128"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Avant le départ de Monique, le médecin du service doit faire parvenir la lettre de liaison et les résultats à ceux qui la suivent en ville. L'infirmier libéral, lui, ignore encore qu'elle a été hospitalisée.</a:t>
            </a:r>
            <a:endParaRPr lang="en-US" sz="1150" dirty="0"/>
          </a:p>
        </p:txBody>
      </p:sp>
      <p:sp>
        <p:nvSpPr>
          <p:cNvPr id="24" name="qui_8"/>
          <p:cNvSpPr/>
          <p:nvPr/>
        </p:nvSpPr>
        <p:spPr>
          <a:xfrm>
            <a:off x="4453128" y="3200400"/>
            <a:ext cx="1874520" cy="411480"/>
          </a:xfrm>
          <a:prstGeom prst="roundRect">
            <a:avLst>
              <a:gd name="adj" fmla="val 11111"/>
            </a:avLst>
          </a:prstGeom>
          <a:solidFill>
            <a:srgbClr val="FFFFFF"/>
          </a:solidFill>
          <a:ln w="12700">
            <a:solidFill>
              <a:srgbClr val="E2704F"/>
            </a:solidFill>
            <a:prstDash val="dash"/>
          </a:ln>
        </p:spPr>
      </p:sp>
      <p:sp>
        <p:nvSpPr>
          <p:cNvPr id="25" name="Text 23"/>
          <p:cNvSpPr txBox="1"/>
          <p:nvPr/>
        </p:nvSpPr>
        <p:spPr>
          <a:xfrm>
            <a:off x="4544568"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26" name="outil_8"/>
          <p:cNvSpPr/>
          <p:nvPr/>
        </p:nvSpPr>
        <p:spPr>
          <a:xfrm>
            <a:off x="6446520" y="3200400"/>
            <a:ext cx="1207008" cy="411480"/>
          </a:xfrm>
          <a:prstGeom prst="roundRect">
            <a:avLst>
              <a:gd name="adj" fmla="val 11111"/>
            </a:avLst>
          </a:prstGeom>
          <a:solidFill>
            <a:srgbClr val="FFFFFF"/>
          </a:solidFill>
          <a:ln w="12700">
            <a:solidFill>
              <a:srgbClr val="E2704F"/>
            </a:solidFill>
            <a:prstDash val="dash"/>
          </a:ln>
        </p:spPr>
      </p:sp>
      <p:sp>
        <p:nvSpPr>
          <p:cNvPr id="27" name="Text 25"/>
          <p:cNvSpPr txBox="1"/>
          <p:nvPr/>
        </p:nvSpPr>
        <p:spPr>
          <a:xfrm>
            <a:off x="6537960"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28" name="fleche_8"/>
          <p:cNvSpPr/>
          <p:nvPr/>
        </p:nvSpPr>
        <p:spPr>
          <a:xfrm>
            <a:off x="7872984" y="2468880"/>
            <a:ext cx="173736" cy="182880"/>
          </a:xfrm>
          <a:prstGeom prst="rightArrow">
            <a:avLst/>
          </a:prstGeom>
          <a:solidFill>
            <a:srgbClr val="B9C4BC"/>
          </a:solidFill>
          <a:ln/>
        </p:spPr>
      </p:sp>
      <p:sp>
        <p:nvSpPr>
          <p:cNvPr id="29" name="moment_9"/>
          <p:cNvSpPr/>
          <p:nvPr/>
        </p:nvSpPr>
        <p:spPr>
          <a:xfrm>
            <a:off x="8083296" y="1371600"/>
            <a:ext cx="3566160" cy="2377440"/>
          </a:xfrm>
          <a:prstGeom prst="roundRect">
            <a:avLst>
              <a:gd name="adj" fmla="val 3846"/>
            </a:avLst>
          </a:prstGeom>
          <a:solidFill>
            <a:srgbClr val="FCE9E1"/>
          </a:solidFill>
          <a:ln w="22225">
            <a:solidFill>
              <a:srgbClr val="E2704F"/>
            </a:solidFill>
            <a:prstDash val="dash"/>
          </a:ln>
        </p:spPr>
      </p:sp>
      <p:sp>
        <p:nvSpPr>
          <p:cNvPr id="30" name="num_9"/>
          <p:cNvSpPr/>
          <p:nvPr/>
        </p:nvSpPr>
        <p:spPr>
          <a:xfrm>
            <a:off x="8220456" y="1499616"/>
            <a:ext cx="384048" cy="384048"/>
          </a:xfrm>
          <a:prstGeom prst="ellipse">
            <a:avLst/>
          </a:prstGeom>
          <a:solidFill>
            <a:srgbClr val="1F4A42"/>
          </a:solidFill>
          <a:ln/>
        </p:spPr>
      </p:sp>
      <p:sp>
        <p:nvSpPr>
          <p:cNvPr id="31" name="Text 29"/>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4</a:t>
            </a:r>
            <a:endParaRPr lang="en-US" sz="1000" dirty="0"/>
          </a:p>
        </p:txBody>
      </p:sp>
      <p:sp>
        <p:nvSpPr>
          <p:cNvPr id="33" name="Text 31"/>
          <p:cNvSpPr txBox="1"/>
          <p:nvPr/>
        </p:nvSpPr>
        <p:spPr>
          <a:xfrm>
            <a:off x="8266176"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Moins confuse, Monique accepte de ne pas rentrer seule tout de suite : un mois en hébergement temporaire en EHPAD à sa sortie de l'hôpital, puis un accompagnement renforcé à domicile par le centre de ressources territorial de son secteur. Il faut trouver la place et transmettre son dossier.</a:t>
            </a:r>
            <a:endParaRPr lang="en-US" sz="1150" dirty="0"/>
          </a:p>
        </p:txBody>
      </p:sp>
      <p:sp>
        <p:nvSpPr>
          <p:cNvPr id="34" name="qui_9"/>
          <p:cNvSpPr/>
          <p:nvPr/>
        </p:nvSpPr>
        <p:spPr>
          <a:xfrm>
            <a:off x="8266176" y="3200400"/>
            <a:ext cx="1874520" cy="411480"/>
          </a:xfrm>
          <a:prstGeom prst="roundRect">
            <a:avLst>
              <a:gd name="adj" fmla="val 11111"/>
            </a:avLst>
          </a:prstGeom>
          <a:solidFill>
            <a:srgbClr val="FFFFFF"/>
          </a:solidFill>
          <a:ln w="12700">
            <a:solidFill>
              <a:srgbClr val="E2704F"/>
            </a:solidFill>
            <a:prstDash val="dash"/>
          </a:ln>
        </p:spPr>
      </p:sp>
      <p:sp>
        <p:nvSpPr>
          <p:cNvPr id="35" name="Text 33"/>
          <p:cNvSpPr txBox="1"/>
          <p:nvPr/>
        </p:nvSpPr>
        <p:spPr>
          <a:xfrm>
            <a:off x="8357616"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36" name="outil_9"/>
          <p:cNvSpPr/>
          <p:nvPr/>
        </p:nvSpPr>
        <p:spPr>
          <a:xfrm>
            <a:off x="10259568" y="3200400"/>
            <a:ext cx="1207008" cy="411480"/>
          </a:xfrm>
          <a:prstGeom prst="roundRect">
            <a:avLst>
              <a:gd name="adj" fmla="val 11111"/>
            </a:avLst>
          </a:prstGeom>
          <a:solidFill>
            <a:srgbClr val="FFFFFF"/>
          </a:solidFill>
          <a:ln w="12700">
            <a:solidFill>
              <a:srgbClr val="E2704F"/>
            </a:solidFill>
            <a:prstDash val="dash"/>
          </a:ln>
        </p:spPr>
      </p:sp>
      <p:sp>
        <p:nvSpPr>
          <p:cNvPr id="37" name="Text 35"/>
          <p:cNvSpPr txBox="1"/>
          <p:nvPr/>
        </p:nvSpPr>
        <p:spPr>
          <a:xfrm>
            <a:off x="10351008"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38" name="moment_10"/>
          <p:cNvSpPr/>
          <p:nvPr/>
        </p:nvSpPr>
        <p:spPr>
          <a:xfrm>
            <a:off x="457200" y="3977640"/>
            <a:ext cx="3566160" cy="2377440"/>
          </a:xfrm>
          <a:prstGeom prst="roundRect">
            <a:avLst>
              <a:gd name="adj" fmla="val 3846"/>
            </a:avLst>
          </a:prstGeom>
          <a:solidFill>
            <a:srgbClr val="E7F0EC"/>
          </a:solidFill>
          <a:ln w="15875">
            <a:solidFill>
              <a:srgbClr val="2F6E62"/>
            </a:solidFill>
            <a:prstDash val="solid"/>
          </a:ln>
        </p:spPr>
      </p:sp>
      <p:sp>
        <p:nvSpPr>
          <p:cNvPr id="39" name="num_10"/>
          <p:cNvSpPr/>
          <p:nvPr/>
        </p:nvSpPr>
        <p:spPr>
          <a:xfrm>
            <a:off x="594360" y="4105656"/>
            <a:ext cx="384048" cy="384048"/>
          </a:xfrm>
          <a:prstGeom prst="ellipse">
            <a:avLst/>
          </a:prstGeom>
          <a:solidFill>
            <a:srgbClr val="1F4A42"/>
          </a:solidFill>
          <a:ln/>
        </p:spPr>
      </p:sp>
      <p:sp>
        <p:nvSpPr>
          <p:cNvPr id="40" name="Text 38"/>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1" name="Text 39"/>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42" name="Text 40"/>
          <p:cNvSpPr txBox="1"/>
          <p:nvPr/>
        </p:nvSpPr>
        <p:spPr>
          <a:xfrm>
            <a:off x="640080"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Le médecin réalise la visite de préadmission en téléconsultation pour vérifier la pertinence de l'orientation et recueillir le consentement de Monique.</a:t>
            </a:r>
            <a:endParaRPr lang="en-US" sz="1200" dirty="0"/>
          </a:p>
        </p:txBody>
      </p:sp>
      <p:sp>
        <p:nvSpPr>
          <p:cNvPr id="43" name="fleche_10"/>
          <p:cNvSpPr/>
          <p:nvPr/>
        </p:nvSpPr>
        <p:spPr>
          <a:xfrm>
            <a:off x="4059936" y="5074920"/>
            <a:ext cx="173736" cy="182880"/>
          </a:xfrm>
          <a:prstGeom prst="rightArrow">
            <a:avLst/>
          </a:prstGeom>
          <a:solidFill>
            <a:srgbClr val="B9C4BC"/>
          </a:solidFill>
          <a:ln/>
        </p:spPr>
      </p:sp>
      <p:sp>
        <p:nvSpPr>
          <p:cNvPr id="44" name="moment_11"/>
          <p:cNvSpPr/>
          <p:nvPr/>
        </p:nvSpPr>
        <p:spPr>
          <a:xfrm>
            <a:off x="4270248" y="3977640"/>
            <a:ext cx="3566160" cy="2377440"/>
          </a:xfrm>
          <a:prstGeom prst="roundRect">
            <a:avLst>
              <a:gd name="adj" fmla="val 3846"/>
            </a:avLst>
          </a:prstGeom>
          <a:solidFill>
            <a:srgbClr val="FCE9E1"/>
          </a:solidFill>
          <a:ln w="22225">
            <a:solidFill>
              <a:srgbClr val="E2704F"/>
            </a:solidFill>
            <a:prstDash val="dash"/>
          </a:ln>
        </p:spPr>
      </p:sp>
      <p:sp>
        <p:nvSpPr>
          <p:cNvPr id="45" name="num_11"/>
          <p:cNvSpPr/>
          <p:nvPr/>
        </p:nvSpPr>
        <p:spPr>
          <a:xfrm>
            <a:off x="4407408" y="4105656"/>
            <a:ext cx="384048" cy="384048"/>
          </a:xfrm>
          <a:prstGeom prst="ellipse">
            <a:avLst/>
          </a:prstGeom>
          <a:solidFill>
            <a:srgbClr val="1F4A42"/>
          </a:solidFill>
          <a:ln/>
        </p:spPr>
      </p:sp>
      <p:sp>
        <p:nvSpPr>
          <p:cNvPr id="46" name="Text 44"/>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5</a:t>
            </a:r>
            <a:endParaRPr lang="en-US" sz="1000" dirty="0"/>
          </a:p>
        </p:txBody>
      </p:sp>
      <p:sp>
        <p:nvSpPr>
          <p:cNvPr id="48" name="irritant_11"/>
          <p:cNvSpPr/>
          <p:nvPr/>
        </p:nvSpPr>
        <p:spPr>
          <a:xfrm>
            <a:off x="7333488" y="4114800"/>
            <a:ext cx="365760" cy="365760"/>
          </a:xfrm>
          <a:prstGeom prst="ellipse">
            <a:avLst/>
          </a:prstGeom>
          <a:solidFill>
            <a:srgbClr val="C0392B"/>
          </a:solidFill>
          <a:ln/>
        </p:spPr>
      </p:sp>
      <p:sp>
        <p:nvSpPr>
          <p:cNvPr id="49" name="Text 47"/>
          <p:cNvSpPr txBox="1"/>
          <p:nvPr/>
        </p:nvSpPr>
        <p:spPr>
          <a:xfrm>
            <a:off x="7333488"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0" name="Text 48"/>
          <p:cNvSpPr txBox="1"/>
          <p:nvPr/>
        </p:nvSpPr>
        <p:spPr>
          <a:xfrm>
            <a:off x="4453128"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Pour préparer le retour, le CRT ajoute aux intervenants habituels une téléassistance, une assistante de soins en gérontologie et un accueil de jour. Chacun doit savoir qui intervient, quand, et comment joindre les autres ; les coordonnées des intervenants habituels sont difficiles à retrouver.</a:t>
            </a:r>
            <a:endParaRPr lang="en-US" sz="1150" dirty="0"/>
          </a:p>
        </p:txBody>
      </p:sp>
      <p:sp>
        <p:nvSpPr>
          <p:cNvPr id="51" name="qui_11"/>
          <p:cNvSpPr/>
          <p:nvPr/>
        </p:nvSpPr>
        <p:spPr>
          <a:xfrm>
            <a:off x="4453128" y="5806440"/>
            <a:ext cx="1874520" cy="411480"/>
          </a:xfrm>
          <a:prstGeom prst="roundRect">
            <a:avLst>
              <a:gd name="adj" fmla="val 11111"/>
            </a:avLst>
          </a:prstGeom>
          <a:solidFill>
            <a:srgbClr val="FFFFFF"/>
          </a:solidFill>
          <a:ln w="12700">
            <a:solidFill>
              <a:srgbClr val="E2704F"/>
            </a:solidFill>
            <a:prstDash val="dash"/>
          </a:ln>
        </p:spPr>
      </p:sp>
      <p:sp>
        <p:nvSpPr>
          <p:cNvPr id="52" name="Text 50"/>
          <p:cNvSpPr txBox="1"/>
          <p:nvPr/>
        </p:nvSpPr>
        <p:spPr>
          <a:xfrm>
            <a:off x="4544568"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53" name="outil_11"/>
          <p:cNvSpPr/>
          <p:nvPr/>
        </p:nvSpPr>
        <p:spPr>
          <a:xfrm>
            <a:off x="6446520" y="5806440"/>
            <a:ext cx="1207008" cy="411480"/>
          </a:xfrm>
          <a:prstGeom prst="roundRect">
            <a:avLst>
              <a:gd name="adj" fmla="val 11111"/>
            </a:avLst>
          </a:prstGeom>
          <a:solidFill>
            <a:srgbClr val="FFFFFF"/>
          </a:solidFill>
          <a:ln w="12700">
            <a:solidFill>
              <a:srgbClr val="E2704F"/>
            </a:solidFill>
            <a:prstDash val="dash"/>
          </a:ln>
        </p:spPr>
      </p:sp>
      <p:sp>
        <p:nvSpPr>
          <p:cNvPr id="54" name="Text 52"/>
          <p:cNvSpPr txBox="1"/>
          <p:nvPr/>
        </p:nvSpPr>
        <p:spPr>
          <a:xfrm>
            <a:off x="6537960"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55" name="fleche_11"/>
          <p:cNvSpPr/>
          <p:nvPr/>
        </p:nvSpPr>
        <p:spPr>
          <a:xfrm>
            <a:off x="7872984" y="5074920"/>
            <a:ext cx="173736" cy="182880"/>
          </a:xfrm>
          <a:prstGeom prst="rightArrow">
            <a:avLst/>
          </a:prstGeom>
          <a:solidFill>
            <a:srgbClr val="B9C4BC"/>
          </a:solidFill>
          <a:ln/>
        </p:spPr>
      </p:sp>
      <p:sp>
        <p:nvSpPr>
          <p:cNvPr id="56" name="moment_12"/>
          <p:cNvSpPr/>
          <p:nvPr/>
        </p:nvSpPr>
        <p:spPr>
          <a:xfrm>
            <a:off x="8083296" y="3977640"/>
            <a:ext cx="3566160" cy="2377440"/>
          </a:xfrm>
          <a:prstGeom prst="roundRect">
            <a:avLst>
              <a:gd name="adj" fmla="val 3846"/>
            </a:avLst>
          </a:prstGeom>
          <a:solidFill>
            <a:srgbClr val="E7F0EC"/>
          </a:solidFill>
          <a:ln w="15875">
            <a:solidFill>
              <a:srgbClr val="2F6E62"/>
            </a:solidFill>
            <a:prstDash val="solid"/>
          </a:ln>
        </p:spPr>
      </p:sp>
      <p:sp>
        <p:nvSpPr>
          <p:cNvPr id="57" name="num_12"/>
          <p:cNvSpPr/>
          <p:nvPr/>
        </p:nvSpPr>
        <p:spPr>
          <a:xfrm>
            <a:off x="8220456" y="4105656"/>
            <a:ext cx="384048" cy="384048"/>
          </a:xfrm>
          <a:prstGeom prst="ellipse">
            <a:avLst/>
          </a:prstGeom>
          <a:solidFill>
            <a:srgbClr val="1F4A42"/>
          </a:solidFill>
          <a:ln/>
        </p:spPr>
      </p:sp>
      <p:sp>
        <p:nvSpPr>
          <p:cNvPr id="58" name="Text 56"/>
          <p:cNvSpPr txBox="1"/>
          <p:nvPr/>
        </p:nvSpPr>
        <p:spPr>
          <a:xfrm>
            <a:off x="8220456"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59" name="Text 57"/>
          <p:cNvSpPr txBox="1"/>
          <p:nvPr/>
        </p:nvSpPr>
        <p:spPr>
          <a:xfrm>
            <a:off x="8705088"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60" name="Text 58"/>
          <p:cNvSpPr txBox="1"/>
          <p:nvPr/>
        </p:nvSpPr>
        <p:spPr>
          <a:xfrm>
            <a:off x="8266176"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Le CRT cherche un masseur-kinésithérapeute qui accepte de venir à domicile deux fois par semaine pour la rééducation. Il sollicite la CPTS, qui l'aide à en trouver un.</a:t>
            </a:r>
            <a:endParaRPr lang="en-US" sz="1200" dirty="0"/>
          </a:p>
        </p:txBody>
      </p:sp>
      <p:sp>
        <p:nvSpPr>
          <p:cNvPr id="61" name="Text 59"/>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Philippe, 58 ans — personae</a:t>
            </a:r>
            <a:endParaRPr lang="en-US" sz="2600" dirty="0"/>
          </a:p>
        </p:txBody>
      </p:sp>
      <p:sp>
        <p:nvSpPr>
          <p:cNvPr id="3" name="Text 1"/>
          <p:cNvSpPr txBox="1"/>
          <p:nvPr/>
        </p:nvSpPr>
        <p:spPr>
          <a:xfrm>
            <a:off x="457200" y="804672"/>
            <a:ext cx="7315200" cy="320040"/>
          </a:xfrm>
          <a:prstGeom prst="rect">
            <a:avLst/>
          </a:prstGeom>
          <a:noFill/>
          <a:ln/>
        </p:spPr>
        <p:txBody>
          <a:bodyPr wrap="square" lIns="0" tIns="0" rIns="0" bIns="0" rtlCol="0" anchor="ctr"/>
          <a:lstStyle/>
          <a:p>
            <a:pPr indent="0" marL="0">
              <a:buNone/>
            </a:pPr>
            <a:r>
              <a:rPr lang="en-US" sz="1400" i="1" dirty="0">
                <a:solidFill>
                  <a:srgbClr val="6B7A73"/>
                </a:solidFill>
                <a:latin typeface="Calibri" pitchFamily="34" charset="0"/>
                <a:ea typeface="Calibri" pitchFamily="34" charset="-122"/>
                <a:cs typeface="Calibri" pitchFamily="34" charset="-120"/>
              </a:rPr>
              <a:t>Diabète de type 2</a:t>
            </a:r>
            <a:endParaRPr lang="en-US" sz="1400" dirty="0"/>
          </a:p>
        </p:txBody>
      </p:sp>
      <p:sp>
        <p:nvSpPr>
          <p:cNvPr id="4" name="panneau_personae"/>
          <p:cNvSpPr/>
          <p:nvPr/>
        </p:nvSpPr>
        <p:spPr>
          <a:xfrm>
            <a:off x="457200" y="1325880"/>
            <a:ext cx="3017520" cy="5074920"/>
          </a:xfrm>
          <a:prstGeom prst="roundRect">
            <a:avLst>
              <a:gd name="adj" fmla="val 3636"/>
            </a:avLst>
          </a:prstGeom>
          <a:solidFill>
            <a:srgbClr val="E7F0EC"/>
          </a:solidFill>
          <a:ln/>
        </p:spPr>
      </p:sp>
      <p:sp>
        <p:nvSpPr>
          <p:cNvPr id="5" name="avatar"/>
          <p:cNvSpPr/>
          <p:nvPr/>
        </p:nvSpPr>
        <p:spPr>
          <a:xfrm>
            <a:off x="1005840" y="1691640"/>
            <a:ext cx="1920240" cy="1920240"/>
          </a:xfrm>
          <a:prstGeom prst="ellipse">
            <a:avLst/>
          </a:prstGeom>
          <a:solidFill>
            <a:srgbClr val="2F6E62"/>
          </a:solidFill>
          <a:ln/>
        </p:spPr>
      </p:sp>
      <p:sp>
        <p:nvSpPr>
          <p:cNvPr id="6" name="Text 4"/>
          <p:cNvSpPr txBox="1"/>
          <p:nvPr/>
        </p:nvSpPr>
        <p:spPr>
          <a:xfrm>
            <a:off x="1005840" y="1691640"/>
            <a:ext cx="1920240" cy="1920240"/>
          </a:xfrm>
          <a:prstGeom prst="rect">
            <a:avLst/>
          </a:prstGeom>
          <a:noFill/>
          <a:ln/>
        </p:spPr>
        <p:txBody>
          <a:bodyPr wrap="square" lIns="0" tIns="0" rIns="0" bIns="0" rtlCol="0" anchor="ctr"/>
          <a:lstStyle/>
          <a:p>
            <a:pPr algn="ctr" indent="0" marL="0">
              <a:buNone/>
            </a:pPr>
            <a:r>
              <a:rPr lang="en-US" sz="6600" b="1" dirty="0">
                <a:solidFill>
                  <a:srgbClr val="FFFFFF"/>
                </a:solidFill>
                <a:latin typeface="Georgia" pitchFamily="34" charset="0"/>
                <a:ea typeface="Georgia" pitchFamily="34" charset="-122"/>
                <a:cs typeface="Georgia" pitchFamily="34" charset="-120"/>
              </a:rPr>
              <a:t>P</a:t>
            </a:r>
            <a:endParaRPr lang="en-US" sz="6600" dirty="0"/>
          </a:p>
        </p:txBody>
      </p:sp>
      <p:sp>
        <p:nvSpPr>
          <p:cNvPr id="7" name="Text 5"/>
          <p:cNvSpPr txBox="1"/>
          <p:nvPr/>
        </p:nvSpPr>
        <p:spPr>
          <a:xfrm>
            <a:off x="640080" y="3794760"/>
            <a:ext cx="2651760" cy="411480"/>
          </a:xfrm>
          <a:prstGeom prst="rect">
            <a:avLst/>
          </a:prstGeom>
          <a:noFill/>
          <a:ln/>
        </p:spPr>
        <p:txBody>
          <a:bodyPr wrap="square" lIns="0" tIns="0" rIns="0" bIns="0" rtlCol="0" anchor="ctr"/>
          <a:lstStyle/>
          <a:p>
            <a:pPr algn="ctr" indent="0" marL="0">
              <a:buNone/>
            </a:pPr>
            <a:r>
              <a:rPr lang="en-US" sz="1800" b="1" dirty="0">
                <a:solidFill>
                  <a:srgbClr val="1F4A42"/>
                </a:solidFill>
                <a:latin typeface="Georgia" pitchFamily="34" charset="0"/>
                <a:ea typeface="Georgia" pitchFamily="34" charset="-122"/>
                <a:cs typeface="Georgia" pitchFamily="34" charset="-120"/>
              </a:rPr>
              <a:t>Philippe, 58 ans</a:t>
            </a:r>
            <a:endParaRPr lang="en-US" sz="1800" dirty="0"/>
          </a:p>
        </p:txBody>
      </p:sp>
      <p:sp>
        <p:nvSpPr>
          <p:cNvPr id="8" name="Text 6"/>
          <p:cNvSpPr txBox="1"/>
          <p:nvPr/>
        </p:nvSpPr>
        <p:spPr>
          <a:xfrm>
            <a:off x="685800" y="4343400"/>
            <a:ext cx="2560320" cy="274320"/>
          </a:xfrm>
          <a:prstGeom prst="rect">
            <a:avLst/>
          </a:prstGeom>
          <a:noFill/>
          <a:ln/>
        </p:spPr>
        <p:txBody>
          <a:bodyPr wrap="square" lIns="0" tIns="0" rIns="0" bIns="0" rtlCol="0" anchor="ctr"/>
          <a:lstStyle/>
          <a:p>
            <a:pPr indent="0" marL="0">
              <a:buNone/>
            </a:pPr>
            <a:r>
              <a:rPr lang="en-US" sz="1150" b="1" dirty="0">
                <a:solidFill>
                  <a:srgbClr val="1F4A42"/>
                </a:solidFill>
                <a:latin typeface="Calibri" pitchFamily="34" charset="0"/>
                <a:ea typeface="Calibri" pitchFamily="34" charset="-122"/>
                <a:cs typeface="Calibri" pitchFamily="34" charset="-120"/>
              </a:rPr>
              <a:t>Déjà autour de lui au départ :</a:t>
            </a:r>
            <a:endParaRPr lang="en-US" sz="1150" dirty="0"/>
          </a:p>
        </p:txBody>
      </p:sp>
      <p:sp>
        <p:nvSpPr>
          <p:cNvPr id="9" name="acteur_depart_0"/>
          <p:cNvSpPr/>
          <p:nvPr/>
        </p:nvSpPr>
        <p:spPr>
          <a:xfrm>
            <a:off x="685800" y="4681728"/>
            <a:ext cx="2560320" cy="274320"/>
          </a:xfrm>
          <a:prstGeom prst="roundRect">
            <a:avLst>
              <a:gd name="adj" fmla="val 16667"/>
            </a:avLst>
          </a:prstGeom>
          <a:solidFill>
            <a:srgbClr val="E6EEF3"/>
          </a:solidFill>
          <a:ln w="9525">
            <a:solidFill>
              <a:srgbClr val="3A6B8C"/>
            </a:solidFill>
            <a:prstDash val="solid"/>
          </a:ln>
        </p:spPr>
      </p:sp>
      <p:sp>
        <p:nvSpPr>
          <p:cNvPr id="10" name="Text 8"/>
          <p:cNvSpPr txBox="1"/>
          <p:nvPr/>
        </p:nvSpPr>
        <p:spPr>
          <a:xfrm>
            <a:off x="777240" y="4681728"/>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Médecin traitant (membre de la CPTS)</a:t>
            </a:r>
            <a:endParaRPr lang="en-US" sz="1100" dirty="0"/>
          </a:p>
        </p:txBody>
      </p:sp>
      <p:sp>
        <p:nvSpPr>
          <p:cNvPr id="11" name="acteur_depart_1"/>
          <p:cNvSpPr/>
          <p:nvPr/>
        </p:nvSpPr>
        <p:spPr>
          <a:xfrm>
            <a:off x="685800" y="5010912"/>
            <a:ext cx="2560320" cy="274320"/>
          </a:xfrm>
          <a:prstGeom prst="roundRect">
            <a:avLst>
              <a:gd name="adj" fmla="val 16667"/>
            </a:avLst>
          </a:prstGeom>
          <a:solidFill>
            <a:srgbClr val="E6EEF3"/>
          </a:solidFill>
          <a:ln w="9525">
            <a:solidFill>
              <a:srgbClr val="3A6B8C"/>
            </a:solidFill>
            <a:prstDash val="solid"/>
          </a:ln>
        </p:spPr>
      </p:sp>
      <p:sp>
        <p:nvSpPr>
          <p:cNvPr id="12" name="Text 10"/>
          <p:cNvSpPr txBox="1"/>
          <p:nvPr/>
        </p:nvSpPr>
        <p:spPr>
          <a:xfrm>
            <a:off x="777240" y="5010912"/>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Centre de santé (ateliers)</a:t>
            </a:r>
            <a:endParaRPr lang="en-US" sz="1100" dirty="0"/>
          </a:p>
        </p:txBody>
      </p:sp>
      <p:sp>
        <p:nvSpPr>
          <p:cNvPr id="13" name="acteur_depart_2"/>
          <p:cNvSpPr/>
          <p:nvPr/>
        </p:nvSpPr>
        <p:spPr>
          <a:xfrm>
            <a:off x="685800" y="5340096"/>
            <a:ext cx="2560320" cy="274320"/>
          </a:xfrm>
          <a:prstGeom prst="roundRect">
            <a:avLst>
              <a:gd name="adj" fmla="val 16667"/>
            </a:avLst>
          </a:prstGeom>
          <a:solidFill>
            <a:srgbClr val="E6EEF3"/>
          </a:solidFill>
          <a:ln w="9525">
            <a:solidFill>
              <a:srgbClr val="3A6B8C"/>
            </a:solidFill>
            <a:prstDash val="solid"/>
          </a:ln>
        </p:spPr>
      </p:sp>
      <p:sp>
        <p:nvSpPr>
          <p:cNvPr id="14" name="Text 12"/>
          <p:cNvSpPr txBox="1"/>
          <p:nvPr/>
        </p:nvSpPr>
        <p:spPr>
          <a:xfrm>
            <a:off x="777240" y="5340096"/>
            <a:ext cx="2377440" cy="274320"/>
          </a:xfrm>
          <a:prstGeom prst="rect">
            <a:avLst/>
          </a:prstGeom>
          <a:noFill/>
          <a:ln/>
        </p:spPr>
        <p:txBody>
          <a:bodyPr wrap="square" lIns="0" tIns="0" rIns="0" bIns="0" rtlCol="0" anchor="ctr"/>
          <a:lstStyle/>
          <a:p>
            <a:pPr indent="0" marL="0">
              <a:buNone/>
            </a:pPr>
            <a:r>
              <a:rPr lang="en-US" sz="1100" b="1" dirty="0">
                <a:solidFill>
                  <a:srgbClr val="3A6B8C"/>
                </a:solidFill>
                <a:latin typeface="Calibri" pitchFamily="34" charset="0"/>
                <a:ea typeface="Calibri" pitchFamily="34" charset="-122"/>
                <a:cs typeface="Calibri" pitchFamily="34" charset="-120"/>
              </a:rPr>
              <a:t>Laboratoire</a:t>
            </a:r>
            <a:endParaRPr lang="en-US" sz="1100" dirty="0"/>
          </a:p>
        </p:txBody>
      </p:sp>
      <p:sp>
        <p:nvSpPr>
          <p:cNvPr id="15" name="Text 13"/>
          <p:cNvSpPr txBox="1"/>
          <p:nvPr/>
        </p:nvSpPr>
        <p:spPr>
          <a:xfrm>
            <a:off x="3886200" y="132588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Situation</a:t>
            </a:r>
            <a:endParaRPr lang="en-US" sz="1500" dirty="0"/>
          </a:p>
        </p:txBody>
      </p:sp>
      <p:sp>
        <p:nvSpPr>
          <p:cNvPr id="16" name="Text 14"/>
          <p:cNvSpPr txBox="1"/>
          <p:nvPr/>
        </p:nvSpPr>
        <p:spPr>
          <a:xfrm>
            <a:off x="3886200" y="165506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58 ans, bon vivant, en surpoids. Marié.</a:t>
            </a:r>
            <a:endParaRPr lang="en-US" sz="1500" dirty="0"/>
          </a:p>
        </p:txBody>
      </p:sp>
      <p:sp>
        <p:nvSpPr>
          <p:cNvPr id="17" name="Text 15"/>
          <p:cNvSpPr txBox="1"/>
          <p:nvPr/>
        </p:nvSpPr>
        <p:spPr>
          <a:xfrm>
            <a:off x="3886200" y="260604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Entourage</a:t>
            </a:r>
            <a:endParaRPr lang="en-US" sz="1500" dirty="0"/>
          </a:p>
        </p:txBody>
      </p:sp>
      <p:sp>
        <p:nvSpPr>
          <p:cNvPr id="18" name="Text 16"/>
          <p:cNvSpPr txBox="1"/>
          <p:nvPr/>
        </p:nvSpPr>
        <p:spPr>
          <a:xfrm>
            <a:off x="3886200" y="293522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Son épouse a tenté de lui faire changer ses habitudes (alcool, viande, petits-déjeuners sucrés) ; il répond qu'« il faut bien mourir de quelque chose ».</a:t>
            </a:r>
            <a:endParaRPr lang="en-US" sz="1500" dirty="0"/>
          </a:p>
        </p:txBody>
      </p:sp>
      <p:sp>
        <p:nvSpPr>
          <p:cNvPr id="19" name="Text 17"/>
          <p:cNvSpPr txBox="1"/>
          <p:nvPr/>
        </p:nvSpPr>
        <p:spPr>
          <a:xfrm>
            <a:off x="3886200" y="388620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Santé et suivi</a:t>
            </a:r>
            <a:endParaRPr lang="en-US" sz="1500" dirty="0"/>
          </a:p>
        </p:txBody>
      </p:sp>
      <p:sp>
        <p:nvSpPr>
          <p:cNvPr id="20" name="Text 18"/>
          <p:cNvSpPr txBox="1"/>
          <p:nvPr/>
        </p:nvSpPr>
        <p:spPr>
          <a:xfrm>
            <a:off x="3886200" y="421538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Peu attentif à sa santé. A tout de même suivi des ateliers de prévention (« bien manger, bien bouger ») au centre de santé vers lequel son médecin traitant l'avait orienté. Son médecin est membre de la CPTS.</a:t>
            </a:r>
            <a:endParaRPr lang="en-US" sz="1500" dirty="0"/>
          </a:p>
        </p:txBody>
      </p:sp>
      <p:sp>
        <p:nvSpPr>
          <p:cNvPr id="21" name="Text 19"/>
          <p:cNvSpPr txBox="1"/>
          <p:nvPr/>
        </p:nvSpPr>
        <p:spPr>
          <a:xfrm>
            <a:off x="3886200" y="5166360"/>
            <a:ext cx="7772400" cy="310896"/>
          </a:xfrm>
          <a:prstGeom prst="rect">
            <a:avLst/>
          </a:prstGeom>
          <a:noFill/>
          <a:ln/>
        </p:spPr>
        <p:txBody>
          <a:bodyPr wrap="square" lIns="0" tIns="0" rIns="0" bIns="0" rtlCol="0" anchor="ctr"/>
          <a:lstStyle/>
          <a:p>
            <a:pPr indent="0" marL="0">
              <a:buNone/>
            </a:pPr>
            <a:r>
              <a:rPr lang="en-US" sz="1500" b="1" dirty="0">
                <a:solidFill>
                  <a:srgbClr val="E2704F"/>
                </a:solidFill>
                <a:latin typeface="Calibri" pitchFamily="34" charset="0"/>
                <a:ea typeface="Calibri" pitchFamily="34" charset="-122"/>
                <a:cs typeface="Calibri" pitchFamily="34" charset="-120"/>
              </a:rPr>
              <a:t>Rapport à sa santé</a:t>
            </a:r>
            <a:endParaRPr lang="en-US" sz="1500" dirty="0"/>
          </a:p>
        </p:txBody>
      </p:sp>
      <p:sp>
        <p:nvSpPr>
          <p:cNvPr id="22" name="Text 20"/>
          <p:cNvSpPr txBox="1"/>
          <p:nvPr/>
        </p:nvSpPr>
        <p:spPr>
          <a:xfrm>
            <a:off x="3886200" y="5495544"/>
            <a:ext cx="7772400" cy="8686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Se sent vite submergé par l'information ; supporte mal la vue du sang, oublie de noter ses mesures.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Philippe, 58 ans — 1/2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De l'annonce du diagnostic à l'organisation du suivi en ville</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1"/>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1"/>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Très fatigué depuis trois mois, Philippe consulte son médecin traitant, qui prescrit un bilan biologique.</a:t>
            </a:r>
            <a:endParaRPr lang="en-US" sz="1200" dirty="0"/>
          </a:p>
        </p:txBody>
      </p:sp>
      <p:sp>
        <p:nvSpPr>
          <p:cNvPr id="16" name="fleche_1"/>
          <p:cNvSpPr/>
          <p:nvPr/>
        </p:nvSpPr>
        <p:spPr>
          <a:xfrm>
            <a:off x="4059936" y="2468880"/>
            <a:ext cx="173736" cy="182880"/>
          </a:xfrm>
          <a:prstGeom prst="rightArrow">
            <a:avLst/>
          </a:prstGeom>
          <a:solidFill>
            <a:srgbClr val="B9C4BC"/>
          </a:solidFill>
          <a:ln/>
        </p:spPr>
      </p:sp>
      <p:sp>
        <p:nvSpPr>
          <p:cNvPr id="17" name="moment_2"/>
          <p:cNvSpPr/>
          <p:nvPr/>
        </p:nvSpPr>
        <p:spPr>
          <a:xfrm>
            <a:off x="4270248" y="1371600"/>
            <a:ext cx="3566160" cy="2377440"/>
          </a:xfrm>
          <a:prstGeom prst="roundRect">
            <a:avLst>
              <a:gd name="adj" fmla="val 3846"/>
            </a:avLst>
          </a:prstGeom>
          <a:solidFill>
            <a:srgbClr val="E7F0EC"/>
          </a:solidFill>
          <a:ln w="15875">
            <a:solidFill>
              <a:srgbClr val="2F6E62"/>
            </a:solidFill>
            <a:prstDash val="solid"/>
          </a:ln>
        </p:spPr>
      </p:sp>
      <p:sp>
        <p:nvSpPr>
          <p:cNvPr id="18" name="num_2"/>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21" name="Text 19"/>
          <p:cNvSpPr txBox="1"/>
          <p:nvPr/>
        </p:nvSpPr>
        <p:spPr>
          <a:xfrm>
            <a:off x="4453128"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Le laboratoire appelle le médecin traitant : glycémie à 2,5 g/L, hémoglobine glyquée à 10 %. Le compte rendu suit.</a:t>
            </a:r>
            <a:endParaRPr lang="en-US" sz="1200" dirty="0"/>
          </a:p>
        </p:txBody>
      </p:sp>
      <p:sp>
        <p:nvSpPr>
          <p:cNvPr id="22" name="fleche_2"/>
          <p:cNvSpPr/>
          <p:nvPr/>
        </p:nvSpPr>
        <p:spPr>
          <a:xfrm>
            <a:off x="7872984" y="2468880"/>
            <a:ext cx="173736" cy="182880"/>
          </a:xfrm>
          <a:prstGeom prst="rightArrow">
            <a:avLst/>
          </a:prstGeom>
          <a:solidFill>
            <a:srgbClr val="B9C4BC"/>
          </a:solidFill>
          <a:ln/>
        </p:spPr>
      </p:sp>
      <p:sp>
        <p:nvSpPr>
          <p:cNvPr id="23" name="moment_3"/>
          <p:cNvSpPr/>
          <p:nvPr/>
        </p:nvSpPr>
        <p:spPr>
          <a:xfrm>
            <a:off x="8083296" y="1371600"/>
            <a:ext cx="3566160" cy="2377440"/>
          </a:xfrm>
          <a:prstGeom prst="roundRect">
            <a:avLst>
              <a:gd name="adj" fmla="val 3846"/>
            </a:avLst>
          </a:prstGeom>
          <a:solidFill>
            <a:srgbClr val="FCE9E1"/>
          </a:solidFill>
          <a:ln w="22225">
            <a:solidFill>
              <a:srgbClr val="E2704F"/>
            </a:solidFill>
            <a:prstDash val="dash"/>
          </a:ln>
        </p:spPr>
      </p:sp>
      <p:sp>
        <p:nvSpPr>
          <p:cNvPr id="24" name="num_3"/>
          <p:cNvSpPr/>
          <p:nvPr/>
        </p:nvSpPr>
        <p:spPr>
          <a:xfrm>
            <a:off x="8220456" y="1499616"/>
            <a:ext cx="384048" cy="384048"/>
          </a:xfrm>
          <a:prstGeom prst="ellipse">
            <a:avLst/>
          </a:prstGeom>
          <a:solidFill>
            <a:srgbClr val="1F4A42"/>
          </a:solidFill>
          <a:ln/>
        </p:spPr>
      </p:sp>
      <p:sp>
        <p:nvSpPr>
          <p:cNvPr id="25" name="Text 23"/>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1</a:t>
            </a:r>
            <a:endParaRPr lang="en-US" sz="1000" dirty="0"/>
          </a:p>
        </p:txBody>
      </p:sp>
      <p:sp>
        <p:nvSpPr>
          <p:cNvPr id="27" name="irritant_3"/>
          <p:cNvSpPr/>
          <p:nvPr/>
        </p:nvSpPr>
        <p:spPr>
          <a:xfrm>
            <a:off x="11146536" y="1508760"/>
            <a:ext cx="365760" cy="365760"/>
          </a:xfrm>
          <a:prstGeom prst="ellipse">
            <a:avLst/>
          </a:prstGeom>
          <a:solidFill>
            <a:srgbClr val="C0392B"/>
          </a:solidFill>
          <a:ln/>
        </p:spPr>
      </p:sp>
      <p:sp>
        <p:nvSpPr>
          <p:cNvPr id="28" name="Text 26"/>
          <p:cNvSpPr txBox="1"/>
          <p:nvPr/>
        </p:nvSpPr>
        <p:spPr>
          <a:xfrm>
            <a:off x="11146536" y="1508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8266176"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Le médecin revoit Philippe rapidement et lui annonce un diabète de type 2. Philippe est submergé : il voudrait retrouver ses résultats et les documents qu'on lui remet à un seul endroit, et pouvoir poser ses questions après la consultation.</a:t>
            </a:r>
            <a:endParaRPr lang="en-US" sz="1150" dirty="0"/>
          </a:p>
        </p:txBody>
      </p:sp>
      <p:sp>
        <p:nvSpPr>
          <p:cNvPr id="30" name="qui_3"/>
          <p:cNvSpPr/>
          <p:nvPr/>
        </p:nvSpPr>
        <p:spPr>
          <a:xfrm>
            <a:off x="8266176" y="3200400"/>
            <a:ext cx="1874520" cy="411480"/>
          </a:xfrm>
          <a:prstGeom prst="roundRect">
            <a:avLst>
              <a:gd name="adj" fmla="val 11111"/>
            </a:avLst>
          </a:prstGeom>
          <a:solidFill>
            <a:srgbClr val="FFFFFF"/>
          </a:solidFill>
          <a:ln w="12700">
            <a:solidFill>
              <a:srgbClr val="E2704F"/>
            </a:solidFill>
            <a:prstDash val="dash"/>
          </a:ln>
        </p:spPr>
      </p:sp>
      <p:sp>
        <p:nvSpPr>
          <p:cNvPr id="31" name="Text 29"/>
          <p:cNvSpPr txBox="1"/>
          <p:nvPr/>
        </p:nvSpPr>
        <p:spPr>
          <a:xfrm>
            <a:off x="8357616"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32" name="outil_3"/>
          <p:cNvSpPr/>
          <p:nvPr/>
        </p:nvSpPr>
        <p:spPr>
          <a:xfrm>
            <a:off x="10259568" y="3200400"/>
            <a:ext cx="1207008" cy="411480"/>
          </a:xfrm>
          <a:prstGeom prst="roundRect">
            <a:avLst>
              <a:gd name="adj" fmla="val 11111"/>
            </a:avLst>
          </a:prstGeom>
          <a:solidFill>
            <a:srgbClr val="FFFFFF"/>
          </a:solidFill>
          <a:ln w="12700">
            <a:solidFill>
              <a:srgbClr val="E2704F"/>
            </a:solidFill>
            <a:prstDash val="dash"/>
          </a:ln>
        </p:spPr>
      </p:sp>
      <p:sp>
        <p:nvSpPr>
          <p:cNvPr id="33" name="Text 31"/>
          <p:cNvSpPr txBox="1"/>
          <p:nvPr/>
        </p:nvSpPr>
        <p:spPr>
          <a:xfrm>
            <a:off x="10351008"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34" name="moment_4"/>
          <p:cNvSpPr/>
          <p:nvPr/>
        </p:nvSpPr>
        <p:spPr>
          <a:xfrm>
            <a:off x="457200" y="3977640"/>
            <a:ext cx="3566160" cy="2377440"/>
          </a:xfrm>
          <a:prstGeom prst="roundRect">
            <a:avLst>
              <a:gd name="adj" fmla="val 3846"/>
            </a:avLst>
          </a:prstGeom>
          <a:solidFill>
            <a:srgbClr val="FCE9E1"/>
          </a:solidFill>
          <a:ln w="22225">
            <a:solidFill>
              <a:srgbClr val="E2704F"/>
            </a:solidFill>
            <a:prstDash val="dash"/>
          </a:ln>
        </p:spPr>
      </p:sp>
      <p:sp>
        <p:nvSpPr>
          <p:cNvPr id="35" name="num_4"/>
          <p:cNvSpPr/>
          <p:nvPr/>
        </p:nvSpPr>
        <p:spPr>
          <a:xfrm>
            <a:off x="594360" y="4105656"/>
            <a:ext cx="384048" cy="384048"/>
          </a:xfrm>
          <a:prstGeom prst="ellipse">
            <a:avLst/>
          </a:prstGeom>
          <a:solidFill>
            <a:srgbClr val="1F4A42"/>
          </a:solidFill>
          <a:ln/>
        </p:spPr>
      </p:sp>
      <p:sp>
        <p:nvSpPr>
          <p:cNvPr id="36" name="Text 34"/>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7" name="Text 35"/>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2</a:t>
            </a:r>
            <a:endParaRPr lang="en-US" sz="1000" dirty="0"/>
          </a:p>
        </p:txBody>
      </p:sp>
      <p:sp>
        <p:nvSpPr>
          <p:cNvPr id="38" name="Text 36"/>
          <p:cNvSpPr txBox="1"/>
          <p:nvPr/>
        </p:nvSpPr>
        <p:spPr>
          <a:xfrm>
            <a:off x="640080"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Après l'examen clinique, le médecin prescrit des échographies vasculaires et rédige des courriers pour l'ophtalmologiste, le cardiologue, le pédicure-podologue et le chirurgien-dentiste ; il oriente aussi Philippe vers un diététicien. Chacun doit disposer des éléments utiles du dossier.</a:t>
            </a:r>
            <a:endParaRPr lang="en-US" sz="1150" dirty="0"/>
          </a:p>
        </p:txBody>
      </p:sp>
      <p:sp>
        <p:nvSpPr>
          <p:cNvPr id="39" name="qui_4"/>
          <p:cNvSpPr/>
          <p:nvPr/>
        </p:nvSpPr>
        <p:spPr>
          <a:xfrm>
            <a:off x="640080" y="5806440"/>
            <a:ext cx="1874520" cy="411480"/>
          </a:xfrm>
          <a:prstGeom prst="roundRect">
            <a:avLst>
              <a:gd name="adj" fmla="val 11111"/>
            </a:avLst>
          </a:prstGeom>
          <a:solidFill>
            <a:srgbClr val="FFFFFF"/>
          </a:solidFill>
          <a:ln w="12700">
            <a:solidFill>
              <a:srgbClr val="E2704F"/>
            </a:solidFill>
            <a:prstDash val="dash"/>
          </a:ln>
        </p:spPr>
      </p:sp>
      <p:sp>
        <p:nvSpPr>
          <p:cNvPr id="40" name="Text 38"/>
          <p:cNvSpPr txBox="1"/>
          <p:nvPr/>
        </p:nvSpPr>
        <p:spPr>
          <a:xfrm>
            <a:off x="731520"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41" name="outil_4"/>
          <p:cNvSpPr/>
          <p:nvPr/>
        </p:nvSpPr>
        <p:spPr>
          <a:xfrm>
            <a:off x="2633472" y="5806440"/>
            <a:ext cx="1207008" cy="411480"/>
          </a:xfrm>
          <a:prstGeom prst="roundRect">
            <a:avLst>
              <a:gd name="adj" fmla="val 11111"/>
            </a:avLst>
          </a:prstGeom>
          <a:solidFill>
            <a:srgbClr val="FFFFFF"/>
          </a:solidFill>
          <a:ln w="12700">
            <a:solidFill>
              <a:srgbClr val="E2704F"/>
            </a:solidFill>
            <a:prstDash val="dash"/>
          </a:ln>
        </p:spPr>
      </p:sp>
      <p:sp>
        <p:nvSpPr>
          <p:cNvPr id="42" name="Text 40"/>
          <p:cNvSpPr txBox="1"/>
          <p:nvPr/>
        </p:nvSpPr>
        <p:spPr>
          <a:xfrm>
            <a:off x="2724912"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43" name="fleche_4"/>
          <p:cNvSpPr/>
          <p:nvPr/>
        </p:nvSpPr>
        <p:spPr>
          <a:xfrm>
            <a:off x="4059936" y="5074920"/>
            <a:ext cx="173736" cy="182880"/>
          </a:xfrm>
          <a:prstGeom prst="rightArrow">
            <a:avLst/>
          </a:prstGeom>
          <a:solidFill>
            <a:srgbClr val="B9C4BC"/>
          </a:solidFill>
          <a:ln/>
        </p:spPr>
      </p:sp>
      <p:sp>
        <p:nvSpPr>
          <p:cNvPr id="44" name="moment_5"/>
          <p:cNvSpPr/>
          <p:nvPr/>
        </p:nvSpPr>
        <p:spPr>
          <a:xfrm>
            <a:off x="4270248" y="3977640"/>
            <a:ext cx="3566160" cy="2377440"/>
          </a:xfrm>
          <a:prstGeom prst="roundRect">
            <a:avLst>
              <a:gd name="adj" fmla="val 3846"/>
            </a:avLst>
          </a:prstGeom>
          <a:solidFill>
            <a:srgbClr val="FCE9E1"/>
          </a:solidFill>
          <a:ln w="22225">
            <a:solidFill>
              <a:srgbClr val="E2704F"/>
            </a:solidFill>
            <a:prstDash val="dash"/>
          </a:ln>
        </p:spPr>
      </p:sp>
      <p:sp>
        <p:nvSpPr>
          <p:cNvPr id="45" name="num_5"/>
          <p:cNvSpPr/>
          <p:nvPr/>
        </p:nvSpPr>
        <p:spPr>
          <a:xfrm>
            <a:off x="4407408" y="4105656"/>
            <a:ext cx="384048" cy="384048"/>
          </a:xfrm>
          <a:prstGeom prst="ellipse">
            <a:avLst/>
          </a:prstGeom>
          <a:solidFill>
            <a:srgbClr val="1F4A42"/>
          </a:solidFill>
          <a:ln/>
        </p:spPr>
      </p:sp>
      <p:sp>
        <p:nvSpPr>
          <p:cNvPr id="46" name="Text 44"/>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7" name="Text 45"/>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3</a:t>
            </a:r>
            <a:endParaRPr lang="en-US" sz="1000" dirty="0"/>
          </a:p>
        </p:txBody>
      </p:sp>
      <p:sp>
        <p:nvSpPr>
          <p:cNvPr id="48" name="irritant_5"/>
          <p:cNvSpPr/>
          <p:nvPr/>
        </p:nvSpPr>
        <p:spPr>
          <a:xfrm>
            <a:off x="7333488" y="4114800"/>
            <a:ext cx="365760" cy="365760"/>
          </a:xfrm>
          <a:prstGeom prst="ellipse">
            <a:avLst/>
          </a:prstGeom>
          <a:solidFill>
            <a:srgbClr val="C0392B"/>
          </a:solidFill>
          <a:ln/>
        </p:spPr>
      </p:sp>
      <p:sp>
        <p:nvSpPr>
          <p:cNvPr id="49" name="Text 47"/>
          <p:cNvSpPr txBox="1"/>
          <p:nvPr/>
        </p:nvSpPr>
        <p:spPr>
          <a:xfrm>
            <a:off x="7333488"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0" name="Text 48"/>
          <p:cNvSpPr txBox="1"/>
          <p:nvPr/>
        </p:nvSpPr>
        <p:spPr>
          <a:xfrm>
            <a:off x="4453128"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Le médecin prescrit une activité physique adaptée. Philippe ne connaît aucune Maison Sport Santé. Le médecin se souvient que la CPTS a recensé l'offre locale de sport-santé, mais ne sait plus où trouver la liste.</a:t>
            </a:r>
            <a:endParaRPr lang="en-US" sz="1150" dirty="0"/>
          </a:p>
        </p:txBody>
      </p:sp>
      <p:sp>
        <p:nvSpPr>
          <p:cNvPr id="51" name="qui_5"/>
          <p:cNvSpPr/>
          <p:nvPr/>
        </p:nvSpPr>
        <p:spPr>
          <a:xfrm>
            <a:off x="4453128" y="5806440"/>
            <a:ext cx="1874520" cy="411480"/>
          </a:xfrm>
          <a:prstGeom prst="roundRect">
            <a:avLst>
              <a:gd name="adj" fmla="val 11111"/>
            </a:avLst>
          </a:prstGeom>
          <a:solidFill>
            <a:srgbClr val="FFFFFF"/>
          </a:solidFill>
          <a:ln w="12700">
            <a:solidFill>
              <a:srgbClr val="E2704F"/>
            </a:solidFill>
            <a:prstDash val="dash"/>
          </a:ln>
        </p:spPr>
      </p:sp>
      <p:sp>
        <p:nvSpPr>
          <p:cNvPr id="52" name="Text 50"/>
          <p:cNvSpPr txBox="1"/>
          <p:nvPr/>
        </p:nvSpPr>
        <p:spPr>
          <a:xfrm>
            <a:off x="4544568"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53" name="outil_5"/>
          <p:cNvSpPr/>
          <p:nvPr/>
        </p:nvSpPr>
        <p:spPr>
          <a:xfrm>
            <a:off x="6446520" y="5806440"/>
            <a:ext cx="1207008" cy="411480"/>
          </a:xfrm>
          <a:prstGeom prst="roundRect">
            <a:avLst>
              <a:gd name="adj" fmla="val 11111"/>
            </a:avLst>
          </a:prstGeom>
          <a:solidFill>
            <a:srgbClr val="FFFFFF"/>
          </a:solidFill>
          <a:ln w="12700">
            <a:solidFill>
              <a:srgbClr val="E2704F"/>
            </a:solidFill>
            <a:prstDash val="dash"/>
          </a:ln>
        </p:spPr>
      </p:sp>
      <p:sp>
        <p:nvSpPr>
          <p:cNvPr id="54" name="Text 52"/>
          <p:cNvSpPr txBox="1"/>
          <p:nvPr/>
        </p:nvSpPr>
        <p:spPr>
          <a:xfrm>
            <a:off x="6537960"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55" name="Text 53"/>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  ·  Suite sur la diapo suivante.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7863840" cy="548640"/>
          </a:xfrm>
          <a:prstGeom prst="rect">
            <a:avLst/>
          </a:prstGeom>
          <a:noFill/>
          <a:ln/>
        </p:spPr>
        <p:txBody>
          <a:bodyPr wrap="square" lIns="0" tIns="0" rIns="0" bIns="0" rtlCol="0" anchor="ctr"/>
          <a:lstStyle/>
          <a:p>
            <a:pPr algn="l" indent="0" marL="0">
              <a:buNone/>
            </a:pPr>
            <a:r>
              <a:rPr lang="en-US" sz="2600" b="1" dirty="0">
                <a:solidFill>
                  <a:srgbClr val="1F4A42"/>
                </a:solidFill>
                <a:latin typeface="Georgia" pitchFamily="34" charset="0"/>
                <a:ea typeface="Georgia" pitchFamily="34" charset="-122"/>
                <a:cs typeface="Georgia" pitchFamily="34" charset="-120"/>
              </a:rPr>
              <a:t>Philippe, 58 ans — 2/2</a:t>
            </a:r>
            <a:endParaRPr lang="en-US" sz="2600" dirty="0"/>
          </a:p>
        </p:txBody>
      </p:sp>
      <p:sp>
        <p:nvSpPr>
          <p:cNvPr id="3" name="Text 1"/>
          <p:cNvSpPr txBox="1"/>
          <p:nvPr/>
        </p:nvSpPr>
        <p:spPr>
          <a:xfrm>
            <a:off x="457200" y="804672"/>
            <a:ext cx="7863840" cy="320040"/>
          </a:xfrm>
          <a:prstGeom prst="rect">
            <a:avLst/>
          </a:prstGeom>
          <a:noFill/>
          <a:ln/>
        </p:spPr>
        <p:txBody>
          <a:bodyPr wrap="square" lIns="0" tIns="0" rIns="0" bIns="0" rtlCol="0" anchor="ctr"/>
          <a:lstStyle/>
          <a:p>
            <a:pPr indent="0" marL="0">
              <a:buNone/>
            </a:pPr>
            <a:r>
              <a:rPr lang="en-US" sz="1300" i="1" dirty="0">
                <a:solidFill>
                  <a:srgbClr val="6B7A73"/>
                </a:solidFill>
                <a:latin typeface="Calibri" pitchFamily="34" charset="0"/>
                <a:ea typeface="Calibri" pitchFamily="34" charset="-122"/>
                <a:cs typeface="Calibri" pitchFamily="34" charset="-120"/>
              </a:rPr>
              <a:t>De l'annonce du diagnostic à l'organisation du suivi en ville</a:t>
            </a:r>
            <a:endParaRPr lang="en-US" sz="1300" dirty="0"/>
          </a:p>
        </p:txBody>
      </p:sp>
      <p:sp>
        <p:nvSpPr>
          <p:cNvPr id="4" name="leg_trou"/>
          <p:cNvSpPr/>
          <p:nvPr/>
        </p:nvSpPr>
        <p:spPr>
          <a:xfrm>
            <a:off x="8641080" y="292608"/>
            <a:ext cx="384048" cy="274320"/>
          </a:xfrm>
          <a:prstGeom prst="roundRect">
            <a:avLst>
              <a:gd name="adj" fmla="val 13333"/>
            </a:avLst>
          </a:prstGeom>
          <a:solidFill>
            <a:srgbClr val="FCE9E1"/>
          </a:solidFill>
          <a:ln w="15875">
            <a:solidFill>
              <a:srgbClr val="E2704F"/>
            </a:solidFill>
            <a:prstDash val="dash"/>
          </a:ln>
        </p:spPr>
      </p:sp>
      <p:sp>
        <p:nvSpPr>
          <p:cNvPr id="5" name="Text 3"/>
          <p:cNvSpPr txBox="1"/>
          <p:nvPr/>
        </p:nvSpPr>
        <p:spPr>
          <a:xfrm>
            <a:off x="9098280" y="292608"/>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Moment clé : qui ? quel outil ?</a:t>
            </a:r>
            <a:endParaRPr lang="en-US" sz="1050" dirty="0"/>
          </a:p>
        </p:txBody>
      </p:sp>
      <p:sp>
        <p:nvSpPr>
          <p:cNvPr id="6" name="leg_repere"/>
          <p:cNvSpPr/>
          <p:nvPr/>
        </p:nvSpPr>
        <p:spPr>
          <a:xfrm>
            <a:off x="8641080" y="640080"/>
            <a:ext cx="384048" cy="274320"/>
          </a:xfrm>
          <a:prstGeom prst="roundRect">
            <a:avLst>
              <a:gd name="adj" fmla="val 13333"/>
            </a:avLst>
          </a:prstGeom>
          <a:solidFill>
            <a:srgbClr val="E7F0EC"/>
          </a:solidFill>
          <a:ln w="15875">
            <a:solidFill>
              <a:srgbClr val="2F6E62"/>
            </a:solidFill>
            <a:prstDash val="solid"/>
          </a:ln>
        </p:spPr>
      </p:sp>
      <p:sp>
        <p:nvSpPr>
          <p:cNvPr id="7" name="Text 5"/>
          <p:cNvSpPr txBox="1"/>
          <p:nvPr/>
        </p:nvSpPr>
        <p:spPr>
          <a:xfrm>
            <a:off x="9098280" y="640080"/>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Repère : rien à poser</a:t>
            </a:r>
            <a:endParaRPr lang="en-US" sz="1050" dirty="0"/>
          </a:p>
        </p:txBody>
      </p:sp>
      <p:sp>
        <p:nvSpPr>
          <p:cNvPr id="8" name="leg_irr"/>
          <p:cNvSpPr/>
          <p:nvPr/>
        </p:nvSpPr>
        <p:spPr>
          <a:xfrm>
            <a:off x="8695944" y="969264"/>
            <a:ext cx="274320" cy="274320"/>
          </a:xfrm>
          <a:prstGeom prst="ellipse">
            <a:avLst/>
          </a:prstGeom>
          <a:solidFill>
            <a:srgbClr val="C0392B"/>
          </a:solidFill>
          <a:ln/>
        </p:spPr>
      </p:sp>
      <p:sp>
        <p:nvSpPr>
          <p:cNvPr id="9" name="Text 7"/>
          <p:cNvSpPr txBox="1"/>
          <p:nvPr/>
        </p:nvSpPr>
        <p:spPr>
          <a:xfrm>
            <a:off x="8695944" y="969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9098280" y="969264"/>
            <a:ext cx="2651760" cy="274320"/>
          </a:xfrm>
          <a:prstGeom prst="rect">
            <a:avLst/>
          </a:prstGeom>
          <a:noFill/>
          <a:ln/>
        </p:spPr>
        <p:txBody>
          <a:bodyPr wrap="square" lIns="0" tIns="0" rIns="0" bIns="0" rtlCol="0" anchor="ctr"/>
          <a:lstStyle/>
          <a:p>
            <a:pPr indent="0" marL="0">
              <a:buNone/>
            </a:pPr>
            <a:r>
              <a:rPr lang="en-US" sz="1050" dirty="0">
                <a:solidFill>
                  <a:srgbClr val="6B7A73"/>
                </a:solidFill>
                <a:latin typeface="Calibri" pitchFamily="34" charset="0"/>
                <a:ea typeface="Calibri" pitchFamily="34" charset="-122"/>
                <a:cs typeface="Calibri" pitchFamily="34" charset="-120"/>
              </a:rPr>
              <a:t>Zone irritant</a:t>
            </a:r>
            <a:endParaRPr lang="en-US" sz="1050" dirty="0"/>
          </a:p>
        </p:txBody>
      </p:sp>
      <p:sp>
        <p:nvSpPr>
          <p:cNvPr id="11" name="moment_6"/>
          <p:cNvSpPr/>
          <p:nvPr/>
        </p:nvSpPr>
        <p:spPr>
          <a:xfrm>
            <a:off x="457200" y="1371600"/>
            <a:ext cx="3566160" cy="2377440"/>
          </a:xfrm>
          <a:prstGeom prst="roundRect">
            <a:avLst>
              <a:gd name="adj" fmla="val 3846"/>
            </a:avLst>
          </a:prstGeom>
          <a:solidFill>
            <a:srgbClr val="E7F0EC"/>
          </a:solidFill>
          <a:ln w="15875">
            <a:solidFill>
              <a:srgbClr val="2F6E62"/>
            </a:solidFill>
            <a:prstDash val="solid"/>
          </a:ln>
        </p:spPr>
      </p:sp>
      <p:sp>
        <p:nvSpPr>
          <p:cNvPr id="12" name="num_6"/>
          <p:cNvSpPr/>
          <p:nvPr/>
        </p:nvSpPr>
        <p:spPr>
          <a:xfrm>
            <a:off x="594360" y="1499616"/>
            <a:ext cx="384048" cy="384048"/>
          </a:xfrm>
          <a:prstGeom prst="ellipse">
            <a:avLst/>
          </a:prstGeom>
          <a:solidFill>
            <a:srgbClr val="1F4A42"/>
          </a:solidFill>
          <a:ln/>
        </p:spPr>
      </p:sp>
      <p:sp>
        <p:nvSpPr>
          <p:cNvPr id="13" name="Text 11"/>
          <p:cNvSpPr txBox="1"/>
          <p:nvPr/>
        </p:nvSpPr>
        <p:spPr>
          <a:xfrm>
            <a:off x="594360"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4" name="Text 12"/>
          <p:cNvSpPr txBox="1"/>
          <p:nvPr/>
        </p:nvSpPr>
        <p:spPr>
          <a:xfrm>
            <a:off x="1078992"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15" name="Text 13"/>
          <p:cNvSpPr txBox="1"/>
          <p:nvPr/>
        </p:nvSpPr>
        <p:spPr>
          <a:xfrm>
            <a:off x="640080"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Il prescrit de la metformine et un nouveau bilan à trois mois. Chaque mois, Philippe oublie sa carte Vitale à la pharmacie : le pharmacien lui propose l'application carte Vitale.</a:t>
            </a:r>
            <a:endParaRPr lang="en-US" sz="1200" dirty="0"/>
          </a:p>
        </p:txBody>
      </p:sp>
      <p:sp>
        <p:nvSpPr>
          <p:cNvPr id="16" name="fleche_6"/>
          <p:cNvSpPr/>
          <p:nvPr/>
        </p:nvSpPr>
        <p:spPr>
          <a:xfrm>
            <a:off x="4059936" y="2468880"/>
            <a:ext cx="173736" cy="182880"/>
          </a:xfrm>
          <a:prstGeom prst="rightArrow">
            <a:avLst/>
          </a:prstGeom>
          <a:solidFill>
            <a:srgbClr val="B9C4BC"/>
          </a:solidFill>
          <a:ln/>
        </p:spPr>
      </p:sp>
      <p:sp>
        <p:nvSpPr>
          <p:cNvPr id="17" name="moment_7"/>
          <p:cNvSpPr/>
          <p:nvPr/>
        </p:nvSpPr>
        <p:spPr>
          <a:xfrm>
            <a:off x="4270248" y="1371600"/>
            <a:ext cx="3566160" cy="2377440"/>
          </a:xfrm>
          <a:prstGeom prst="roundRect">
            <a:avLst>
              <a:gd name="adj" fmla="val 3846"/>
            </a:avLst>
          </a:prstGeom>
          <a:solidFill>
            <a:srgbClr val="FCE9E1"/>
          </a:solidFill>
          <a:ln w="22225">
            <a:solidFill>
              <a:srgbClr val="E2704F"/>
            </a:solidFill>
            <a:prstDash val="dash"/>
          </a:ln>
        </p:spPr>
      </p:sp>
      <p:sp>
        <p:nvSpPr>
          <p:cNvPr id="18" name="num_7"/>
          <p:cNvSpPr/>
          <p:nvPr/>
        </p:nvSpPr>
        <p:spPr>
          <a:xfrm>
            <a:off x="4407408" y="1499616"/>
            <a:ext cx="384048" cy="384048"/>
          </a:xfrm>
          <a:prstGeom prst="ellipse">
            <a:avLst/>
          </a:prstGeom>
          <a:solidFill>
            <a:srgbClr val="1F4A42"/>
          </a:solidFill>
          <a:ln/>
        </p:spPr>
      </p:sp>
      <p:sp>
        <p:nvSpPr>
          <p:cNvPr id="19" name="Text 17"/>
          <p:cNvSpPr txBox="1"/>
          <p:nvPr/>
        </p:nvSpPr>
        <p:spPr>
          <a:xfrm>
            <a:off x="4407408"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0" name="Text 18"/>
          <p:cNvSpPr txBox="1"/>
          <p:nvPr/>
        </p:nvSpPr>
        <p:spPr>
          <a:xfrm>
            <a:off x="4892040" y="153619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4</a:t>
            </a:r>
            <a:endParaRPr lang="en-US" sz="1000" dirty="0"/>
          </a:p>
        </p:txBody>
      </p:sp>
      <p:sp>
        <p:nvSpPr>
          <p:cNvPr id="21" name="Text 19"/>
          <p:cNvSpPr txBox="1"/>
          <p:nvPr/>
        </p:nvSpPr>
        <p:spPr>
          <a:xfrm>
            <a:off x="4453128" y="197510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À trois mois, les objectifs ne sont pas atteints. Le médecin voudrait l'avis de la diabétologue avec laquelle il travaille sur l'adaptation du traitement ; le délai de consultation est trop long. Il en parle à Philippe, qui est d'accord.</a:t>
            </a:r>
            <a:endParaRPr lang="en-US" sz="1150" dirty="0"/>
          </a:p>
        </p:txBody>
      </p:sp>
      <p:sp>
        <p:nvSpPr>
          <p:cNvPr id="22" name="qui_7"/>
          <p:cNvSpPr/>
          <p:nvPr/>
        </p:nvSpPr>
        <p:spPr>
          <a:xfrm>
            <a:off x="4453128" y="3200400"/>
            <a:ext cx="1874520" cy="411480"/>
          </a:xfrm>
          <a:prstGeom prst="roundRect">
            <a:avLst>
              <a:gd name="adj" fmla="val 11111"/>
            </a:avLst>
          </a:prstGeom>
          <a:solidFill>
            <a:srgbClr val="FFFFFF"/>
          </a:solidFill>
          <a:ln w="12700">
            <a:solidFill>
              <a:srgbClr val="E2704F"/>
            </a:solidFill>
            <a:prstDash val="dash"/>
          </a:ln>
        </p:spPr>
      </p:sp>
      <p:sp>
        <p:nvSpPr>
          <p:cNvPr id="23" name="Text 21"/>
          <p:cNvSpPr txBox="1"/>
          <p:nvPr/>
        </p:nvSpPr>
        <p:spPr>
          <a:xfrm>
            <a:off x="4544568" y="320040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24" name="outil_7"/>
          <p:cNvSpPr/>
          <p:nvPr/>
        </p:nvSpPr>
        <p:spPr>
          <a:xfrm>
            <a:off x="6446520" y="3200400"/>
            <a:ext cx="1207008" cy="411480"/>
          </a:xfrm>
          <a:prstGeom prst="roundRect">
            <a:avLst>
              <a:gd name="adj" fmla="val 11111"/>
            </a:avLst>
          </a:prstGeom>
          <a:solidFill>
            <a:srgbClr val="FFFFFF"/>
          </a:solidFill>
          <a:ln w="12700">
            <a:solidFill>
              <a:srgbClr val="E2704F"/>
            </a:solidFill>
            <a:prstDash val="dash"/>
          </a:ln>
        </p:spPr>
      </p:sp>
      <p:sp>
        <p:nvSpPr>
          <p:cNvPr id="25" name="Text 23"/>
          <p:cNvSpPr txBox="1"/>
          <p:nvPr/>
        </p:nvSpPr>
        <p:spPr>
          <a:xfrm>
            <a:off x="6537960" y="320040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26" name="fleche_7"/>
          <p:cNvSpPr/>
          <p:nvPr/>
        </p:nvSpPr>
        <p:spPr>
          <a:xfrm>
            <a:off x="7872984" y="2468880"/>
            <a:ext cx="173736" cy="182880"/>
          </a:xfrm>
          <a:prstGeom prst="rightArrow">
            <a:avLst/>
          </a:prstGeom>
          <a:solidFill>
            <a:srgbClr val="B9C4BC"/>
          </a:solidFill>
          <a:ln/>
        </p:spPr>
      </p:sp>
      <p:sp>
        <p:nvSpPr>
          <p:cNvPr id="27" name="moment_8"/>
          <p:cNvSpPr/>
          <p:nvPr/>
        </p:nvSpPr>
        <p:spPr>
          <a:xfrm>
            <a:off x="8083296" y="1371600"/>
            <a:ext cx="3566160" cy="2377440"/>
          </a:xfrm>
          <a:prstGeom prst="roundRect">
            <a:avLst>
              <a:gd name="adj" fmla="val 3846"/>
            </a:avLst>
          </a:prstGeom>
          <a:solidFill>
            <a:srgbClr val="E7F0EC"/>
          </a:solidFill>
          <a:ln w="15875">
            <a:solidFill>
              <a:srgbClr val="2F6E62"/>
            </a:solidFill>
            <a:prstDash val="solid"/>
          </a:ln>
        </p:spPr>
      </p:sp>
      <p:sp>
        <p:nvSpPr>
          <p:cNvPr id="28" name="num_8"/>
          <p:cNvSpPr/>
          <p:nvPr/>
        </p:nvSpPr>
        <p:spPr>
          <a:xfrm>
            <a:off x="8220456" y="1499616"/>
            <a:ext cx="384048" cy="384048"/>
          </a:xfrm>
          <a:prstGeom prst="ellipse">
            <a:avLst/>
          </a:prstGeom>
          <a:solidFill>
            <a:srgbClr val="1F4A42"/>
          </a:solidFill>
          <a:ln/>
        </p:spPr>
      </p:sp>
      <p:sp>
        <p:nvSpPr>
          <p:cNvPr id="29" name="Text 27"/>
          <p:cNvSpPr txBox="1"/>
          <p:nvPr/>
        </p:nvSpPr>
        <p:spPr>
          <a:xfrm>
            <a:off x="8220456" y="1499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0" name="Text 28"/>
          <p:cNvSpPr txBox="1"/>
          <p:nvPr/>
        </p:nvSpPr>
        <p:spPr>
          <a:xfrm>
            <a:off x="8705088" y="153619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31" name="Text 29"/>
          <p:cNvSpPr txBox="1"/>
          <p:nvPr/>
        </p:nvSpPr>
        <p:spPr>
          <a:xfrm>
            <a:off x="8266176" y="197510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La diabétologue prescrit de l'insuline et un capteur de glucose en continu. Aucune place n'est disponible rapidement en hôpital de jour pour former Philippe à son utilisation.</a:t>
            </a:r>
            <a:endParaRPr lang="en-US" sz="1200" dirty="0"/>
          </a:p>
        </p:txBody>
      </p:sp>
      <p:sp>
        <p:nvSpPr>
          <p:cNvPr id="32" name="moment_9"/>
          <p:cNvSpPr/>
          <p:nvPr/>
        </p:nvSpPr>
        <p:spPr>
          <a:xfrm>
            <a:off x="457200" y="3977640"/>
            <a:ext cx="3566160" cy="2377440"/>
          </a:xfrm>
          <a:prstGeom prst="roundRect">
            <a:avLst>
              <a:gd name="adj" fmla="val 3846"/>
            </a:avLst>
          </a:prstGeom>
          <a:solidFill>
            <a:srgbClr val="FCE9E1"/>
          </a:solidFill>
          <a:ln w="22225">
            <a:solidFill>
              <a:srgbClr val="E2704F"/>
            </a:solidFill>
            <a:prstDash val="dash"/>
          </a:ln>
        </p:spPr>
      </p:sp>
      <p:sp>
        <p:nvSpPr>
          <p:cNvPr id="33" name="num_9"/>
          <p:cNvSpPr/>
          <p:nvPr/>
        </p:nvSpPr>
        <p:spPr>
          <a:xfrm>
            <a:off x="594360" y="4105656"/>
            <a:ext cx="384048" cy="384048"/>
          </a:xfrm>
          <a:prstGeom prst="ellipse">
            <a:avLst/>
          </a:prstGeom>
          <a:solidFill>
            <a:srgbClr val="1F4A42"/>
          </a:solidFill>
          <a:ln/>
        </p:spPr>
      </p:sp>
      <p:sp>
        <p:nvSpPr>
          <p:cNvPr id="34" name="Text 32"/>
          <p:cNvSpPr txBox="1"/>
          <p:nvPr/>
        </p:nvSpPr>
        <p:spPr>
          <a:xfrm>
            <a:off x="594360"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5" name="Text 33"/>
          <p:cNvSpPr txBox="1"/>
          <p:nvPr/>
        </p:nvSpPr>
        <p:spPr>
          <a:xfrm>
            <a:off x="1078992" y="4142232"/>
            <a:ext cx="2194560" cy="310896"/>
          </a:xfrm>
          <a:prstGeom prst="rect">
            <a:avLst/>
          </a:prstGeom>
          <a:noFill/>
          <a:ln/>
        </p:spPr>
        <p:txBody>
          <a:bodyPr wrap="square" lIns="0" tIns="0" rIns="0" bIns="0" rtlCol="0" anchor="ctr"/>
          <a:lstStyle/>
          <a:p>
            <a:pPr indent="0" marL="0">
              <a:buNone/>
            </a:pPr>
            <a:r>
              <a:rPr lang="en-US" sz="1000" b="1" spc="100" kern="0" dirty="0">
                <a:solidFill>
                  <a:srgbClr val="E2704F"/>
                </a:solidFill>
                <a:latin typeface="Calibri" pitchFamily="34" charset="0"/>
                <a:ea typeface="Calibri" pitchFamily="34" charset="-122"/>
                <a:cs typeface="Calibri" pitchFamily="34" charset="-120"/>
              </a:rPr>
              <a:t>MOMENT CLÉ · TROU N° 5</a:t>
            </a:r>
            <a:endParaRPr lang="en-US" sz="1000" dirty="0"/>
          </a:p>
        </p:txBody>
      </p:sp>
      <p:sp>
        <p:nvSpPr>
          <p:cNvPr id="36" name="irritant_9"/>
          <p:cNvSpPr/>
          <p:nvPr/>
        </p:nvSpPr>
        <p:spPr>
          <a:xfrm>
            <a:off x="3520440" y="4114800"/>
            <a:ext cx="365760" cy="365760"/>
          </a:xfrm>
          <a:prstGeom prst="ellipse">
            <a:avLst/>
          </a:prstGeom>
          <a:solidFill>
            <a:srgbClr val="C0392B"/>
          </a:solidFill>
          <a:ln/>
        </p:spPr>
      </p:sp>
      <p:sp>
        <p:nvSpPr>
          <p:cNvPr id="37" name="Text 35"/>
          <p:cNvSpPr txBox="1"/>
          <p:nvPr/>
        </p:nvSpPr>
        <p:spPr>
          <a:xfrm>
            <a:off x="3520440" y="41148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8" name="Text 36"/>
          <p:cNvSpPr txBox="1"/>
          <p:nvPr/>
        </p:nvSpPr>
        <p:spPr>
          <a:xfrm>
            <a:off x="640080" y="4581144"/>
            <a:ext cx="3200400" cy="1170432"/>
          </a:xfrm>
          <a:prstGeom prst="rect">
            <a:avLst/>
          </a:prstGeom>
          <a:noFill/>
          <a:ln/>
        </p:spPr>
        <p:txBody>
          <a:bodyPr wrap="square" lIns="0" tIns="0" rIns="0" bIns="0" rtlCol="0" anchor="t"/>
          <a:lstStyle/>
          <a:p>
            <a:pPr indent="0" marL="0">
              <a:buNone/>
            </a:pPr>
            <a:r>
              <a:rPr lang="en-US" sz="1150" dirty="0">
                <a:solidFill>
                  <a:srgbClr val="16302A"/>
                </a:solidFill>
                <a:latin typeface="Calibri" pitchFamily="34" charset="0"/>
                <a:ea typeface="Calibri" pitchFamily="34" charset="-122"/>
                <a:cs typeface="Calibri" pitchFamily="34" charset="-120"/>
              </a:rPr>
              <a:t>Le médecin propose qu'une infirmière en pratique avancée de la CPTS vienne former Philippe à domicile. Médecin traitant, IPA, diabétologue et diététicien doivent désormais organiser ensemble le suivi et se tenir informés des ajustements.</a:t>
            </a:r>
            <a:endParaRPr lang="en-US" sz="1150" dirty="0"/>
          </a:p>
        </p:txBody>
      </p:sp>
      <p:sp>
        <p:nvSpPr>
          <p:cNvPr id="39" name="qui_9"/>
          <p:cNvSpPr/>
          <p:nvPr/>
        </p:nvSpPr>
        <p:spPr>
          <a:xfrm>
            <a:off x="640080" y="5806440"/>
            <a:ext cx="1874520" cy="411480"/>
          </a:xfrm>
          <a:prstGeom prst="roundRect">
            <a:avLst>
              <a:gd name="adj" fmla="val 11111"/>
            </a:avLst>
          </a:prstGeom>
          <a:solidFill>
            <a:srgbClr val="FFFFFF"/>
          </a:solidFill>
          <a:ln w="12700">
            <a:solidFill>
              <a:srgbClr val="E2704F"/>
            </a:solidFill>
            <a:prstDash val="dash"/>
          </a:ln>
        </p:spPr>
      </p:sp>
      <p:sp>
        <p:nvSpPr>
          <p:cNvPr id="40" name="Text 38"/>
          <p:cNvSpPr txBox="1"/>
          <p:nvPr/>
        </p:nvSpPr>
        <p:spPr>
          <a:xfrm>
            <a:off x="731520" y="5806440"/>
            <a:ext cx="173736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Qui ?</a:t>
            </a:r>
            <a:endParaRPr lang="en-US" sz="1100" dirty="0"/>
          </a:p>
        </p:txBody>
      </p:sp>
      <p:sp>
        <p:nvSpPr>
          <p:cNvPr id="41" name="outil_9"/>
          <p:cNvSpPr/>
          <p:nvPr/>
        </p:nvSpPr>
        <p:spPr>
          <a:xfrm>
            <a:off x="2633472" y="5806440"/>
            <a:ext cx="1207008" cy="411480"/>
          </a:xfrm>
          <a:prstGeom prst="roundRect">
            <a:avLst>
              <a:gd name="adj" fmla="val 11111"/>
            </a:avLst>
          </a:prstGeom>
          <a:solidFill>
            <a:srgbClr val="FFFFFF"/>
          </a:solidFill>
          <a:ln w="12700">
            <a:solidFill>
              <a:srgbClr val="E2704F"/>
            </a:solidFill>
            <a:prstDash val="dash"/>
          </a:ln>
        </p:spPr>
      </p:sp>
      <p:sp>
        <p:nvSpPr>
          <p:cNvPr id="42" name="Text 40"/>
          <p:cNvSpPr txBox="1"/>
          <p:nvPr/>
        </p:nvSpPr>
        <p:spPr>
          <a:xfrm>
            <a:off x="2724912" y="5806440"/>
            <a:ext cx="1097280" cy="411480"/>
          </a:xfrm>
          <a:prstGeom prst="rect">
            <a:avLst/>
          </a:prstGeom>
          <a:noFill/>
          <a:ln/>
        </p:spPr>
        <p:txBody>
          <a:bodyPr wrap="square" lIns="0" tIns="0" rIns="0" bIns="0" rtlCol="0" anchor="ctr"/>
          <a:lstStyle/>
          <a:p>
            <a:pPr indent="0" marL="0">
              <a:buNone/>
            </a:pPr>
            <a:r>
              <a:rPr lang="en-US" sz="1100" i="1" dirty="0">
                <a:solidFill>
                  <a:srgbClr val="6B7A73"/>
                </a:solidFill>
                <a:latin typeface="Calibri" pitchFamily="34" charset="0"/>
                <a:ea typeface="Calibri" pitchFamily="34" charset="-122"/>
                <a:cs typeface="Calibri" pitchFamily="34" charset="-120"/>
              </a:rPr>
              <a:t>Outil ?</a:t>
            </a:r>
            <a:endParaRPr lang="en-US" sz="1100" dirty="0"/>
          </a:p>
        </p:txBody>
      </p:sp>
      <p:sp>
        <p:nvSpPr>
          <p:cNvPr id="43" name="fleche_9"/>
          <p:cNvSpPr/>
          <p:nvPr/>
        </p:nvSpPr>
        <p:spPr>
          <a:xfrm>
            <a:off x="4059936" y="5074920"/>
            <a:ext cx="173736" cy="182880"/>
          </a:xfrm>
          <a:prstGeom prst="rightArrow">
            <a:avLst/>
          </a:prstGeom>
          <a:solidFill>
            <a:srgbClr val="B9C4BC"/>
          </a:solidFill>
          <a:ln/>
        </p:spPr>
      </p:sp>
      <p:sp>
        <p:nvSpPr>
          <p:cNvPr id="44" name="moment_10"/>
          <p:cNvSpPr/>
          <p:nvPr/>
        </p:nvSpPr>
        <p:spPr>
          <a:xfrm>
            <a:off x="4270248" y="3977640"/>
            <a:ext cx="3566160" cy="2377440"/>
          </a:xfrm>
          <a:prstGeom prst="roundRect">
            <a:avLst>
              <a:gd name="adj" fmla="val 3846"/>
            </a:avLst>
          </a:prstGeom>
          <a:solidFill>
            <a:srgbClr val="E7F0EC"/>
          </a:solidFill>
          <a:ln w="15875">
            <a:solidFill>
              <a:srgbClr val="2F6E62"/>
            </a:solidFill>
            <a:prstDash val="solid"/>
          </a:ln>
        </p:spPr>
      </p:sp>
      <p:sp>
        <p:nvSpPr>
          <p:cNvPr id="45" name="num_10"/>
          <p:cNvSpPr/>
          <p:nvPr/>
        </p:nvSpPr>
        <p:spPr>
          <a:xfrm>
            <a:off x="4407408" y="4105656"/>
            <a:ext cx="384048" cy="384048"/>
          </a:xfrm>
          <a:prstGeom prst="ellipse">
            <a:avLst/>
          </a:prstGeom>
          <a:solidFill>
            <a:srgbClr val="1F4A42"/>
          </a:solidFill>
          <a:ln/>
        </p:spPr>
      </p:sp>
      <p:sp>
        <p:nvSpPr>
          <p:cNvPr id="46" name="Text 44"/>
          <p:cNvSpPr txBox="1"/>
          <p:nvPr/>
        </p:nvSpPr>
        <p:spPr>
          <a:xfrm>
            <a:off x="4407408" y="4105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7" name="Text 45"/>
          <p:cNvSpPr txBox="1"/>
          <p:nvPr/>
        </p:nvSpPr>
        <p:spPr>
          <a:xfrm>
            <a:off x="4892040" y="4142232"/>
            <a:ext cx="2194560" cy="310896"/>
          </a:xfrm>
          <a:prstGeom prst="rect">
            <a:avLst/>
          </a:prstGeom>
          <a:noFill/>
          <a:ln/>
        </p:spPr>
        <p:txBody>
          <a:bodyPr wrap="square" lIns="0" tIns="0" rIns="0" bIns="0" rtlCol="0" anchor="ctr"/>
          <a:lstStyle/>
          <a:p>
            <a:pPr indent="0" marL="0">
              <a:buNone/>
            </a:pPr>
            <a:r>
              <a:rPr lang="en-US" sz="1000" b="1" spc="100" kern="0" dirty="0">
                <a:solidFill>
                  <a:srgbClr val="2F6E62"/>
                </a:solidFill>
                <a:latin typeface="Calibri" pitchFamily="34" charset="0"/>
                <a:ea typeface="Calibri" pitchFamily="34" charset="-122"/>
                <a:cs typeface="Calibri" pitchFamily="34" charset="-120"/>
              </a:rPr>
              <a:t>REPÈRE</a:t>
            </a:r>
            <a:endParaRPr lang="en-US" sz="1000" dirty="0"/>
          </a:p>
        </p:txBody>
      </p:sp>
      <p:sp>
        <p:nvSpPr>
          <p:cNvPr id="48" name="Text 46"/>
          <p:cNvSpPr txBox="1"/>
          <p:nvPr/>
        </p:nvSpPr>
        <p:spPr>
          <a:xfrm>
            <a:off x="4453128" y="4581144"/>
            <a:ext cx="3200400" cy="1645920"/>
          </a:xfrm>
          <a:prstGeom prst="rect">
            <a:avLst/>
          </a:prstGeom>
          <a:noFill/>
          <a:ln/>
        </p:spPr>
        <p:txBody>
          <a:bodyPr wrap="square" lIns="0" tIns="0" rIns="0" bIns="0" rtlCol="0" anchor="t"/>
          <a:lstStyle/>
          <a:p>
            <a:pPr indent="0" marL="0">
              <a:buNone/>
            </a:pPr>
            <a:r>
              <a:rPr lang="en-US" sz="1200" dirty="0">
                <a:solidFill>
                  <a:srgbClr val="16302A"/>
                </a:solidFill>
                <a:latin typeface="Calibri" pitchFamily="34" charset="0"/>
                <a:ea typeface="Calibri" pitchFamily="34" charset="-122"/>
                <a:cs typeface="Calibri" pitchFamily="34" charset="-120"/>
              </a:rPr>
              <a:t>Philippe découvre que certains services référencés dans Mon espace santé peuvent y verser ses mesures de santé ; il en parle à l'IPA lors de sa visite suivante.</a:t>
            </a:r>
            <a:endParaRPr lang="en-US" sz="1200" dirty="0"/>
          </a:p>
        </p:txBody>
      </p:sp>
      <p:sp>
        <p:nvSpPr>
          <p:cNvPr id="49" name="Text 47"/>
          <p:cNvSpPr txBox="1"/>
          <p:nvPr/>
        </p:nvSpPr>
        <p:spPr>
          <a:xfrm>
            <a:off x="457200" y="6446520"/>
            <a:ext cx="11247120" cy="274320"/>
          </a:xfrm>
          <a:prstGeom prst="rect">
            <a:avLst/>
          </a:prstGeom>
          <a:noFill/>
          <a:ln/>
        </p:spPr>
        <p:txBody>
          <a:bodyPr wrap="square" lIns="0" tIns="0" rIns="0" bIns="0" rtlCol="0" anchor="ctr"/>
          <a:lstStyle/>
          <a:p>
            <a:pPr indent="0" marL="0">
              <a:buNone/>
            </a:pPr>
            <a:r>
              <a:rPr lang="en-US" sz="1000" i="1" dirty="0">
                <a:solidFill>
                  <a:srgbClr val="6B7A73"/>
                </a:solidFill>
                <a:latin typeface="Calibri" pitchFamily="34" charset="0"/>
                <a:ea typeface="Calibri" pitchFamily="34" charset="-122"/>
                <a:cs typeface="Calibri" pitchFamily="34" charset="-120"/>
              </a:rPr>
              <a:t>Placez les personnages dans « Qui ? » et la carte outil dans « Outil ? ». Au moins deux cartes irritants par frise.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Cartes outils et services (1/2)</a:t>
            </a:r>
            <a:endParaRPr lang="en-US" sz="2000" dirty="0"/>
          </a:p>
        </p:txBody>
      </p:sp>
      <p:sp>
        <p:nvSpPr>
          <p:cNvPr id="3" name="carte_DMP"/>
          <p:cNvSpPr/>
          <p:nvPr/>
        </p:nvSpPr>
        <p:spPr>
          <a:xfrm>
            <a:off x="521208" y="868680"/>
            <a:ext cx="2651760" cy="2834640"/>
          </a:xfrm>
          <a:prstGeom prst="roundRect">
            <a:avLst>
              <a:gd name="adj" fmla="val 3448"/>
            </a:avLst>
          </a:prstGeom>
          <a:solidFill>
            <a:srgbClr val="FFFFFF"/>
          </a:solidFill>
          <a:ln w="12700">
            <a:solidFill>
              <a:srgbClr val="B9C4BC"/>
            </a:solidFill>
            <a:prstDash val="dash"/>
          </a:ln>
        </p:spPr>
      </p:sp>
      <p:sp>
        <p:nvSpPr>
          <p:cNvPr id="4" name="pastille_DMP"/>
          <p:cNvSpPr/>
          <p:nvPr/>
        </p:nvSpPr>
        <p:spPr>
          <a:xfrm>
            <a:off x="1458468" y="1033272"/>
            <a:ext cx="777240" cy="777240"/>
          </a:xfrm>
          <a:prstGeom prst="ellipse">
            <a:avLst/>
          </a:prstGeom>
          <a:solidFill>
            <a:srgbClr val="2F6E62"/>
          </a:solidFill>
          <a:ln/>
        </p:spPr>
      </p:sp>
      <p:pic>
        <p:nvPicPr>
          <p:cNvPr id="5" name="icone_DMP" descr="preencoded.png">    </p:cNvPr>
          <p:cNvPicPr>
            <a:picLocks noChangeAspect="1"/>
          </p:cNvPicPr>
          <p:nvPr/>
        </p:nvPicPr>
        <p:blipFill>
          <a:blip r:embed="rId1"/>
          <a:stretch>
            <a:fillRect/>
          </a:stretch>
        </p:blipFill>
        <p:spPr>
          <a:xfrm>
            <a:off x="1645920" y="1220724"/>
            <a:ext cx="402336" cy="402336"/>
          </a:xfrm>
          <a:prstGeom prst="rect">
            <a:avLst/>
          </a:prstGeom>
        </p:spPr>
      </p:pic>
      <p:sp>
        <p:nvSpPr>
          <p:cNvPr id="6" name="Text 3"/>
          <p:cNvSpPr txBox="1"/>
          <p:nvPr/>
        </p:nvSpPr>
        <p:spPr>
          <a:xfrm>
            <a:off x="63093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DMP</a:t>
            </a:r>
            <a:endParaRPr lang="en-US" sz="1600" dirty="0"/>
          </a:p>
        </p:txBody>
      </p:sp>
      <p:sp>
        <p:nvSpPr>
          <p:cNvPr id="7" name="Text 4"/>
          <p:cNvSpPr txBox="1"/>
          <p:nvPr/>
        </p:nvSpPr>
        <p:spPr>
          <a:xfrm>
            <a:off x="63093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Dossier médical partagé</a:t>
            </a:r>
            <a:endParaRPr lang="en-US" sz="1050" dirty="0"/>
          </a:p>
        </p:txBody>
      </p:sp>
      <p:sp>
        <p:nvSpPr>
          <p:cNvPr id="8" name="Text 5"/>
          <p:cNvSpPr txBox="1"/>
          <p:nvPr/>
        </p:nvSpPr>
        <p:spPr>
          <a:xfrm>
            <a:off x="65836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dossier médical numérique du patient : comptes rendus, résultats, lettres de liaison. Alimenté par les professionnels, consulté avec l'accord du patient.</a:t>
            </a:r>
            <a:endParaRPr lang="en-US" sz="1000" dirty="0"/>
          </a:p>
        </p:txBody>
      </p:sp>
      <p:sp>
        <p:nvSpPr>
          <p:cNvPr id="9" name="filet_DMP"/>
          <p:cNvSpPr/>
          <p:nvPr/>
        </p:nvSpPr>
        <p:spPr>
          <a:xfrm>
            <a:off x="704088" y="3319272"/>
            <a:ext cx="2286000" cy="0"/>
          </a:xfrm>
          <a:prstGeom prst="line">
            <a:avLst/>
          </a:prstGeom>
          <a:noFill/>
          <a:ln w="12700">
            <a:solidFill>
              <a:srgbClr val="D9D9D9"/>
            </a:solidFill>
            <a:prstDash val="solid"/>
          </a:ln>
        </p:spPr>
      </p:sp>
      <p:sp>
        <p:nvSpPr>
          <p:cNvPr id="10" name="Text 7"/>
          <p:cNvSpPr txBox="1"/>
          <p:nvPr/>
        </p:nvSpPr>
        <p:spPr>
          <a:xfrm>
            <a:off x="63093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Dossier patient</a:t>
            </a:r>
            <a:endParaRPr lang="en-US" sz="1050" dirty="0"/>
          </a:p>
        </p:txBody>
      </p:sp>
      <p:sp>
        <p:nvSpPr>
          <p:cNvPr id="11" name="carte_MSSanté"/>
          <p:cNvSpPr/>
          <p:nvPr/>
        </p:nvSpPr>
        <p:spPr>
          <a:xfrm>
            <a:off x="3355848" y="868680"/>
            <a:ext cx="2651760" cy="2834640"/>
          </a:xfrm>
          <a:prstGeom prst="roundRect">
            <a:avLst>
              <a:gd name="adj" fmla="val 3448"/>
            </a:avLst>
          </a:prstGeom>
          <a:solidFill>
            <a:srgbClr val="FFFFFF"/>
          </a:solidFill>
          <a:ln w="12700">
            <a:solidFill>
              <a:srgbClr val="B9C4BC"/>
            </a:solidFill>
            <a:prstDash val="dash"/>
          </a:ln>
        </p:spPr>
      </p:sp>
      <p:sp>
        <p:nvSpPr>
          <p:cNvPr id="12" name="pastille_MSSanté"/>
          <p:cNvSpPr/>
          <p:nvPr/>
        </p:nvSpPr>
        <p:spPr>
          <a:xfrm>
            <a:off x="4293108" y="1033272"/>
            <a:ext cx="777240" cy="777240"/>
          </a:xfrm>
          <a:prstGeom prst="ellipse">
            <a:avLst/>
          </a:prstGeom>
          <a:solidFill>
            <a:srgbClr val="2F6E62"/>
          </a:solidFill>
          <a:ln/>
        </p:spPr>
      </p:sp>
      <p:pic>
        <p:nvPicPr>
          <p:cNvPr id="13" name="icone_MSSanté" descr="preencoded.png">    </p:cNvPr>
          <p:cNvPicPr>
            <a:picLocks noChangeAspect="1"/>
          </p:cNvPicPr>
          <p:nvPr/>
        </p:nvPicPr>
        <p:blipFill>
          <a:blip r:embed="rId2"/>
          <a:stretch>
            <a:fillRect/>
          </a:stretch>
        </p:blipFill>
        <p:spPr>
          <a:xfrm>
            <a:off x="4480560" y="1220724"/>
            <a:ext cx="402336" cy="402336"/>
          </a:xfrm>
          <a:prstGeom prst="rect">
            <a:avLst/>
          </a:prstGeom>
        </p:spPr>
      </p:pic>
      <p:sp>
        <p:nvSpPr>
          <p:cNvPr id="14" name="Text 10"/>
          <p:cNvSpPr txBox="1"/>
          <p:nvPr/>
        </p:nvSpPr>
        <p:spPr>
          <a:xfrm>
            <a:off x="346557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MSSanté</a:t>
            </a:r>
            <a:endParaRPr lang="en-US" sz="1600" dirty="0"/>
          </a:p>
        </p:txBody>
      </p:sp>
      <p:sp>
        <p:nvSpPr>
          <p:cNvPr id="15" name="Text 11"/>
          <p:cNvSpPr txBox="1"/>
          <p:nvPr/>
        </p:nvSpPr>
        <p:spPr>
          <a:xfrm>
            <a:off x="346557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Messagerie sécurisée de santé</a:t>
            </a:r>
            <a:endParaRPr lang="en-US" sz="1050" dirty="0"/>
          </a:p>
        </p:txBody>
      </p:sp>
      <p:sp>
        <p:nvSpPr>
          <p:cNvPr id="16" name="Text 12"/>
          <p:cNvSpPr txBox="1"/>
          <p:nvPr/>
        </p:nvSpPr>
        <p:spPr>
          <a:xfrm>
            <a:off x="349300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Échange de documents et de données de santé nominatives entre professionnels, et d'un professionnel vers la messagerie Mon espace santé du patient.</a:t>
            </a:r>
            <a:endParaRPr lang="en-US" sz="1000" dirty="0"/>
          </a:p>
        </p:txBody>
      </p:sp>
      <p:sp>
        <p:nvSpPr>
          <p:cNvPr id="17" name="filet_MSSanté"/>
          <p:cNvSpPr/>
          <p:nvPr/>
        </p:nvSpPr>
        <p:spPr>
          <a:xfrm>
            <a:off x="3538728" y="3319272"/>
            <a:ext cx="2286000" cy="0"/>
          </a:xfrm>
          <a:prstGeom prst="line">
            <a:avLst/>
          </a:prstGeom>
          <a:noFill/>
          <a:ln w="12700">
            <a:solidFill>
              <a:srgbClr val="D9D9D9"/>
            </a:solidFill>
            <a:prstDash val="solid"/>
          </a:ln>
        </p:spPr>
      </p:sp>
      <p:sp>
        <p:nvSpPr>
          <p:cNvPr id="18" name="Text 14"/>
          <p:cNvSpPr txBox="1"/>
          <p:nvPr/>
        </p:nvSpPr>
        <p:spPr>
          <a:xfrm>
            <a:off x="346557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Messagerie sécurisée</a:t>
            </a:r>
            <a:endParaRPr lang="en-US" sz="1050" dirty="0"/>
          </a:p>
        </p:txBody>
      </p:sp>
      <p:sp>
        <p:nvSpPr>
          <p:cNvPr id="19" name="carte_Mon espace santé"/>
          <p:cNvSpPr/>
          <p:nvPr/>
        </p:nvSpPr>
        <p:spPr>
          <a:xfrm>
            <a:off x="6190488" y="868680"/>
            <a:ext cx="2651760" cy="2834640"/>
          </a:xfrm>
          <a:prstGeom prst="roundRect">
            <a:avLst>
              <a:gd name="adj" fmla="val 3448"/>
            </a:avLst>
          </a:prstGeom>
          <a:solidFill>
            <a:srgbClr val="FFFFFF"/>
          </a:solidFill>
          <a:ln w="12700">
            <a:solidFill>
              <a:srgbClr val="B9C4BC"/>
            </a:solidFill>
            <a:prstDash val="dash"/>
          </a:ln>
        </p:spPr>
      </p:sp>
      <p:sp>
        <p:nvSpPr>
          <p:cNvPr id="20" name="pastille_Mon espace santé"/>
          <p:cNvSpPr/>
          <p:nvPr/>
        </p:nvSpPr>
        <p:spPr>
          <a:xfrm>
            <a:off x="7127748" y="1033272"/>
            <a:ext cx="777240" cy="777240"/>
          </a:xfrm>
          <a:prstGeom prst="ellipse">
            <a:avLst/>
          </a:prstGeom>
          <a:solidFill>
            <a:srgbClr val="2F6E62"/>
          </a:solidFill>
          <a:ln/>
        </p:spPr>
      </p:sp>
      <p:pic>
        <p:nvPicPr>
          <p:cNvPr id="21" name="icone_Mon espace santé" descr="preencoded.png">    </p:cNvPr>
          <p:cNvPicPr>
            <a:picLocks noChangeAspect="1"/>
          </p:cNvPicPr>
          <p:nvPr/>
        </p:nvPicPr>
        <p:blipFill>
          <a:blip r:embed="rId3"/>
          <a:stretch>
            <a:fillRect/>
          </a:stretch>
        </p:blipFill>
        <p:spPr>
          <a:xfrm>
            <a:off x="7315200" y="1220724"/>
            <a:ext cx="402336" cy="402336"/>
          </a:xfrm>
          <a:prstGeom prst="rect">
            <a:avLst/>
          </a:prstGeom>
        </p:spPr>
      </p:pic>
      <p:sp>
        <p:nvSpPr>
          <p:cNvPr id="22" name="Text 17"/>
          <p:cNvSpPr txBox="1"/>
          <p:nvPr/>
        </p:nvSpPr>
        <p:spPr>
          <a:xfrm>
            <a:off x="630021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Mon espace santé</a:t>
            </a:r>
            <a:endParaRPr lang="en-US" sz="1600" dirty="0"/>
          </a:p>
        </p:txBody>
      </p:sp>
      <p:sp>
        <p:nvSpPr>
          <p:cNvPr id="23" name="Text 18"/>
          <p:cNvSpPr txBox="1"/>
          <p:nvPr/>
        </p:nvSpPr>
        <p:spPr>
          <a:xfrm>
            <a:off x="630021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Espace numérique de santé du patient</a:t>
            </a:r>
            <a:endParaRPr lang="en-US" sz="1050" dirty="0"/>
          </a:p>
        </p:txBody>
      </p:sp>
      <p:sp>
        <p:nvSpPr>
          <p:cNvPr id="24" name="Text 19"/>
          <p:cNvSpPr txBox="1"/>
          <p:nvPr/>
        </p:nvSpPr>
        <p:spPr>
          <a:xfrm>
            <a:off x="632764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L'espace personnel et sécurisé de chaque assuré : dossier médical (DMP), messagerie de santé, profil médical, agenda de prévention, catalogue de services.</a:t>
            </a:r>
            <a:endParaRPr lang="en-US" sz="1000" dirty="0"/>
          </a:p>
        </p:txBody>
      </p:sp>
      <p:sp>
        <p:nvSpPr>
          <p:cNvPr id="25" name="filet_Mon espace santé"/>
          <p:cNvSpPr/>
          <p:nvPr/>
        </p:nvSpPr>
        <p:spPr>
          <a:xfrm>
            <a:off x="6373368" y="3319272"/>
            <a:ext cx="2286000" cy="0"/>
          </a:xfrm>
          <a:prstGeom prst="line">
            <a:avLst/>
          </a:prstGeom>
          <a:noFill/>
          <a:ln w="12700">
            <a:solidFill>
              <a:srgbClr val="D9D9D9"/>
            </a:solidFill>
            <a:prstDash val="solid"/>
          </a:ln>
        </p:spPr>
      </p:sp>
      <p:sp>
        <p:nvSpPr>
          <p:cNvPr id="26" name="Text 21"/>
          <p:cNvSpPr txBox="1"/>
          <p:nvPr/>
        </p:nvSpPr>
        <p:spPr>
          <a:xfrm>
            <a:off x="630021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Portail patient</a:t>
            </a:r>
            <a:endParaRPr lang="en-US" sz="1050" dirty="0"/>
          </a:p>
        </p:txBody>
      </p:sp>
      <p:sp>
        <p:nvSpPr>
          <p:cNvPr id="27" name="carte_Santélien"/>
          <p:cNvSpPr/>
          <p:nvPr/>
        </p:nvSpPr>
        <p:spPr>
          <a:xfrm>
            <a:off x="9025128" y="868680"/>
            <a:ext cx="2651760" cy="2834640"/>
          </a:xfrm>
          <a:prstGeom prst="roundRect">
            <a:avLst>
              <a:gd name="adj" fmla="val 3448"/>
            </a:avLst>
          </a:prstGeom>
          <a:solidFill>
            <a:srgbClr val="FFFFFF"/>
          </a:solidFill>
          <a:ln w="12700">
            <a:solidFill>
              <a:srgbClr val="B9C4BC"/>
            </a:solidFill>
            <a:prstDash val="dash"/>
          </a:ln>
        </p:spPr>
      </p:sp>
      <p:sp>
        <p:nvSpPr>
          <p:cNvPr id="28" name="pastille_Santélien"/>
          <p:cNvSpPr/>
          <p:nvPr/>
        </p:nvSpPr>
        <p:spPr>
          <a:xfrm>
            <a:off x="9962388" y="1033272"/>
            <a:ext cx="777240" cy="777240"/>
          </a:xfrm>
          <a:prstGeom prst="ellipse">
            <a:avLst/>
          </a:prstGeom>
          <a:solidFill>
            <a:srgbClr val="2F6E62"/>
          </a:solidFill>
          <a:ln/>
        </p:spPr>
      </p:sp>
      <p:pic>
        <p:nvPicPr>
          <p:cNvPr id="29" name="icone_Santélien" descr="preencoded.png">    </p:cNvPr>
          <p:cNvPicPr>
            <a:picLocks noChangeAspect="1"/>
          </p:cNvPicPr>
          <p:nvPr/>
        </p:nvPicPr>
        <p:blipFill>
          <a:blip r:embed="rId4"/>
          <a:stretch>
            <a:fillRect/>
          </a:stretch>
        </p:blipFill>
        <p:spPr>
          <a:xfrm>
            <a:off x="10149840" y="1220724"/>
            <a:ext cx="402336" cy="402336"/>
          </a:xfrm>
          <a:prstGeom prst="rect">
            <a:avLst/>
          </a:prstGeom>
        </p:spPr>
      </p:pic>
      <p:sp>
        <p:nvSpPr>
          <p:cNvPr id="30" name="Text 24"/>
          <p:cNvSpPr txBox="1"/>
          <p:nvPr/>
        </p:nvSpPr>
        <p:spPr>
          <a:xfrm>
            <a:off x="913485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Santélien</a:t>
            </a:r>
            <a:endParaRPr lang="en-US" sz="1600" dirty="0"/>
          </a:p>
        </p:txBody>
      </p:sp>
      <p:sp>
        <p:nvSpPr>
          <p:cNvPr id="31" name="Text 25"/>
          <p:cNvSpPr txBox="1"/>
          <p:nvPr/>
        </p:nvSpPr>
        <p:spPr>
          <a:xfrm>
            <a:off x="913485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Dossier de coordination régional</a:t>
            </a:r>
            <a:endParaRPr lang="en-US" sz="1050" dirty="0"/>
          </a:p>
        </p:txBody>
      </p:sp>
      <p:sp>
        <p:nvSpPr>
          <p:cNvPr id="32" name="Text 26"/>
          <p:cNvSpPr txBox="1"/>
          <p:nvPr/>
        </p:nvSpPr>
        <p:spPr>
          <a:xfrm>
            <a:off x="916228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Un dossier de coordination partagé autour d'un patient : cercle de soins, cahier de liaison, tâches, sollicitation d'équipes ressources. Gratuit pour les professionnels franciliens.</a:t>
            </a:r>
            <a:endParaRPr lang="en-US" sz="1000" dirty="0"/>
          </a:p>
        </p:txBody>
      </p:sp>
      <p:sp>
        <p:nvSpPr>
          <p:cNvPr id="33" name="filet_Santélien"/>
          <p:cNvSpPr/>
          <p:nvPr/>
        </p:nvSpPr>
        <p:spPr>
          <a:xfrm>
            <a:off x="9208008" y="3319272"/>
            <a:ext cx="2286000" cy="0"/>
          </a:xfrm>
          <a:prstGeom prst="line">
            <a:avLst/>
          </a:prstGeom>
          <a:noFill/>
          <a:ln w="12700">
            <a:solidFill>
              <a:srgbClr val="D9D9D9"/>
            </a:solidFill>
            <a:prstDash val="solid"/>
          </a:ln>
        </p:spPr>
      </p:sp>
      <p:sp>
        <p:nvSpPr>
          <p:cNvPr id="34" name="Text 28"/>
          <p:cNvSpPr txBox="1"/>
          <p:nvPr/>
        </p:nvSpPr>
        <p:spPr>
          <a:xfrm>
            <a:off x="913485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Coordination</a:t>
            </a:r>
            <a:endParaRPr lang="en-US" sz="1050" dirty="0"/>
          </a:p>
        </p:txBody>
      </p:sp>
      <p:sp>
        <p:nvSpPr>
          <p:cNvPr id="35" name="carte_Chat de Santélien"/>
          <p:cNvSpPr/>
          <p:nvPr/>
        </p:nvSpPr>
        <p:spPr>
          <a:xfrm>
            <a:off x="521208" y="3840480"/>
            <a:ext cx="2651760" cy="2834640"/>
          </a:xfrm>
          <a:prstGeom prst="roundRect">
            <a:avLst>
              <a:gd name="adj" fmla="val 3448"/>
            </a:avLst>
          </a:prstGeom>
          <a:solidFill>
            <a:srgbClr val="FFFFFF"/>
          </a:solidFill>
          <a:ln w="12700">
            <a:solidFill>
              <a:srgbClr val="B9C4BC"/>
            </a:solidFill>
            <a:prstDash val="dash"/>
          </a:ln>
        </p:spPr>
      </p:sp>
      <p:sp>
        <p:nvSpPr>
          <p:cNvPr id="36" name="pastille_Chat de Santélien"/>
          <p:cNvSpPr/>
          <p:nvPr/>
        </p:nvSpPr>
        <p:spPr>
          <a:xfrm>
            <a:off x="1458468" y="4005072"/>
            <a:ext cx="777240" cy="777240"/>
          </a:xfrm>
          <a:prstGeom prst="ellipse">
            <a:avLst/>
          </a:prstGeom>
          <a:solidFill>
            <a:srgbClr val="2F6E62"/>
          </a:solidFill>
          <a:ln/>
        </p:spPr>
      </p:sp>
      <p:pic>
        <p:nvPicPr>
          <p:cNvPr id="37" name="icone_Chat de Santélien" descr="preencoded.png">    </p:cNvPr>
          <p:cNvPicPr>
            <a:picLocks noChangeAspect="1"/>
          </p:cNvPicPr>
          <p:nvPr/>
        </p:nvPicPr>
        <p:blipFill>
          <a:blip r:embed="rId5"/>
          <a:stretch>
            <a:fillRect/>
          </a:stretch>
        </p:blipFill>
        <p:spPr>
          <a:xfrm>
            <a:off x="1645920" y="4192524"/>
            <a:ext cx="402336" cy="402336"/>
          </a:xfrm>
          <a:prstGeom prst="rect">
            <a:avLst/>
          </a:prstGeom>
        </p:spPr>
      </p:pic>
      <p:sp>
        <p:nvSpPr>
          <p:cNvPr id="38" name="Text 31"/>
          <p:cNvSpPr txBox="1"/>
          <p:nvPr/>
        </p:nvSpPr>
        <p:spPr>
          <a:xfrm>
            <a:off x="630936" y="48463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Chat de Santélien</a:t>
            </a:r>
            <a:endParaRPr lang="en-US" sz="1600" dirty="0"/>
          </a:p>
        </p:txBody>
      </p:sp>
      <p:sp>
        <p:nvSpPr>
          <p:cNvPr id="39" name="Text 32"/>
          <p:cNvSpPr txBox="1"/>
          <p:nvPr/>
        </p:nvSpPr>
        <p:spPr>
          <a:xfrm>
            <a:off x="63093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Messagerie instantanée sécurisée</a:t>
            </a:r>
            <a:endParaRPr lang="en-US" sz="1050" dirty="0"/>
          </a:p>
        </p:txBody>
      </p:sp>
      <p:sp>
        <p:nvSpPr>
          <p:cNvPr id="40" name="Text 33"/>
          <p:cNvSpPr txBox="1"/>
          <p:nvPr/>
        </p:nvSpPr>
        <p:spPr>
          <a:xfrm>
            <a:off x="65836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tchat intégré à Santélien, pour joindre en un clic les membres du cercle de soins d'un patient, sur ordinateur ou sur mobile.</a:t>
            </a:r>
            <a:endParaRPr lang="en-US" sz="1000" dirty="0"/>
          </a:p>
        </p:txBody>
      </p:sp>
      <p:sp>
        <p:nvSpPr>
          <p:cNvPr id="41" name="filet_Chat de Santélien"/>
          <p:cNvSpPr/>
          <p:nvPr/>
        </p:nvSpPr>
        <p:spPr>
          <a:xfrm>
            <a:off x="704088" y="6291072"/>
            <a:ext cx="2286000" cy="0"/>
          </a:xfrm>
          <a:prstGeom prst="line">
            <a:avLst/>
          </a:prstGeom>
          <a:noFill/>
          <a:ln w="12700">
            <a:solidFill>
              <a:srgbClr val="D9D9D9"/>
            </a:solidFill>
            <a:prstDash val="solid"/>
          </a:ln>
        </p:spPr>
      </p:sp>
      <p:sp>
        <p:nvSpPr>
          <p:cNvPr id="42" name="Text 35"/>
          <p:cNvSpPr txBox="1"/>
          <p:nvPr/>
        </p:nvSpPr>
        <p:spPr>
          <a:xfrm>
            <a:off x="63093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Messagerie instantanée</a:t>
            </a:r>
            <a:endParaRPr lang="en-US" sz="1050" dirty="0"/>
          </a:p>
        </p:txBody>
      </p:sp>
      <p:sp>
        <p:nvSpPr>
          <p:cNvPr id="43" name="carte_ROR"/>
          <p:cNvSpPr/>
          <p:nvPr/>
        </p:nvSpPr>
        <p:spPr>
          <a:xfrm>
            <a:off x="3355848" y="3840480"/>
            <a:ext cx="2651760" cy="2834640"/>
          </a:xfrm>
          <a:prstGeom prst="roundRect">
            <a:avLst>
              <a:gd name="adj" fmla="val 3448"/>
            </a:avLst>
          </a:prstGeom>
          <a:solidFill>
            <a:srgbClr val="FFFFFF"/>
          </a:solidFill>
          <a:ln w="12700">
            <a:solidFill>
              <a:srgbClr val="B9C4BC"/>
            </a:solidFill>
            <a:prstDash val="dash"/>
          </a:ln>
        </p:spPr>
      </p:sp>
      <p:sp>
        <p:nvSpPr>
          <p:cNvPr id="44" name="pastille_ROR"/>
          <p:cNvSpPr/>
          <p:nvPr/>
        </p:nvSpPr>
        <p:spPr>
          <a:xfrm>
            <a:off x="4293108" y="4005072"/>
            <a:ext cx="777240" cy="777240"/>
          </a:xfrm>
          <a:prstGeom prst="ellipse">
            <a:avLst/>
          </a:prstGeom>
          <a:solidFill>
            <a:srgbClr val="2F6E62"/>
          </a:solidFill>
          <a:ln/>
        </p:spPr>
      </p:sp>
      <p:pic>
        <p:nvPicPr>
          <p:cNvPr id="45" name="icone_ROR" descr="preencoded.png">    </p:cNvPr>
          <p:cNvPicPr>
            <a:picLocks noChangeAspect="1"/>
          </p:cNvPicPr>
          <p:nvPr/>
        </p:nvPicPr>
        <p:blipFill>
          <a:blip r:embed="rId6"/>
          <a:stretch>
            <a:fillRect/>
          </a:stretch>
        </p:blipFill>
        <p:spPr>
          <a:xfrm>
            <a:off x="4480560" y="4192524"/>
            <a:ext cx="402336" cy="402336"/>
          </a:xfrm>
          <a:prstGeom prst="rect">
            <a:avLst/>
          </a:prstGeom>
        </p:spPr>
      </p:pic>
      <p:sp>
        <p:nvSpPr>
          <p:cNvPr id="46" name="Text 38"/>
          <p:cNvSpPr txBox="1"/>
          <p:nvPr/>
        </p:nvSpPr>
        <p:spPr>
          <a:xfrm>
            <a:off x="3465576" y="48463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ROR</a:t>
            </a:r>
            <a:endParaRPr lang="en-US" sz="1600" dirty="0"/>
          </a:p>
        </p:txBody>
      </p:sp>
      <p:sp>
        <p:nvSpPr>
          <p:cNvPr id="47" name="Text 39"/>
          <p:cNvSpPr txBox="1"/>
          <p:nvPr/>
        </p:nvSpPr>
        <p:spPr>
          <a:xfrm>
            <a:off x="346557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Répertoire opérationnel des ressources</a:t>
            </a:r>
            <a:endParaRPr lang="en-US" sz="1050" dirty="0"/>
          </a:p>
        </p:txBody>
      </p:sp>
      <p:sp>
        <p:nvSpPr>
          <p:cNvPr id="48" name="Text 40"/>
          <p:cNvSpPr txBox="1"/>
          <p:nvPr/>
        </p:nvSpPr>
        <p:spPr>
          <a:xfrm>
            <a:off x="349300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référentiel qui décrit l'offre de santé d'un territoire (sanitaire, médico-social, social) et alimente les outils d'orientation et les annuaires régionaux.</a:t>
            </a:r>
            <a:endParaRPr lang="en-US" sz="1000" dirty="0"/>
          </a:p>
        </p:txBody>
      </p:sp>
      <p:sp>
        <p:nvSpPr>
          <p:cNvPr id="49" name="filet_ROR"/>
          <p:cNvSpPr/>
          <p:nvPr/>
        </p:nvSpPr>
        <p:spPr>
          <a:xfrm>
            <a:off x="3538728" y="6291072"/>
            <a:ext cx="2286000" cy="0"/>
          </a:xfrm>
          <a:prstGeom prst="line">
            <a:avLst/>
          </a:prstGeom>
          <a:noFill/>
          <a:ln w="12700">
            <a:solidFill>
              <a:srgbClr val="D9D9D9"/>
            </a:solidFill>
            <a:prstDash val="solid"/>
          </a:ln>
        </p:spPr>
      </p:sp>
      <p:sp>
        <p:nvSpPr>
          <p:cNvPr id="50" name="Text 42"/>
          <p:cNvSpPr txBox="1"/>
          <p:nvPr/>
        </p:nvSpPr>
        <p:spPr>
          <a:xfrm>
            <a:off x="346557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Annuaire ressources</a:t>
            </a:r>
            <a:endParaRPr lang="en-US" sz="1050" dirty="0"/>
          </a:p>
        </p:txBody>
      </p:sp>
      <p:sp>
        <p:nvSpPr>
          <p:cNvPr id="51" name="carte_Le téléphone"/>
          <p:cNvSpPr/>
          <p:nvPr/>
        </p:nvSpPr>
        <p:spPr>
          <a:xfrm>
            <a:off x="6190488" y="3840480"/>
            <a:ext cx="2651760" cy="2834640"/>
          </a:xfrm>
          <a:prstGeom prst="roundRect">
            <a:avLst>
              <a:gd name="adj" fmla="val 3448"/>
            </a:avLst>
          </a:prstGeom>
          <a:solidFill>
            <a:srgbClr val="FFFFFF"/>
          </a:solidFill>
          <a:ln w="12700">
            <a:solidFill>
              <a:srgbClr val="B9C4BC"/>
            </a:solidFill>
            <a:prstDash val="dash"/>
          </a:ln>
        </p:spPr>
      </p:sp>
      <p:sp>
        <p:nvSpPr>
          <p:cNvPr id="52" name="pastille_Le téléphone"/>
          <p:cNvSpPr/>
          <p:nvPr/>
        </p:nvSpPr>
        <p:spPr>
          <a:xfrm>
            <a:off x="7127748" y="4005072"/>
            <a:ext cx="777240" cy="777240"/>
          </a:xfrm>
          <a:prstGeom prst="ellipse">
            <a:avLst/>
          </a:prstGeom>
          <a:solidFill>
            <a:srgbClr val="2F6E62"/>
          </a:solidFill>
          <a:ln/>
        </p:spPr>
      </p:sp>
      <p:pic>
        <p:nvPicPr>
          <p:cNvPr id="53" name="icone_Le téléphone" descr="preencoded.png">    </p:cNvPr>
          <p:cNvPicPr>
            <a:picLocks noChangeAspect="1"/>
          </p:cNvPicPr>
          <p:nvPr/>
        </p:nvPicPr>
        <p:blipFill>
          <a:blip r:embed="rId7"/>
          <a:stretch>
            <a:fillRect/>
          </a:stretch>
        </p:blipFill>
        <p:spPr>
          <a:xfrm>
            <a:off x="7315200" y="4192524"/>
            <a:ext cx="402336" cy="402336"/>
          </a:xfrm>
          <a:prstGeom prst="rect">
            <a:avLst/>
          </a:prstGeom>
        </p:spPr>
      </p:pic>
      <p:sp>
        <p:nvSpPr>
          <p:cNvPr id="54" name="Text 45"/>
          <p:cNvSpPr txBox="1"/>
          <p:nvPr/>
        </p:nvSpPr>
        <p:spPr>
          <a:xfrm>
            <a:off x="6300216" y="48463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Le téléphone</a:t>
            </a:r>
            <a:endParaRPr lang="en-US" sz="1600" dirty="0"/>
          </a:p>
        </p:txBody>
      </p:sp>
      <p:sp>
        <p:nvSpPr>
          <p:cNvPr id="55" name="Text 46"/>
          <p:cNvSpPr txBox="1"/>
          <p:nvPr/>
        </p:nvSpPr>
        <p:spPr>
          <a:xfrm>
            <a:off x="630021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Contact direct</a:t>
            </a:r>
            <a:endParaRPr lang="en-US" sz="1050" dirty="0"/>
          </a:p>
        </p:txBody>
      </p:sp>
      <p:sp>
        <p:nvSpPr>
          <p:cNvPr id="56" name="Text 47"/>
          <p:cNvSpPr txBox="1"/>
          <p:nvPr/>
        </p:nvSpPr>
        <p:spPr>
          <a:xfrm>
            <a:off x="632764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réflexe pour joindre vite un confrère ou une structure quand l'urgence ou la nature de l'échange le justifie. Ne laisse aucune trace partagée.</a:t>
            </a:r>
            <a:endParaRPr lang="en-US" sz="1000" dirty="0"/>
          </a:p>
        </p:txBody>
      </p:sp>
      <p:sp>
        <p:nvSpPr>
          <p:cNvPr id="57" name="filet_Le téléphone"/>
          <p:cNvSpPr/>
          <p:nvPr/>
        </p:nvSpPr>
        <p:spPr>
          <a:xfrm>
            <a:off x="6373368" y="6291072"/>
            <a:ext cx="2286000" cy="0"/>
          </a:xfrm>
          <a:prstGeom prst="line">
            <a:avLst/>
          </a:prstGeom>
          <a:noFill/>
          <a:ln w="12700">
            <a:solidFill>
              <a:srgbClr val="D9D9D9"/>
            </a:solidFill>
            <a:prstDash val="solid"/>
          </a:ln>
        </p:spPr>
      </p:sp>
      <p:sp>
        <p:nvSpPr>
          <p:cNvPr id="58" name="Text 49"/>
          <p:cNvSpPr txBox="1"/>
          <p:nvPr/>
        </p:nvSpPr>
        <p:spPr>
          <a:xfrm>
            <a:off x="630021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Contact direct</a:t>
            </a:r>
            <a:endParaRPr lang="en-US" sz="1050" dirty="0"/>
          </a:p>
        </p:txBody>
      </p:sp>
      <p:sp>
        <p:nvSpPr>
          <p:cNvPr id="59" name="carte_ViaTrajectoire"/>
          <p:cNvSpPr/>
          <p:nvPr/>
        </p:nvSpPr>
        <p:spPr>
          <a:xfrm>
            <a:off x="9025128" y="3840480"/>
            <a:ext cx="2651760" cy="2834640"/>
          </a:xfrm>
          <a:prstGeom prst="roundRect">
            <a:avLst>
              <a:gd name="adj" fmla="val 3448"/>
            </a:avLst>
          </a:prstGeom>
          <a:solidFill>
            <a:srgbClr val="FFFFFF"/>
          </a:solidFill>
          <a:ln w="12700">
            <a:solidFill>
              <a:srgbClr val="B9C4BC"/>
            </a:solidFill>
            <a:prstDash val="dash"/>
          </a:ln>
        </p:spPr>
      </p:sp>
      <p:sp>
        <p:nvSpPr>
          <p:cNvPr id="60" name="pastille_ViaTrajectoire"/>
          <p:cNvSpPr/>
          <p:nvPr/>
        </p:nvSpPr>
        <p:spPr>
          <a:xfrm>
            <a:off x="9962388" y="4005072"/>
            <a:ext cx="777240" cy="777240"/>
          </a:xfrm>
          <a:prstGeom prst="ellipse">
            <a:avLst/>
          </a:prstGeom>
          <a:solidFill>
            <a:srgbClr val="2F6E62"/>
          </a:solidFill>
          <a:ln/>
        </p:spPr>
      </p:sp>
      <p:pic>
        <p:nvPicPr>
          <p:cNvPr id="61" name="icone_ViaTrajectoire" descr="preencoded.png">    </p:cNvPr>
          <p:cNvPicPr>
            <a:picLocks noChangeAspect="1"/>
          </p:cNvPicPr>
          <p:nvPr/>
        </p:nvPicPr>
        <p:blipFill>
          <a:blip r:embed="rId8"/>
          <a:stretch>
            <a:fillRect/>
          </a:stretch>
        </p:blipFill>
        <p:spPr>
          <a:xfrm>
            <a:off x="10149840" y="4192524"/>
            <a:ext cx="402336" cy="402336"/>
          </a:xfrm>
          <a:prstGeom prst="rect">
            <a:avLst/>
          </a:prstGeom>
        </p:spPr>
      </p:pic>
      <p:sp>
        <p:nvSpPr>
          <p:cNvPr id="62" name="Text 52"/>
          <p:cNvSpPr txBox="1"/>
          <p:nvPr/>
        </p:nvSpPr>
        <p:spPr>
          <a:xfrm>
            <a:off x="9134856" y="48463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ViaTrajectoire</a:t>
            </a:r>
            <a:endParaRPr lang="en-US" sz="1600" dirty="0"/>
          </a:p>
        </p:txBody>
      </p:sp>
      <p:sp>
        <p:nvSpPr>
          <p:cNvPr id="63" name="Text 53"/>
          <p:cNvSpPr txBox="1"/>
          <p:nvPr/>
        </p:nvSpPr>
        <p:spPr>
          <a:xfrm>
            <a:off x="913485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Orientation et admission</a:t>
            </a:r>
            <a:endParaRPr lang="en-US" sz="1050" dirty="0"/>
          </a:p>
        </p:txBody>
      </p:sp>
      <p:sp>
        <p:nvSpPr>
          <p:cNvPr id="64" name="Text 54"/>
          <p:cNvSpPr txBox="1"/>
          <p:nvPr/>
        </p:nvSpPr>
        <p:spPr>
          <a:xfrm>
            <a:off x="916228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service public national d'orientation : demandes d'admission en SMR, HAD, EHPAD, unités de soins palliatifs ; volet PRADO en cours de généralisation.</a:t>
            </a:r>
            <a:endParaRPr lang="en-US" sz="1000" dirty="0"/>
          </a:p>
        </p:txBody>
      </p:sp>
      <p:sp>
        <p:nvSpPr>
          <p:cNvPr id="65" name="filet_ViaTrajectoire"/>
          <p:cNvSpPr/>
          <p:nvPr/>
        </p:nvSpPr>
        <p:spPr>
          <a:xfrm>
            <a:off x="9208008" y="6291072"/>
            <a:ext cx="2286000" cy="0"/>
          </a:xfrm>
          <a:prstGeom prst="line">
            <a:avLst/>
          </a:prstGeom>
          <a:noFill/>
          <a:ln w="12700">
            <a:solidFill>
              <a:srgbClr val="D9D9D9"/>
            </a:solidFill>
            <a:prstDash val="solid"/>
          </a:ln>
        </p:spPr>
      </p:sp>
      <p:sp>
        <p:nvSpPr>
          <p:cNvPr id="66" name="Text 56"/>
          <p:cNvSpPr txBox="1"/>
          <p:nvPr/>
        </p:nvSpPr>
        <p:spPr>
          <a:xfrm>
            <a:off x="913485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Orientation / admission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Cartes outils et services (2/2)</a:t>
            </a:r>
            <a:endParaRPr lang="en-US" sz="2000" dirty="0"/>
          </a:p>
        </p:txBody>
      </p:sp>
      <p:sp>
        <p:nvSpPr>
          <p:cNvPr id="3" name="carte_Maillage"/>
          <p:cNvSpPr/>
          <p:nvPr/>
        </p:nvSpPr>
        <p:spPr>
          <a:xfrm>
            <a:off x="521208" y="868680"/>
            <a:ext cx="2651760" cy="2834640"/>
          </a:xfrm>
          <a:prstGeom prst="roundRect">
            <a:avLst>
              <a:gd name="adj" fmla="val 3448"/>
            </a:avLst>
          </a:prstGeom>
          <a:solidFill>
            <a:srgbClr val="FFFFFF"/>
          </a:solidFill>
          <a:ln w="12700">
            <a:solidFill>
              <a:srgbClr val="B9C4BC"/>
            </a:solidFill>
            <a:prstDash val="dash"/>
          </a:ln>
        </p:spPr>
      </p:sp>
      <p:sp>
        <p:nvSpPr>
          <p:cNvPr id="4" name="pastille_Maillage"/>
          <p:cNvSpPr/>
          <p:nvPr/>
        </p:nvSpPr>
        <p:spPr>
          <a:xfrm>
            <a:off x="1458468" y="1033272"/>
            <a:ext cx="777240" cy="777240"/>
          </a:xfrm>
          <a:prstGeom prst="ellipse">
            <a:avLst/>
          </a:prstGeom>
          <a:solidFill>
            <a:srgbClr val="2F6E62"/>
          </a:solidFill>
          <a:ln/>
        </p:spPr>
      </p:sp>
      <p:pic>
        <p:nvPicPr>
          <p:cNvPr id="5" name="icone_Maillage" descr="preencoded.png">    </p:cNvPr>
          <p:cNvPicPr>
            <a:picLocks noChangeAspect="1"/>
          </p:cNvPicPr>
          <p:nvPr/>
        </p:nvPicPr>
        <p:blipFill>
          <a:blip r:embed="rId1"/>
          <a:stretch>
            <a:fillRect/>
          </a:stretch>
        </p:blipFill>
        <p:spPr>
          <a:xfrm>
            <a:off x="1645920" y="1220724"/>
            <a:ext cx="402336" cy="402336"/>
          </a:xfrm>
          <a:prstGeom prst="rect">
            <a:avLst/>
          </a:prstGeom>
        </p:spPr>
      </p:pic>
      <p:sp>
        <p:nvSpPr>
          <p:cNvPr id="6" name="Text 3"/>
          <p:cNvSpPr txBox="1"/>
          <p:nvPr/>
        </p:nvSpPr>
        <p:spPr>
          <a:xfrm>
            <a:off x="63093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Maillage</a:t>
            </a:r>
            <a:endParaRPr lang="en-US" sz="1600" dirty="0"/>
          </a:p>
        </p:txBody>
      </p:sp>
      <p:sp>
        <p:nvSpPr>
          <p:cNvPr id="7" name="Text 4"/>
          <p:cNvSpPr txBox="1"/>
          <p:nvPr/>
        </p:nvSpPr>
        <p:spPr>
          <a:xfrm>
            <a:off x="63093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Portail départemental santé-autonomie</a:t>
            </a:r>
            <a:endParaRPr lang="en-US" sz="1050" dirty="0"/>
          </a:p>
        </p:txBody>
      </p:sp>
      <p:sp>
        <p:nvSpPr>
          <p:cNvPr id="8" name="Text 5"/>
          <p:cNvSpPr txBox="1"/>
          <p:nvPr/>
        </p:nvSpPr>
        <p:spPr>
          <a:xfrm>
            <a:off x="65836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Portail réservé aux professionnels, animé par les DAC : recherche de l'offre sanitaire, médico-sociale et sociale du département, cartographie, actualités.</a:t>
            </a:r>
            <a:endParaRPr lang="en-US" sz="1000" dirty="0"/>
          </a:p>
        </p:txBody>
      </p:sp>
      <p:sp>
        <p:nvSpPr>
          <p:cNvPr id="9" name="filet_Maillage"/>
          <p:cNvSpPr/>
          <p:nvPr/>
        </p:nvSpPr>
        <p:spPr>
          <a:xfrm>
            <a:off x="704088" y="3319272"/>
            <a:ext cx="2286000" cy="0"/>
          </a:xfrm>
          <a:prstGeom prst="line">
            <a:avLst/>
          </a:prstGeom>
          <a:noFill/>
          <a:ln w="12700">
            <a:solidFill>
              <a:srgbClr val="D9D9D9"/>
            </a:solidFill>
            <a:prstDash val="solid"/>
          </a:ln>
        </p:spPr>
      </p:sp>
      <p:sp>
        <p:nvSpPr>
          <p:cNvPr id="10" name="Text 7"/>
          <p:cNvSpPr txBox="1"/>
          <p:nvPr/>
        </p:nvSpPr>
        <p:spPr>
          <a:xfrm>
            <a:off x="63093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Portail territorial</a:t>
            </a:r>
            <a:endParaRPr lang="en-US" sz="1050" dirty="0"/>
          </a:p>
        </p:txBody>
      </p:sp>
      <p:sp>
        <p:nvSpPr>
          <p:cNvPr id="11" name="carte_Télésanté"/>
          <p:cNvSpPr/>
          <p:nvPr/>
        </p:nvSpPr>
        <p:spPr>
          <a:xfrm>
            <a:off x="3355848" y="868680"/>
            <a:ext cx="2651760" cy="2834640"/>
          </a:xfrm>
          <a:prstGeom prst="roundRect">
            <a:avLst>
              <a:gd name="adj" fmla="val 3448"/>
            </a:avLst>
          </a:prstGeom>
          <a:solidFill>
            <a:srgbClr val="FFFFFF"/>
          </a:solidFill>
          <a:ln w="12700">
            <a:solidFill>
              <a:srgbClr val="B9C4BC"/>
            </a:solidFill>
            <a:prstDash val="dash"/>
          </a:ln>
        </p:spPr>
      </p:sp>
      <p:sp>
        <p:nvSpPr>
          <p:cNvPr id="12" name="pastille_Télésanté"/>
          <p:cNvSpPr/>
          <p:nvPr/>
        </p:nvSpPr>
        <p:spPr>
          <a:xfrm>
            <a:off x="4293108" y="1033272"/>
            <a:ext cx="777240" cy="777240"/>
          </a:xfrm>
          <a:prstGeom prst="ellipse">
            <a:avLst/>
          </a:prstGeom>
          <a:solidFill>
            <a:srgbClr val="2F6E62"/>
          </a:solidFill>
          <a:ln/>
        </p:spPr>
      </p:sp>
      <p:pic>
        <p:nvPicPr>
          <p:cNvPr id="13" name="icone_Télésanté" descr="preencoded.png">    </p:cNvPr>
          <p:cNvPicPr>
            <a:picLocks noChangeAspect="1"/>
          </p:cNvPicPr>
          <p:nvPr/>
        </p:nvPicPr>
        <p:blipFill>
          <a:blip r:embed="rId2"/>
          <a:stretch>
            <a:fillRect/>
          </a:stretch>
        </p:blipFill>
        <p:spPr>
          <a:xfrm>
            <a:off x="4480560" y="1220724"/>
            <a:ext cx="402336" cy="402336"/>
          </a:xfrm>
          <a:prstGeom prst="rect">
            <a:avLst/>
          </a:prstGeom>
        </p:spPr>
      </p:pic>
      <p:sp>
        <p:nvSpPr>
          <p:cNvPr id="14" name="Text 10"/>
          <p:cNvSpPr txBox="1"/>
          <p:nvPr/>
        </p:nvSpPr>
        <p:spPr>
          <a:xfrm>
            <a:off x="346557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Télésanté</a:t>
            </a:r>
            <a:endParaRPr lang="en-US" sz="1600" dirty="0"/>
          </a:p>
        </p:txBody>
      </p:sp>
      <p:sp>
        <p:nvSpPr>
          <p:cNvPr id="15" name="Text 11"/>
          <p:cNvSpPr txBox="1"/>
          <p:nvPr/>
        </p:nvSpPr>
        <p:spPr>
          <a:xfrm>
            <a:off x="346557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Prise en charge à distance</a:t>
            </a:r>
            <a:endParaRPr lang="en-US" sz="1050" dirty="0"/>
          </a:p>
        </p:txBody>
      </p:sp>
      <p:sp>
        <p:nvSpPr>
          <p:cNvPr id="16" name="Text 12"/>
          <p:cNvSpPr txBox="1"/>
          <p:nvPr/>
        </p:nvSpPr>
        <p:spPr>
          <a:xfrm>
            <a:off x="349300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Téléconsultation, téléexpertise, télésoin, télésurveillance : utilisez les sous-cartes pour préciser la modalité adaptée.</a:t>
            </a:r>
            <a:endParaRPr lang="en-US" sz="1000" dirty="0"/>
          </a:p>
        </p:txBody>
      </p:sp>
      <p:sp>
        <p:nvSpPr>
          <p:cNvPr id="17" name="filet_Télésanté"/>
          <p:cNvSpPr/>
          <p:nvPr/>
        </p:nvSpPr>
        <p:spPr>
          <a:xfrm>
            <a:off x="3538728" y="3319272"/>
            <a:ext cx="2286000" cy="0"/>
          </a:xfrm>
          <a:prstGeom prst="line">
            <a:avLst/>
          </a:prstGeom>
          <a:noFill/>
          <a:ln w="12700">
            <a:solidFill>
              <a:srgbClr val="D9D9D9"/>
            </a:solidFill>
            <a:prstDash val="solid"/>
          </a:ln>
        </p:spPr>
      </p:sp>
      <p:sp>
        <p:nvSpPr>
          <p:cNvPr id="18" name="Text 14"/>
          <p:cNvSpPr txBox="1"/>
          <p:nvPr/>
        </p:nvSpPr>
        <p:spPr>
          <a:xfrm>
            <a:off x="346557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Prise en charge à distance</a:t>
            </a:r>
            <a:endParaRPr lang="en-US" sz="1050" dirty="0"/>
          </a:p>
        </p:txBody>
      </p:sp>
      <p:sp>
        <p:nvSpPr>
          <p:cNvPr id="19" name="carte_Gmail"/>
          <p:cNvSpPr/>
          <p:nvPr/>
        </p:nvSpPr>
        <p:spPr>
          <a:xfrm>
            <a:off x="6190488" y="868680"/>
            <a:ext cx="2651760" cy="2834640"/>
          </a:xfrm>
          <a:prstGeom prst="roundRect">
            <a:avLst>
              <a:gd name="adj" fmla="val 3448"/>
            </a:avLst>
          </a:prstGeom>
          <a:solidFill>
            <a:srgbClr val="FFFFFF"/>
          </a:solidFill>
          <a:ln w="12700">
            <a:solidFill>
              <a:srgbClr val="B9C4BC"/>
            </a:solidFill>
            <a:prstDash val="dash"/>
          </a:ln>
        </p:spPr>
      </p:sp>
      <p:sp>
        <p:nvSpPr>
          <p:cNvPr id="20" name="pastille_Gmail"/>
          <p:cNvSpPr/>
          <p:nvPr/>
        </p:nvSpPr>
        <p:spPr>
          <a:xfrm>
            <a:off x="7127748" y="1033272"/>
            <a:ext cx="777240" cy="777240"/>
          </a:xfrm>
          <a:prstGeom prst="ellipse">
            <a:avLst/>
          </a:prstGeom>
          <a:solidFill>
            <a:srgbClr val="2F6E62"/>
          </a:solidFill>
          <a:ln/>
        </p:spPr>
      </p:sp>
      <p:pic>
        <p:nvPicPr>
          <p:cNvPr id="21" name="icone_Gmail" descr="preencoded.png">    </p:cNvPr>
          <p:cNvPicPr>
            <a:picLocks noChangeAspect="1"/>
          </p:cNvPicPr>
          <p:nvPr/>
        </p:nvPicPr>
        <p:blipFill>
          <a:blip r:embed="rId3"/>
          <a:stretch>
            <a:fillRect/>
          </a:stretch>
        </p:blipFill>
        <p:spPr>
          <a:xfrm>
            <a:off x="7315200" y="1220724"/>
            <a:ext cx="402336" cy="402336"/>
          </a:xfrm>
          <a:prstGeom prst="rect">
            <a:avLst/>
          </a:prstGeom>
        </p:spPr>
      </p:pic>
      <p:sp>
        <p:nvSpPr>
          <p:cNvPr id="22" name="Text 17"/>
          <p:cNvSpPr txBox="1"/>
          <p:nvPr/>
        </p:nvSpPr>
        <p:spPr>
          <a:xfrm>
            <a:off x="630021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Gmail</a:t>
            </a:r>
            <a:endParaRPr lang="en-US" sz="1600" dirty="0"/>
          </a:p>
        </p:txBody>
      </p:sp>
      <p:sp>
        <p:nvSpPr>
          <p:cNvPr id="23" name="Text 18"/>
          <p:cNvSpPr txBox="1"/>
          <p:nvPr/>
        </p:nvSpPr>
        <p:spPr>
          <a:xfrm>
            <a:off x="630021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Messagerie grand public</a:t>
            </a:r>
            <a:endParaRPr lang="en-US" sz="1050" dirty="0"/>
          </a:p>
        </p:txBody>
      </p:sp>
      <p:sp>
        <p:nvSpPr>
          <p:cNvPr id="24" name="Text 19"/>
          <p:cNvSpPr txBox="1"/>
          <p:nvPr/>
        </p:nvSpPr>
        <p:spPr>
          <a:xfrm>
            <a:off x="632764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Une messagerie électronique classique, non sécurisée pour les données de santé : à ne pas confondre avec MSSanté.</a:t>
            </a:r>
            <a:endParaRPr lang="en-US" sz="1000" dirty="0"/>
          </a:p>
        </p:txBody>
      </p:sp>
      <p:sp>
        <p:nvSpPr>
          <p:cNvPr id="25" name="filet_Gmail"/>
          <p:cNvSpPr/>
          <p:nvPr/>
        </p:nvSpPr>
        <p:spPr>
          <a:xfrm>
            <a:off x="6373368" y="3319272"/>
            <a:ext cx="2286000" cy="0"/>
          </a:xfrm>
          <a:prstGeom prst="line">
            <a:avLst/>
          </a:prstGeom>
          <a:noFill/>
          <a:ln w="12700">
            <a:solidFill>
              <a:srgbClr val="D9D9D9"/>
            </a:solidFill>
            <a:prstDash val="solid"/>
          </a:ln>
        </p:spPr>
      </p:sp>
      <p:sp>
        <p:nvSpPr>
          <p:cNvPr id="26" name="Text 21"/>
          <p:cNvSpPr txBox="1"/>
          <p:nvPr/>
        </p:nvSpPr>
        <p:spPr>
          <a:xfrm>
            <a:off x="630021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Messagerie non sécurisée</a:t>
            </a:r>
            <a:endParaRPr lang="en-US" sz="1050" dirty="0"/>
          </a:p>
        </p:txBody>
      </p:sp>
      <p:sp>
        <p:nvSpPr>
          <p:cNvPr id="27" name="carte_Doctolib"/>
          <p:cNvSpPr/>
          <p:nvPr/>
        </p:nvSpPr>
        <p:spPr>
          <a:xfrm>
            <a:off x="9025128" y="868680"/>
            <a:ext cx="2651760" cy="2834640"/>
          </a:xfrm>
          <a:prstGeom prst="roundRect">
            <a:avLst>
              <a:gd name="adj" fmla="val 3448"/>
            </a:avLst>
          </a:prstGeom>
          <a:solidFill>
            <a:srgbClr val="FFFFFF"/>
          </a:solidFill>
          <a:ln w="12700">
            <a:solidFill>
              <a:srgbClr val="B9C4BC"/>
            </a:solidFill>
            <a:prstDash val="dash"/>
          </a:ln>
        </p:spPr>
      </p:sp>
      <p:sp>
        <p:nvSpPr>
          <p:cNvPr id="28" name="pastille_Doctolib"/>
          <p:cNvSpPr/>
          <p:nvPr/>
        </p:nvSpPr>
        <p:spPr>
          <a:xfrm>
            <a:off x="9962388" y="1033272"/>
            <a:ext cx="777240" cy="777240"/>
          </a:xfrm>
          <a:prstGeom prst="ellipse">
            <a:avLst/>
          </a:prstGeom>
          <a:solidFill>
            <a:srgbClr val="2F6E62"/>
          </a:solidFill>
          <a:ln/>
        </p:spPr>
      </p:sp>
      <p:pic>
        <p:nvPicPr>
          <p:cNvPr id="29" name="icone_Doctolib" descr="preencoded.png">    </p:cNvPr>
          <p:cNvPicPr>
            <a:picLocks noChangeAspect="1"/>
          </p:cNvPicPr>
          <p:nvPr/>
        </p:nvPicPr>
        <p:blipFill>
          <a:blip r:embed="rId4"/>
          <a:stretch>
            <a:fillRect/>
          </a:stretch>
        </p:blipFill>
        <p:spPr>
          <a:xfrm>
            <a:off x="10149840" y="1220724"/>
            <a:ext cx="402336" cy="402336"/>
          </a:xfrm>
          <a:prstGeom prst="rect">
            <a:avLst/>
          </a:prstGeom>
        </p:spPr>
      </p:pic>
      <p:sp>
        <p:nvSpPr>
          <p:cNvPr id="30" name="Text 24"/>
          <p:cNvSpPr txBox="1"/>
          <p:nvPr/>
        </p:nvSpPr>
        <p:spPr>
          <a:xfrm>
            <a:off x="9134856" y="1874520"/>
            <a:ext cx="2432304" cy="384048"/>
          </a:xfrm>
          <a:prstGeom prst="rect">
            <a:avLst/>
          </a:prstGeom>
          <a:noFill/>
          <a:ln/>
        </p:spPr>
        <p:txBody>
          <a:bodyPr wrap="square" lIns="0" tIns="0" rIns="0" bIns="0" rtlCol="0" anchor="ctr"/>
          <a:lstStyle/>
          <a:p>
            <a:pPr algn="ctr" indent="0" marL="0">
              <a:buNone/>
            </a:pPr>
            <a:r>
              <a:rPr lang="en-US" sz="1600" b="1" dirty="0">
                <a:solidFill>
                  <a:srgbClr val="16302A"/>
                </a:solidFill>
                <a:latin typeface="Georgia" pitchFamily="34" charset="0"/>
                <a:ea typeface="Georgia" pitchFamily="34" charset="-122"/>
                <a:cs typeface="Georgia" pitchFamily="34" charset="-120"/>
              </a:rPr>
              <a:t>Doctolib</a:t>
            </a:r>
            <a:endParaRPr lang="en-US" sz="1600" dirty="0"/>
          </a:p>
        </p:txBody>
      </p:sp>
      <p:sp>
        <p:nvSpPr>
          <p:cNvPr id="31" name="Text 25"/>
          <p:cNvSpPr txBox="1"/>
          <p:nvPr/>
        </p:nvSpPr>
        <p:spPr>
          <a:xfrm>
            <a:off x="9134856" y="22402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Plateforme privée</a:t>
            </a:r>
            <a:endParaRPr lang="en-US" sz="1050" dirty="0"/>
          </a:p>
        </p:txBody>
      </p:sp>
      <p:sp>
        <p:nvSpPr>
          <p:cNvPr id="32" name="Text 26"/>
          <p:cNvSpPr txBox="1"/>
          <p:nvPr/>
        </p:nvSpPr>
        <p:spPr>
          <a:xfrm>
            <a:off x="9162288" y="25146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Plateforme commerciale de prise de rendez-vous et de services aux professionnels. Voir les sous-cartes.</a:t>
            </a:r>
            <a:endParaRPr lang="en-US" sz="1000" dirty="0"/>
          </a:p>
        </p:txBody>
      </p:sp>
      <p:sp>
        <p:nvSpPr>
          <p:cNvPr id="33" name="filet_Doctolib"/>
          <p:cNvSpPr/>
          <p:nvPr/>
        </p:nvSpPr>
        <p:spPr>
          <a:xfrm>
            <a:off x="9208008" y="3319272"/>
            <a:ext cx="2286000" cy="0"/>
          </a:xfrm>
          <a:prstGeom prst="line">
            <a:avLst/>
          </a:prstGeom>
          <a:noFill/>
          <a:ln w="12700">
            <a:solidFill>
              <a:srgbClr val="D9D9D9"/>
            </a:solidFill>
            <a:prstDash val="solid"/>
          </a:ln>
        </p:spPr>
      </p:sp>
      <p:sp>
        <p:nvSpPr>
          <p:cNvPr id="34" name="Text 28"/>
          <p:cNvSpPr txBox="1"/>
          <p:nvPr/>
        </p:nvSpPr>
        <p:spPr>
          <a:xfrm>
            <a:off x="9134856" y="33558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Solution commerciale</a:t>
            </a:r>
            <a:endParaRPr lang="en-US" sz="1050" dirty="0"/>
          </a:p>
        </p:txBody>
      </p:sp>
      <p:sp>
        <p:nvSpPr>
          <p:cNvPr id="35" name="carte_Ordonnance numérique"/>
          <p:cNvSpPr/>
          <p:nvPr/>
        </p:nvSpPr>
        <p:spPr>
          <a:xfrm>
            <a:off x="521208" y="3840480"/>
            <a:ext cx="2651760" cy="2834640"/>
          </a:xfrm>
          <a:prstGeom prst="roundRect">
            <a:avLst>
              <a:gd name="adj" fmla="val 3448"/>
            </a:avLst>
          </a:prstGeom>
          <a:solidFill>
            <a:srgbClr val="FFFFFF"/>
          </a:solidFill>
          <a:ln w="12700">
            <a:solidFill>
              <a:srgbClr val="B9C4BC"/>
            </a:solidFill>
            <a:prstDash val="dash"/>
          </a:ln>
        </p:spPr>
      </p:sp>
      <p:sp>
        <p:nvSpPr>
          <p:cNvPr id="36" name="pastille_Ordonnance numérique"/>
          <p:cNvSpPr/>
          <p:nvPr/>
        </p:nvSpPr>
        <p:spPr>
          <a:xfrm>
            <a:off x="1458468" y="4005072"/>
            <a:ext cx="777240" cy="777240"/>
          </a:xfrm>
          <a:prstGeom prst="ellipse">
            <a:avLst/>
          </a:prstGeom>
          <a:solidFill>
            <a:srgbClr val="2F6E62"/>
          </a:solidFill>
          <a:ln/>
        </p:spPr>
      </p:sp>
      <p:pic>
        <p:nvPicPr>
          <p:cNvPr id="37" name="icone_Ordonnance numérique" descr="preencoded.png">    </p:cNvPr>
          <p:cNvPicPr>
            <a:picLocks noChangeAspect="1"/>
          </p:cNvPicPr>
          <p:nvPr/>
        </p:nvPicPr>
        <p:blipFill>
          <a:blip r:embed="rId5"/>
          <a:stretch>
            <a:fillRect/>
          </a:stretch>
        </p:blipFill>
        <p:spPr>
          <a:xfrm>
            <a:off x="1645920" y="4192524"/>
            <a:ext cx="402336" cy="402336"/>
          </a:xfrm>
          <a:prstGeom prst="rect">
            <a:avLst/>
          </a:prstGeom>
        </p:spPr>
      </p:pic>
      <p:sp>
        <p:nvSpPr>
          <p:cNvPr id="38" name="Text 31"/>
          <p:cNvSpPr txBox="1"/>
          <p:nvPr/>
        </p:nvSpPr>
        <p:spPr>
          <a:xfrm>
            <a:off x="630936" y="4846320"/>
            <a:ext cx="2432304" cy="384048"/>
          </a:xfrm>
          <a:prstGeom prst="rect">
            <a:avLst/>
          </a:prstGeom>
          <a:noFill/>
          <a:ln/>
        </p:spPr>
        <p:txBody>
          <a:bodyPr wrap="square" lIns="0" tIns="0" rIns="0" bIns="0" rtlCol="0" anchor="ctr"/>
          <a:lstStyle/>
          <a:p>
            <a:pPr algn="ctr" indent="0" marL="0">
              <a:buNone/>
            </a:pPr>
            <a:r>
              <a:rPr lang="en-US" sz="1300" b="1" dirty="0">
                <a:solidFill>
                  <a:srgbClr val="16302A"/>
                </a:solidFill>
                <a:latin typeface="Georgia" pitchFamily="34" charset="0"/>
                <a:ea typeface="Georgia" pitchFamily="34" charset="-122"/>
                <a:cs typeface="Georgia" pitchFamily="34" charset="-120"/>
              </a:rPr>
              <a:t>Ordonnance numérique</a:t>
            </a:r>
            <a:endParaRPr lang="en-US" sz="1300" dirty="0"/>
          </a:p>
        </p:txBody>
      </p:sp>
      <p:sp>
        <p:nvSpPr>
          <p:cNvPr id="39" name="Text 32"/>
          <p:cNvSpPr txBox="1"/>
          <p:nvPr/>
        </p:nvSpPr>
        <p:spPr>
          <a:xfrm>
            <a:off x="63093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Prescription dématérialisée</a:t>
            </a:r>
            <a:endParaRPr lang="en-US" sz="1050" dirty="0"/>
          </a:p>
        </p:txBody>
      </p:sp>
      <p:sp>
        <p:nvSpPr>
          <p:cNvPr id="40" name="Text 33"/>
          <p:cNvSpPr txBox="1"/>
          <p:nvPr/>
        </p:nvSpPr>
        <p:spPr>
          <a:xfrm>
            <a:off x="65836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La prescription est enregistrée dans une base sécurisée de l'Assurance Maladie ; le pharmacien la retrouve grâce au QR code imprimé sur l'ordonnance.</a:t>
            </a:r>
            <a:endParaRPr lang="en-US" sz="1000" dirty="0"/>
          </a:p>
        </p:txBody>
      </p:sp>
      <p:sp>
        <p:nvSpPr>
          <p:cNvPr id="41" name="filet_Ordonnance numérique"/>
          <p:cNvSpPr/>
          <p:nvPr/>
        </p:nvSpPr>
        <p:spPr>
          <a:xfrm>
            <a:off x="704088" y="6291072"/>
            <a:ext cx="2286000" cy="0"/>
          </a:xfrm>
          <a:prstGeom prst="line">
            <a:avLst/>
          </a:prstGeom>
          <a:noFill/>
          <a:ln w="12700">
            <a:solidFill>
              <a:srgbClr val="D9D9D9"/>
            </a:solidFill>
            <a:prstDash val="solid"/>
          </a:ln>
        </p:spPr>
      </p:sp>
      <p:sp>
        <p:nvSpPr>
          <p:cNvPr id="42" name="Text 35"/>
          <p:cNvSpPr txBox="1"/>
          <p:nvPr/>
        </p:nvSpPr>
        <p:spPr>
          <a:xfrm>
            <a:off x="63093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Prescription</a:t>
            </a:r>
            <a:endParaRPr lang="en-US" sz="1050" dirty="0"/>
          </a:p>
        </p:txBody>
      </p:sp>
      <p:sp>
        <p:nvSpPr>
          <p:cNvPr id="43" name="carte_Ressources de la CPTS"/>
          <p:cNvSpPr/>
          <p:nvPr/>
        </p:nvSpPr>
        <p:spPr>
          <a:xfrm>
            <a:off x="3355848" y="3840480"/>
            <a:ext cx="2651760" cy="2834640"/>
          </a:xfrm>
          <a:prstGeom prst="roundRect">
            <a:avLst>
              <a:gd name="adj" fmla="val 3448"/>
            </a:avLst>
          </a:prstGeom>
          <a:solidFill>
            <a:srgbClr val="FFFFFF"/>
          </a:solidFill>
          <a:ln w="12700">
            <a:solidFill>
              <a:srgbClr val="B9C4BC"/>
            </a:solidFill>
            <a:prstDash val="dash"/>
          </a:ln>
        </p:spPr>
      </p:sp>
      <p:sp>
        <p:nvSpPr>
          <p:cNvPr id="44" name="pastille_Ressources de la CPTS"/>
          <p:cNvSpPr/>
          <p:nvPr/>
        </p:nvSpPr>
        <p:spPr>
          <a:xfrm>
            <a:off x="4293108" y="4005072"/>
            <a:ext cx="777240" cy="777240"/>
          </a:xfrm>
          <a:prstGeom prst="ellipse">
            <a:avLst/>
          </a:prstGeom>
          <a:solidFill>
            <a:srgbClr val="2F6E62"/>
          </a:solidFill>
          <a:ln/>
        </p:spPr>
      </p:sp>
      <p:pic>
        <p:nvPicPr>
          <p:cNvPr id="45" name="icone_Ressources de la CPTS" descr="preencoded.png">    </p:cNvPr>
          <p:cNvPicPr>
            <a:picLocks noChangeAspect="1"/>
          </p:cNvPicPr>
          <p:nvPr/>
        </p:nvPicPr>
        <p:blipFill>
          <a:blip r:embed="rId6"/>
          <a:stretch>
            <a:fillRect/>
          </a:stretch>
        </p:blipFill>
        <p:spPr>
          <a:xfrm>
            <a:off x="4480560" y="4192524"/>
            <a:ext cx="402336" cy="402336"/>
          </a:xfrm>
          <a:prstGeom prst="rect">
            <a:avLst/>
          </a:prstGeom>
        </p:spPr>
      </p:pic>
      <p:sp>
        <p:nvSpPr>
          <p:cNvPr id="46" name="Text 38"/>
          <p:cNvSpPr txBox="1"/>
          <p:nvPr/>
        </p:nvSpPr>
        <p:spPr>
          <a:xfrm>
            <a:off x="3465576" y="4846320"/>
            <a:ext cx="2432304" cy="384048"/>
          </a:xfrm>
          <a:prstGeom prst="rect">
            <a:avLst/>
          </a:prstGeom>
          <a:noFill/>
          <a:ln/>
        </p:spPr>
        <p:txBody>
          <a:bodyPr wrap="square" lIns="0" tIns="0" rIns="0" bIns="0" rtlCol="0" anchor="ctr"/>
          <a:lstStyle/>
          <a:p>
            <a:pPr algn="ctr" indent="0" marL="0">
              <a:buNone/>
            </a:pPr>
            <a:r>
              <a:rPr lang="en-US" sz="1300" b="1" dirty="0">
                <a:solidFill>
                  <a:srgbClr val="16302A"/>
                </a:solidFill>
                <a:latin typeface="Georgia" pitchFamily="34" charset="0"/>
                <a:ea typeface="Georgia" pitchFamily="34" charset="-122"/>
                <a:cs typeface="Georgia" pitchFamily="34" charset="-120"/>
              </a:rPr>
              <a:t>Ressources de la CPTS</a:t>
            </a:r>
            <a:endParaRPr lang="en-US" sz="1300" dirty="0"/>
          </a:p>
        </p:txBody>
      </p:sp>
      <p:sp>
        <p:nvSpPr>
          <p:cNvPr id="47" name="Text 39"/>
          <p:cNvSpPr txBox="1"/>
          <p:nvPr/>
        </p:nvSpPr>
        <p:spPr>
          <a:xfrm>
            <a:off x="3465576" y="5212080"/>
            <a:ext cx="2432304" cy="256032"/>
          </a:xfrm>
          <a:prstGeom prst="rect">
            <a:avLst/>
          </a:prstGeom>
          <a:noFill/>
          <a:ln/>
        </p:spPr>
        <p:txBody>
          <a:bodyPr wrap="square" lIns="0" tIns="0" rIns="0" bIns="0" rtlCol="0" anchor="ctr"/>
          <a:lstStyle/>
          <a:p>
            <a:pPr algn="ctr" indent="0" marL="0">
              <a:buNone/>
            </a:pPr>
            <a:r>
              <a:rPr lang="en-US" sz="1050" b="1" dirty="0">
                <a:solidFill>
                  <a:srgbClr val="1F4A42"/>
                </a:solidFill>
                <a:latin typeface="Calibri" pitchFamily="34" charset="0"/>
                <a:ea typeface="Calibri" pitchFamily="34" charset="-122"/>
                <a:cs typeface="Calibri" pitchFamily="34" charset="-120"/>
              </a:rPr>
              <a:t>Site, annuaire, espace adhérents</a:t>
            </a:r>
            <a:endParaRPr lang="en-US" sz="1050" dirty="0"/>
          </a:p>
        </p:txBody>
      </p:sp>
      <p:sp>
        <p:nvSpPr>
          <p:cNvPr id="48" name="Text 40"/>
          <p:cNvSpPr txBox="1"/>
          <p:nvPr/>
        </p:nvSpPr>
        <p:spPr>
          <a:xfrm>
            <a:off x="3493008" y="5486400"/>
            <a:ext cx="2377440" cy="786384"/>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Ce que la CPTS met à disposition : annuaire de ses membres, protocoles et parcours locaux, offre de prévention. Support variable selon la CPTS.</a:t>
            </a:r>
            <a:endParaRPr lang="en-US" sz="1000" dirty="0"/>
          </a:p>
        </p:txBody>
      </p:sp>
      <p:sp>
        <p:nvSpPr>
          <p:cNvPr id="49" name="filet_Ressources de la CPTS"/>
          <p:cNvSpPr/>
          <p:nvPr/>
        </p:nvSpPr>
        <p:spPr>
          <a:xfrm>
            <a:off x="3538728" y="6291072"/>
            <a:ext cx="2286000" cy="0"/>
          </a:xfrm>
          <a:prstGeom prst="line">
            <a:avLst/>
          </a:prstGeom>
          <a:noFill/>
          <a:ln w="12700">
            <a:solidFill>
              <a:srgbClr val="D9D9D9"/>
            </a:solidFill>
            <a:prstDash val="solid"/>
          </a:ln>
        </p:spPr>
      </p:sp>
      <p:sp>
        <p:nvSpPr>
          <p:cNvPr id="50" name="Text 42"/>
          <p:cNvSpPr txBox="1"/>
          <p:nvPr/>
        </p:nvSpPr>
        <p:spPr>
          <a:xfrm>
            <a:off x="3465576" y="6327648"/>
            <a:ext cx="2432304" cy="274320"/>
          </a:xfrm>
          <a:prstGeom prst="rect">
            <a:avLst/>
          </a:prstGeom>
          <a:noFill/>
          <a:ln/>
        </p:spPr>
        <p:txBody>
          <a:bodyPr wrap="square" lIns="0" tIns="0" rIns="0" bIns="0" rtlCol="0" anchor="ctr"/>
          <a:lstStyle/>
          <a:p>
            <a:pPr algn="ctr" indent="0" marL="0">
              <a:buNone/>
            </a:pPr>
            <a:r>
              <a:rPr lang="en-US" sz="1050" b="1" dirty="0">
                <a:solidFill>
                  <a:srgbClr val="E2704F"/>
                </a:solidFill>
                <a:latin typeface="Calibri" pitchFamily="34" charset="0"/>
                <a:ea typeface="Calibri" pitchFamily="34" charset="-122"/>
                <a:cs typeface="Calibri" pitchFamily="34" charset="-120"/>
              </a:rPr>
              <a:t>Ressources locales</a:t>
            </a:r>
            <a:endParaRPr lang="en-US" sz="1050" dirty="0"/>
          </a:p>
        </p:txBody>
      </p:sp>
      <p:sp>
        <p:nvSpPr>
          <p:cNvPr id="51" name="carte_Carte joker"/>
          <p:cNvSpPr/>
          <p:nvPr/>
        </p:nvSpPr>
        <p:spPr>
          <a:xfrm>
            <a:off x="6190488" y="3840480"/>
            <a:ext cx="2651760" cy="2834640"/>
          </a:xfrm>
          <a:prstGeom prst="roundRect">
            <a:avLst>
              <a:gd name="adj" fmla="val 3448"/>
            </a:avLst>
          </a:prstGeom>
          <a:solidFill>
            <a:srgbClr val="FFFFFF"/>
          </a:solidFill>
          <a:ln w="25400">
            <a:solidFill>
              <a:srgbClr val="D9A441"/>
            </a:solidFill>
            <a:prstDash val="dash"/>
          </a:ln>
        </p:spPr>
      </p:sp>
      <p:sp>
        <p:nvSpPr>
          <p:cNvPr id="52" name="pastille_Carte joker"/>
          <p:cNvSpPr/>
          <p:nvPr/>
        </p:nvSpPr>
        <p:spPr>
          <a:xfrm>
            <a:off x="7127748" y="4005072"/>
            <a:ext cx="777240" cy="777240"/>
          </a:xfrm>
          <a:prstGeom prst="ellipse">
            <a:avLst/>
          </a:prstGeom>
          <a:solidFill>
            <a:srgbClr val="D9A441"/>
          </a:solidFill>
          <a:ln/>
        </p:spPr>
      </p:sp>
      <p:pic>
        <p:nvPicPr>
          <p:cNvPr id="53" name="icone_Carte joker" descr="preencoded.png">    </p:cNvPr>
          <p:cNvPicPr>
            <a:picLocks noChangeAspect="1"/>
          </p:cNvPicPr>
          <p:nvPr/>
        </p:nvPicPr>
        <p:blipFill>
          <a:blip r:embed="rId7"/>
          <a:stretch>
            <a:fillRect/>
          </a:stretch>
        </p:blipFill>
        <p:spPr>
          <a:xfrm>
            <a:off x="7315200" y="4192524"/>
            <a:ext cx="402336" cy="402336"/>
          </a:xfrm>
          <a:prstGeom prst="rect">
            <a:avLst/>
          </a:prstGeom>
        </p:spPr>
      </p:pic>
      <p:sp>
        <p:nvSpPr>
          <p:cNvPr id="54" name="Text 45"/>
          <p:cNvSpPr txBox="1"/>
          <p:nvPr/>
        </p:nvSpPr>
        <p:spPr>
          <a:xfrm>
            <a:off x="6300216" y="4846320"/>
            <a:ext cx="2432304" cy="384048"/>
          </a:xfrm>
          <a:prstGeom prst="rect">
            <a:avLst/>
          </a:prstGeom>
          <a:noFill/>
          <a:ln/>
        </p:spPr>
        <p:txBody>
          <a:bodyPr wrap="square" lIns="0" tIns="0" rIns="0" bIns="0" rtlCol="0" anchor="ctr"/>
          <a:lstStyle/>
          <a:p>
            <a:pPr algn="ctr" indent="0" marL="0">
              <a:buNone/>
            </a:pPr>
            <a:r>
              <a:rPr lang="en-US" sz="1600" b="1" dirty="0">
                <a:solidFill>
                  <a:srgbClr val="D9A441"/>
                </a:solidFill>
                <a:latin typeface="Georgia" pitchFamily="34" charset="0"/>
                <a:ea typeface="Georgia" pitchFamily="34" charset="-122"/>
                <a:cs typeface="Georgia" pitchFamily="34" charset="-120"/>
              </a:rPr>
              <a:t>Carte joker</a:t>
            </a:r>
            <a:endParaRPr lang="en-US" sz="1600" dirty="0"/>
          </a:p>
        </p:txBody>
      </p:sp>
      <p:sp>
        <p:nvSpPr>
          <p:cNvPr id="55" name="Text 46"/>
          <p:cNvSpPr txBox="1"/>
          <p:nvPr/>
        </p:nvSpPr>
        <p:spPr>
          <a:xfrm>
            <a:off x="6300216" y="5212080"/>
            <a:ext cx="2432304" cy="256032"/>
          </a:xfrm>
          <a:prstGeom prst="rect">
            <a:avLst/>
          </a:prstGeom>
          <a:noFill/>
          <a:ln/>
        </p:spPr>
        <p:txBody>
          <a:bodyPr wrap="square" lIns="0" tIns="0" rIns="0" bIns="0" rtlCol="0" anchor="ctr"/>
          <a:lstStyle/>
          <a:p>
            <a:pPr algn="ctr" indent="0" marL="0">
              <a:buNone/>
            </a:pPr>
            <a:r>
              <a:rPr lang="en-US" sz="1050" b="1" dirty="0">
                <a:solidFill>
                  <a:srgbClr val="D9A441"/>
                </a:solidFill>
                <a:latin typeface="Calibri" pitchFamily="34" charset="0"/>
                <a:ea typeface="Calibri" pitchFamily="34" charset="-122"/>
                <a:cs typeface="Calibri" pitchFamily="34" charset="-120"/>
              </a:rPr>
              <a:t>À utiliser librement</a:t>
            </a:r>
            <a:endParaRPr lang="en-US" sz="1050" dirty="0"/>
          </a:p>
        </p:txBody>
      </p:sp>
      <p:sp>
        <p:nvSpPr>
          <p:cNvPr id="56" name="Text 47"/>
          <p:cNvSpPr txBox="1"/>
          <p:nvPr/>
        </p:nvSpPr>
        <p:spPr>
          <a:xfrm>
            <a:off x="6327648" y="5486400"/>
            <a:ext cx="2377440" cy="786384"/>
          </a:xfrm>
          <a:prstGeom prst="rect">
            <a:avLst/>
          </a:prstGeom>
          <a:noFill/>
          <a:ln/>
        </p:spPr>
        <p:txBody>
          <a:bodyPr wrap="square" lIns="0" tIns="0" rIns="0" bIns="0" rtlCol="0" anchor="t"/>
          <a:lstStyle/>
          <a:p>
            <a:pPr algn="ctr" indent="0" marL="0">
              <a:buNone/>
            </a:pPr>
            <a:r>
              <a:rPr lang="en-US" sz="1000" i="1" dirty="0">
                <a:solidFill>
                  <a:srgbClr val="16302A"/>
                </a:solidFill>
                <a:latin typeface="Calibri" pitchFamily="34" charset="0"/>
                <a:ea typeface="Calibri" pitchFamily="34" charset="-122"/>
                <a:cs typeface="Calibri" pitchFamily="34" charset="-120"/>
              </a:rPr>
              <a:t>Peut remplacer n'importe quelle carte outil du jeu. Le groupe précise l'outil qu'il a en tête.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Sous-cartes : usages précis (1/2)</a:t>
            </a:r>
            <a:endParaRPr lang="en-US" sz="2000" dirty="0"/>
          </a:p>
        </p:txBody>
      </p:sp>
      <p:sp>
        <p:nvSpPr>
          <p:cNvPr id="3" name="souscarte_Téléconsultation"/>
          <p:cNvSpPr/>
          <p:nvPr/>
        </p:nvSpPr>
        <p:spPr>
          <a:xfrm>
            <a:off x="521208" y="868680"/>
            <a:ext cx="2651760" cy="2834640"/>
          </a:xfrm>
          <a:prstGeom prst="roundRect">
            <a:avLst>
              <a:gd name="adj" fmla="val 3448"/>
            </a:avLst>
          </a:prstGeom>
          <a:solidFill>
            <a:srgbClr val="FBF1DE"/>
          </a:solidFill>
          <a:ln w="19050">
            <a:solidFill>
              <a:srgbClr val="D9A441"/>
            </a:solidFill>
            <a:prstDash val="solid"/>
          </a:ln>
        </p:spPr>
      </p:sp>
      <p:sp>
        <p:nvSpPr>
          <p:cNvPr id="4" name="Text 2"/>
          <p:cNvSpPr txBox="1"/>
          <p:nvPr/>
        </p:nvSpPr>
        <p:spPr>
          <a:xfrm>
            <a:off x="61264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TÉLÉSANTÉ</a:t>
            </a:r>
            <a:endParaRPr lang="en-US" sz="900" dirty="0"/>
          </a:p>
        </p:txBody>
      </p:sp>
      <p:sp>
        <p:nvSpPr>
          <p:cNvPr id="5" name="pastille_sc_Téléconsultation"/>
          <p:cNvSpPr/>
          <p:nvPr/>
        </p:nvSpPr>
        <p:spPr>
          <a:xfrm>
            <a:off x="1517904" y="1252728"/>
            <a:ext cx="658368" cy="658368"/>
          </a:xfrm>
          <a:prstGeom prst="ellipse">
            <a:avLst/>
          </a:prstGeom>
          <a:solidFill>
            <a:srgbClr val="D9A441"/>
          </a:solidFill>
          <a:ln/>
        </p:spPr>
      </p:sp>
      <p:pic>
        <p:nvPicPr>
          <p:cNvPr id="6" name="icone_sc_Téléconsultation" descr="preencoded.png">    </p:cNvPr>
          <p:cNvPicPr>
            <a:picLocks noChangeAspect="1"/>
          </p:cNvPicPr>
          <p:nvPr/>
        </p:nvPicPr>
        <p:blipFill>
          <a:blip r:embed="rId1"/>
          <a:stretch>
            <a:fillRect/>
          </a:stretch>
        </p:blipFill>
        <p:spPr>
          <a:xfrm>
            <a:off x="1673352" y="1408176"/>
            <a:ext cx="347472" cy="347472"/>
          </a:xfrm>
          <a:prstGeom prst="rect">
            <a:avLst/>
          </a:prstGeom>
        </p:spPr>
      </p:pic>
      <p:sp>
        <p:nvSpPr>
          <p:cNvPr id="7" name="Text 4"/>
          <p:cNvSpPr txBox="1"/>
          <p:nvPr/>
        </p:nvSpPr>
        <p:spPr>
          <a:xfrm>
            <a:off x="63093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Téléconsultation</a:t>
            </a:r>
            <a:endParaRPr lang="en-US" sz="1400" dirty="0"/>
          </a:p>
        </p:txBody>
      </p:sp>
      <p:sp>
        <p:nvSpPr>
          <p:cNvPr id="8" name="Text 5"/>
          <p:cNvSpPr txBox="1"/>
          <p:nvPr/>
        </p:nvSpPr>
        <p:spPr>
          <a:xfrm>
            <a:off x="65836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Consultation à distance, en vidéo, entre le patient et un professionnel médical (généraliste, spécialiste, sage-femme).</a:t>
            </a:r>
            <a:endParaRPr lang="en-US" sz="1000" dirty="0"/>
          </a:p>
        </p:txBody>
      </p:sp>
      <p:sp>
        <p:nvSpPr>
          <p:cNvPr id="9" name="filet_sc_Téléconsultation"/>
          <p:cNvSpPr/>
          <p:nvPr/>
        </p:nvSpPr>
        <p:spPr>
          <a:xfrm>
            <a:off x="704088" y="3337560"/>
            <a:ext cx="2286000" cy="0"/>
          </a:xfrm>
          <a:prstGeom prst="line">
            <a:avLst/>
          </a:prstGeom>
          <a:noFill/>
          <a:ln w="9525">
            <a:solidFill>
              <a:srgbClr val="D9A441"/>
            </a:solidFill>
            <a:prstDash val="solid"/>
          </a:ln>
        </p:spPr>
      </p:sp>
      <p:sp>
        <p:nvSpPr>
          <p:cNvPr id="10" name="Text 7"/>
          <p:cNvSpPr txBox="1"/>
          <p:nvPr/>
        </p:nvSpPr>
        <p:spPr>
          <a:xfrm>
            <a:off x="63093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Patient + professionnel</a:t>
            </a:r>
            <a:endParaRPr lang="en-US" sz="1000" dirty="0"/>
          </a:p>
        </p:txBody>
      </p:sp>
      <p:sp>
        <p:nvSpPr>
          <p:cNvPr id="11" name="souscarte_Téléexpertise"/>
          <p:cNvSpPr/>
          <p:nvPr/>
        </p:nvSpPr>
        <p:spPr>
          <a:xfrm>
            <a:off x="3355848" y="868680"/>
            <a:ext cx="2651760" cy="2834640"/>
          </a:xfrm>
          <a:prstGeom prst="roundRect">
            <a:avLst>
              <a:gd name="adj" fmla="val 3448"/>
            </a:avLst>
          </a:prstGeom>
          <a:solidFill>
            <a:srgbClr val="FBF1DE"/>
          </a:solidFill>
          <a:ln w="19050">
            <a:solidFill>
              <a:srgbClr val="D9A441"/>
            </a:solidFill>
            <a:prstDash val="solid"/>
          </a:ln>
        </p:spPr>
      </p:sp>
      <p:sp>
        <p:nvSpPr>
          <p:cNvPr id="12" name="Text 9"/>
          <p:cNvSpPr txBox="1"/>
          <p:nvPr/>
        </p:nvSpPr>
        <p:spPr>
          <a:xfrm>
            <a:off x="344728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TÉLÉSANTÉ</a:t>
            </a:r>
            <a:endParaRPr lang="en-US" sz="900" dirty="0"/>
          </a:p>
        </p:txBody>
      </p:sp>
      <p:sp>
        <p:nvSpPr>
          <p:cNvPr id="13" name="pastille_sc_Téléexpertise"/>
          <p:cNvSpPr/>
          <p:nvPr/>
        </p:nvSpPr>
        <p:spPr>
          <a:xfrm>
            <a:off x="4352544" y="1252728"/>
            <a:ext cx="658368" cy="658368"/>
          </a:xfrm>
          <a:prstGeom prst="ellipse">
            <a:avLst/>
          </a:prstGeom>
          <a:solidFill>
            <a:srgbClr val="D9A441"/>
          </a:solidFill>
          <a:ln/>
        </p:spPr>
      </p:sp>
      <p:pic>
        <p:nvPicPr>
          <p:cNvPr id="14" name="icone_sc_Téléexpertise" descr="preencoded.png">    </p:cNvPr>
          <p:cNvPicPr>
            <a:picLocks noChangeAspect="1"/>
          </p:cNvPicPr>
          <p:nvPr/>
        </p:nvPicPr>
        <p:blipFill>
          <a:blip r:embed="rId2"/>
          <a:stretch>
            <a:fillRect/>
          </a:stretch>
        </p:blipFill>
        <p:spPr>
          <a:xfrm>
            <a:off x="4507992" y="1408176"/>
            <a:ext cx="347472" cy="347472"/>
          </a:xfrm>
          <a:prstGeom prst="rect">
            <a:avLst/>
          </a:prstGeom>
        </p:spPr>
      </p:pic>
      <p:sp>
        <p:nvSpPr>
          <p:cNvPr id="15" name="Text 11"/>
          <p:cNvSpPr txBox="1"/>
          <p:nvPr/>
        </p:nvSpPr>
        <p:spPr>
          <a:xfrm>
            <a:off x="346557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Téléexpertise</a:t>
            </a:r>
            <a:endParaRPr lang="en-US" sz="1400" dirty="0"/>
          </a:p>
        </p:txBody>
      </p:sp>
      <p:sp>
        <p:nvSpPr>
          <p:cNvPr id="16" name="Text 12"/>
          <p:cNvSpPr txBox="1"/>
          <p:nvPr/>
        </p:nvSpPr>
        <p:spPr>
          <a:xfrm>
            <a:off x="349300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Un professionnel sollicite à distance l'avis d'un médecin ou d'une sage-femme sur le dossier d'un patient, hors de sa présence et avec son accord.</a:t>
            </a:r>
            <a:endParaRPr lang="en-US" sz="1000" dirty="0"/>
          </a:p>
        </p:txBody>
      </p:sp>
      <p:sp>
        <p:nvSpPr>
          <p:cNvPr id="17" name="filet_sc_Téléexpertise"/>
          <p:cNvSpPr/>
          <p:nvPr/>
        </p:nvSpPr>
        <p:spPr>
          <a:xfrm>
            <a:off x="3538728" y="3337560"/>
            <a:ext cx="2286000" cy="0"/>
          </a:xfrm>
          <a:prstGeom prst="line">
            <a:avLst/>
          </a:prstGeom>
          <a:noFill/>
          <a:ln w="9525">
            <a:solidFill>
              <a:srgbClr val="D9A441"/>
            </a:solidFill>
            <a:prstDash val="solid"/>
          </a:ln>
        </p:spPr>
      </p:sp>
      <p:sp>
        <p:nvSpPr>
          <p:cNvPr id="18" name="Text 14"/>
          <p:cNvSpPr txBox="1"/>
          <p:nvPr/>
        </p:nvSpPr>
        <p:spPr>
          <a:xfrm>
            <a:off x="346557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Entre professionnels</a:t>
            </a:r>
            <a:endParaRPr lang="en-US" sz="1000" dirty="0"/>
          </a:p>
        </p:txBody>
      </p:sp>
      <p:sp>
        <p:nvSpPr>
          <p:cNvPr id="19" name="souscarte_Télésoin"/>
          <p:cNvSpPr/>
          <p:nvPr/>
        </p:nvSpPr>
        <p:spPr>
          <a:xfrm>
            <a:off x="6190488" y="868680"/>
            <a:ext cx="2651760" cy="2834640"/>
          </a:xfrm>
          <a:prstGeom prst="roundRect">
            <a:avLst>
              <a:gd name="adj" fmla="val 3448"/>
            </a:avLst>
          </a:prstGeom>
          <a:solidFill>
            <a:srgbClr val="FBF1DE"/>
          </a:solidFill>
          <a:ln w="19050">
            <a:solidFill>
              <a:srgbClr val="D9A441"/>
            </a:solidFill>
            <a:prstDash val="solid"/>
          </a:ln>
        </p:spPr>
      </p:sp>
      <p:sp>
        <p:nvSpPr>
          <p:cNvPr id="20" name="Text 16"/>
          <p:cNvSpPr txBox="1"/>
          <p:nvPr/>
        </p:nvSpPr>
        <p:spPr>
          <a:xfrm>
            <a:off x="628192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TÉLÉSANTÉ</a:t>
            </a:r>
            <a:endParaRPr lang="en-US" sz="900" dirty="0"/>
          </a:p>
        </p:txBody>
      </p:sp>
      <p:sp>
        <p:nvSpPr>
          <p:cNvPr id="21" name="pastille_sc_Télésoin"/>
          <p:cNvSpPr/>
          <p:nvPr/>
        </p:nvSpPr>
        <p:spPr>
          <a:xfrm>
            <a:off x="7187184" y="1252728"/>
            <a:ext cx="658368" cy="658368"/>
          </a:xfrm>
          <a:prstGeom prst="ellipse">
            <a:avLst/>
          </a:prstGeom>
          <a:solidFill>
            <a:srgbClr val="D9A441"/>
          </a:solidFill>
          <a:ln/>
        </p:spPr>
      </p:sp>
      <p:pic>
        <p:nvPicPr>
          <p:cNvPr id="22" name="icone_sc_Télésoin" descr="preencoded.png">    </p:cNvPr>
          <p:cNvPicPr>
            <a:picLocks noChangeAspect="1"/>
          </p:cNvPicPr>
          <p:nvPr/>
        </p:nvPicPr>
        <p:blipFill>
          <a:blip r:embed="rId3"/>
          <a:stretch>
            <a:fillRect/>
          </a:stretch>
        </p:blipFill>
        <p:spPr>
          <a:xfrm>
            <a:off x="7342632" y="1408176"/>
            <a:ext cx="347472" cy="347472"/>
          </a:xfrm>
          <a:prstGeom prst="rect">
            <a:avLst/>
          </a:prstGeom>
        </p:spPr>
      </p:pic>
      <p:sp>
        <p:nvSpPr>
          <p:cNvPr id="23" name="Text 18"/>
          <p:cNvSpPr txBox="1"/>
          <p:nvPr/>
        </p:nvSpPr>
        <p:spPr>
          <a:xfrm>
            <a:off x="630021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Télésoin</a:t>
            </a:r>
            <a:endParaRPr lang="en-US" sz="1400" dirty="0"/>
          </a:p>
        </p:txBody>
      </p:sp>
      <p:sp>
        <p:nvSpPr>
          <p:cNvPr id="24" name="Text 19"/>
          <p:cNvSpPr txBox="1"/>
          <p:nvPr/>
        </p:nvSpPr>
        <p:spPr>
          <a:xfrm>
            <a:off x="632764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Prise en charge à distance par un pharmacien ou un auxiliaire médical (infirmier, orthophoniste, masseur-kinésithérapeute…).</a:t>
            </a:r>
            <a:endParaRPr lang="en-US" sz="1000" dirty="0"/>
          </a:p>
        </p:txBody>
      </p:sp>
      <p:sp>
        <p:nvSpPr>
          <p:cNvPr id="25" name="filet_sc_Télésoin"/>
          <p:cNvSpPr/>
          <p:nvPr/>
        </p:nvSpPr>
        <p:spPr>
          <a:xfrm>
            <a:off x="6373368" y="3337560"/>
            <a:ext cx="2286000" cy="0"/>
          </a:xfrm>
          <a:prstGeom prst="line">
            <a:avLst/>
          </a:prstGeom>
          <a:noFill/>
          <a:ln w="9525">
            <a:solidFill>
              <a:srgbClr val="D9A441"/>
            </a:solidFill>
            <a:prstDash val="solid"/>
          </a:ln>
        </p:spPr>
      </p:sp>
      <p:sp>
        <p:nvSpPr>
          <p:cNvPr id="26" name="Text 21"/>
          <p:cNvSpPr txBox="1"/>
          <p:nvPr/>
        </p:nvSpPr>
        <p:spPr>
          <a:xfrm>
            <a:off x="630021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Pharmacien, auxiliaire médical</a:t>
            </a:r>
            <a:endParaRPr lang="en-US" sz="1000" dirty="0"/>
          </a:p>
        </p:txBody>
      </p:sp>
      <p:sp>
        <p:nvSpPr>
          <p:cNvPr id="27" name="souscarte_Télésurveillance"/>
          <p:cNvSpPr/>
          <p:nvPr/>
        </p:nvSpPr>
        <p:spPr>
          <a:xfrm>
            <a:off x="9025128" y="868680"/>
            <a:ext cx="2651760" cy="2834640"/>
          </a:xfrm>
          <a:prstGeom prst="roundRect">
            <a:avLst>
              <a:gd name="adj" fmla="val 3448"/>
            </a:avLst>
          </a:prstGeom>
          <a:solidFill>
            <a:srgbClr val="FBF1DE"/>
          </a:solidFill>
          <a:ln w="19050">
            <a:solidFill>
              <a:srgbClr val="D9A441"/>
            </a:solidFill>
            <a:prstDash val="solid"/>
          </a:ln>
        </p:spPr>
      </p:sp>
      <p:sp>
        <p:nvSpPr>
          <p:cNvPr id="28" name="Text 23"/>
          <p:cNvSpPr txBox="1"/>
          <p:nvPr/>
        </p:nvSpPr>
        <p:spPr>
          <a:xfrm>
            <a:off x="911656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TÉLÉSANTÉ</a:t>
            </a:r>
            <a:endParaRPr lang="en-US" sz="900" dirty="0"/>
          </a:p>
        </p:txBody>
      </p:sp>
      <p:sp>
        <p:nvSpPr>
          <p:cNvPr id="29" name="pastille_sc_Télésurveillance"/>
          <p:cNvSpPr/>
          <p:nvPr/>
        </p:nvSpPr>
        <p:spPr>
          <a:xfrm>
            <a:off x="10021824" y="1252728"/>
            <a:ext cx="658368" cy="658368"/>
          </a:xfrm>
          <a:prstGeom prst="ellipse">
            <a:avLst/>
          </a:prstGeom>
          <a:solidFill>
            <a:srgbClr val="D9A441"/>
          </a:solidFill>
          <a:ln/>
        </p:spPr>
      </p:sp>
      <p:pic>
        <p:nvPicPr>
          <p:cNvPr id="30" name="icone_sc_Télésurveillance" descr="preencoded.png">    </p:cNvPr>
          <p:cNvPicPr>
            <a:picLocks noChangeAspect="1"/>
          </p:cNvPicPr>
          <p:nvPr/>
        </p:nvPicPr>
        <p:blipFill>
          <a:blip r:embed="rId4"/>
          <a:stretch>
            <a:fillRect/>
          </a:stretch>
        </p:blipFill>
        <p:spPr>
          <a:xfrm>
            <a:off x="10177272" y="1408176"/>
            <a:ext cx="347472" cy="347472"/>
          </a:xfrm>
          <a:prstGeom prst="rect">
            <a:avLst/>
          </a:prstGeom>
        </p:spPr>
      </p:pic>
      <p:sp>
        <p:nvSpPr>
          <p:cNvPr id="31" name="Text 25"/>
          <p:cNvSpPr txBox="1"/>
          <p:nvPr/>
        </p:nvSpPr>
        <p:spPr>
          <a:xfrm>
            <a:off x="913485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Télésurveillance</a:t>
            </a:r>
            <a:endParaRPr lang="en-US" sz="1400" dirty="0"/>
          </a:p>
        </p:txBody>
      </p:sp>
      <p:sp>
        <p:nvSpPr>
          <p:cNvPr id="32" name="Text 26"/>
          <p:cNvSpPr txBox="1"/>
          <p:nvPr/>
        </p:nvSpPr>
        <p:spPr>
          <a:xfrm>
            <a:off x="916228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Suivi à distance des données d'un patient par un dispositif médical numérique, avec analyse des alertes par un opérateur déclaré. Droit commun depuis le 01/07/2023 pour des indications listées.</a:t>
            </a:r>
            <a:endParaRPr lang="en-US" sz="1000" dirty="0"/>
          </a:p>
        </p:txBody>
      </p:sp>
      <p:sp>
        <p:nvSpPr>
          <p:cNvPr id="33" name="filet_sc_Télésurveillance"/>
          <p:cNvSpPr/>
          <p:nvPr/>
        </p:nvSpPr>
        <p:spPr>
          <a:xfrm>
            <a:off x="9208008" y="3337560"/>
            <a:ext cx="2286000" cy="0"/>
          </a:xfrm>
          <a:prstGeom prst="line">
            <a:avLst/>
          </a:prstGeom>
          <a:noFill/>
          <a:ln w="9525">
            <a:solidFill>
              <a:srgbClr val="D9A441"/>
            </a:solidFill>
            <a:prstDash val="solid"/>
          </a:ln>
        </p:spPr>
      </p:sp>
      <p:sp>
        <p:nvSpPr>
          <p:cNvPr id="34" name="Text 28"/>
          <p:cNvSpPr txBox="1"/>
          <p:nvPr/>
        </p:nvSpPr>
        <p:spPr>
          <a:xfrm>
            <a:off x="913485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Patient + équipe de télésurveillance</a:t>
            </a:r>
            <a:endParaRPr lang="en-US" sz="1000" dirty="0"/>
          </a:p>
        </p:txBody>
      </p:sp>
      <p:sp>
        <p:nvSpPr>
          <p:cNvPr id="35" name="souscarte_Accès en urgence (« bris de glace »)"/>
          <p:cNvSpPr/>
          <p:nvPr/>
        </p:nvSpPr>
        <p:spPr>
          <a:xfrm>
            <a:off x="521208" y="3840480"/>
            <a:ext cx="2651760" cy="2834640"/>
          </a:xfrm>
          <a:prstGeom prst="roundRect">
            <a:avLst>
              <a:gd name="adj" fmla="val 3448"/>
            </a:avLst>
          </a:prstGeom>
          <a:solidFill>
            <a:srgbClr val="FBF1DE"/>
          </a:solidFill>
          <a:ln w="19050">
            <a:solidFill>
              <a:srgbClr val="D9A441"/>
            </a:solidFill>
            <a:prstDash val="solid"/>
          </a:ln>
        </p:spPr>
      </p:sp>
      <p:sp>
        <p:nvSpPr>
          <p:cNvPr id="36" name="Text 30"/>
          <p:cNvSpPr txBox="1"/>
          <p:nvPr/>
        </p:nvSpPr>
        <p:spPr>
          <a:xfrm>
            <a:off x="61264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DMP</a:t>
            </a:r>
            <a:endParaRPr lang="en-US" sz="900" dirty="0"/>
          </a:p>
        </p:txBody>
      </p:sp>
      <p:sp>
        <p:nvSpPr>
          <p:cNvPr id="37" name="pastille_sc_Accès en urgence (« bris de glace »)"/>
          <p:cNvSpPr/>
          <p:nvPr/>
        </p:nvSpPr>
        <p:spPr>
          <a:xfrm>
            <a:off x="1517904" y="4224528"/>
            <a:ext cx="658368" cy="658368"/>
          </a:xfrm>
          <a:prstGeom prst="ellipse">
            <a:avLst/>
          </a:prstGeom>
          <a:solidFill>
            <a:srgbClr val="D9A441"/>
          </a:solidFill>
          <a:ln/>
        </p:spPr>
      </p:sp>
      <p:pic>
        <p:nvPicPr>
          <p:cNvPr id="38" name="icone_sc_Accès en urgence (« bris de glace »)" descr="preencoded.png">    </p:cNvPr>
          <p:cNvPicPr>
            <a:picLocks noChangeAspect="1"/>
          </p:cNvPicPr>
          <p:nvPr/>
        </p:nvPicPr>
        <p:blipFill>
          <a:blip r:embed="rId5"/>
          <a:stretch>
            <a:fillRect/>
          </a:stretch>
        </p:blipFill>
        <p:spPr>
          <a:xfrm>
            <a:off x="1673352" y="4379976"/>
            <a:ext cx="347472" cy="347472"/>
          </a:xfrm>
          <a:prstGeom prst="rect">
            <a:avLst/>
          </a:prstGeom>
        </p:spPr>
      </p:pic>
      <p:sp>
        <p:nvSpPr>
          <p:cNvPr id="39" name="Text 32"/>
          <p:cNvSpPr txBox="1"/>
          <p:nvPr/>
        </p:nvSpPr>
        <p:spPr>
          <a:xfrm>
            <a:off x="63093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Accès en urgence (« bris de glace »)</a:t>
            </a:r>
            <a:endParaRPr lang="en-US" sz="1400" dirty="0"/>
          </a:p>
        </p:txBody>
      </p:sp>
      <p:sp>
        <p:nvSpPr>
          <p:cNvPr id="40" name="Text 33"/>
          <p:cNvSpPr txBox="1"/>
          <p:nvPr/>
        </p:nvSpPr>
        <p:spPr>
          <a:xfrm>
            <a:off x="65836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Consultation du DMP d'un patient hors d'état d'exprimer sa volonté, en cas de risque immédiat pour sa santé, sauf opposition préalable. Accès tracé et notifié.</a:t>
            </a:r>
            <a:endParaRPr lang="en-US" sz="1000" dirty="0"/>
          </a:p>
        </p:txBody>
      </p:sp>
      <p:sp>
        <p:nvSpPr>
          <p:cNvPr id="41" name="filet_sc_Accès en urgence (« bris de glace »)"/>
          <p:cNvSpPr/>
          <p:nvPr/>
        </p:nvSpPr>
        <p:spPr>
          <a:xfrm>
            <a:off x="704088" y="6309360"/>
            <a:ext cx="2286000" cy="0"/>
          </a:xfrm>
          <a:prstGeom prst="line">
            <a:avLst/>
          </a:prstGeom>
          <a:noFill/>
          <a:ln w="9525">
            <a:solidFill>
              <a:srgbClr val="D9A441"/>
            </a:solidFill>
            <a:prstDash val="solid"/>
          </a:ln>
        </p:spPr>
      </p:sp>
      <p:sp>
        <p:nvSpPr>
          <p:cNvPr id="42" name="Text 35"/>
          <p:cNvSpPr txBox="1"/>
          <p:nvPr/>
        </p:nvSpPr>
        <p:spPr>
          <a:xfrm>
            <a:off x="63093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Situation d'urgence</a:t>
            </a:r>
            <a:endParaRPr lang="en-US" sz="1000" dirty="0"/>
          </a:p>
        </p:txBody>
      </p:sp>
      <p:sp>
        <p:nvSpPr>
          <p:cNvPr id="43" name="souscarte_Messagerie de santé"/>
          <p:cNvSpPr/>
          <p:nvPr/>
        </p:nvSpPr>
        <p:spPr>
          <a:xfrm>
            <a:off x="3355848" y="3840480"/>
            <a:ext cx="2651760" cy="2834640"/>
          </a:xfrm>
          <a:prstGeom prst="roundRect">
            <a:avLst>
              <a:gd name="adj" fmla="val 3448"/>
            </a:avLst>
          </a:prstGeom>
          <a:solidFill>
            <a:srgbClr val="FBF1DE"/>
          </a:solidFill>
          <a:ln w="19050">
            <a:solidFill>
              <a:srgbClr val="D9A441"/>
            </a:solidFill>
            <a:prstDash val="solid"/>
          </a:ln>
        </p:spPr>
      </p:sp>
      <p:sp>
        <p:nvSpPr>
          <p:cNvPr id="44" name="Text 37"/>
          <p:cNvSpPr txBox="1"/>
          <p:nvPr/>
        </p:nvSpPr>
        <p:spPr>
          <a:xfrm>
            <a:off x="344728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MON ESPACE SANTÉ</a:t>
            </a:r>
            <a:endParaRPr lang="en-US" sz="900" dirty="0"/>
          </a:p>
        </p:txBody>
      </p:sp>
      <p:sp>
        <p:nvSpPr>
          <p:cNvPr id="45" name="pastille_sc_Messagerie de santé"/>
          <p:cNvSpPr/>
          <p:nvPr/>
        </p:nvSpPr>
        <p:spPr>
          <a:xfrm>
            <a:off x="4352544" y="4224528"/>
            <a:ext cx="658368" cy="658368"/>
          </a:xfrm>
          <a:prstGeom prst="ellipse">
            <a:avLst/>
          </a:prstGeom>
          <a:solidFill>
            <a:srgbClr val="D9A441"/>
          </a:solidFill>
          <a:ln/>
        </p:spPr>
      </p:sp>
      <p:pic>
        <p:nvPicPr>
          <p:cNvPr id="46" name="icone_sc_Messagerie de santé" descr="preencoded.png">    </p:cNvPr>
          <p:cNvPicPr>
            <a:picLocks noChangeAspect="1"/>
          </p:cNvPicPr>
          <p:nvPr/>
        </p:nvPicPr>
        <p:blipFill>
          <a:blip r:embed="rId6"/>
          <a:stretch>
            <a:fillRect/>
          </a:stretch>
        </p:blipFill>
        <p:spPr>
          <a:xfrm>
            <a:off x="4507992" y="4379976"/>
            <a:ext cx="347472" cy="347472"/>
          </a:xfrm>
          <a:prstGeom prst="rect">
            <a:avLst/>
          </a:prstGeom>
        </p:spPr>
      </p:pic>
      <p:sp>
        <p:nvSpPr>
          <p:cNvPr id="47" name="Text 39"/>
          <p:cNvSpPr txBox="1"/>
          <p:nvPr/>
        </p:nvSpPr>
        <p:spPr>
          <a:xfrm>
            <a:off x="346557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Messagerie de santé</a:t>
            </a:r>
            <a:endParaRPr lang="en-US" sz="1400" dirty="0"/>
          </a:p>
        </p:txBody>
      </p:sp>
      <p:sp>
        <p:nvSpPr>
          <p:cNvPr id="48" name="Text 40"/>
          <p:cNvSpPr txBox="1"/>
          <p:nvPr/>
        </p:nvSpPr>
        <p:spPr>
          <a:xfrm>
            <a:off x="349300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professionnel écrit au patient depuis sa MSSanté ; le patient peut seulement répondre (exception : il peut écrire à sa pharmacie).</a:t>
            </a:r>
            <a:endParaRPr lang="en-US" sz="1000" dirty="0"/>
          </a:p>
        </p:txBody>
      </p:sp>
      <p:sp>
        <p:nvSpPr>
          <p:cNvPr id="49" name="filet_sc_Messagerie de santé"/>
          <p:cNvSpPr/>
          <p:nvPr/>
        </p:nvSpPr>
        <p:spPr>
          <a:xfrm>
            <a:off x="3538728" y="6309360"/>
            <a:ext cx="2286000" cy="0"/>
          </a:xfrm>
          <a:prstGeom prst="line">
            <a:avLst/>
          </a:prstGeom>
          <a:noFill/>
          <a:ln w="9525">
            <a:solidFill>
              <a:srgbClr val="D9A441"/>
            </a:solidFill>
            <a:prstDash val="solid"/>
          </a:ln>
        </p:spPr>
      </p:sp>
      <p:sp>
        <p:nvSpPr>
          <p:cNvPr id="50" name="Text 42"/>
          <p:cNvSpPr txBox="1"/>
          <p:nvPr/>
        </p:nvSpPr>
        <p:spPr>
          <a:xfrm>
            <a:off x="346557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Professionnel → patient</a:t>
            </a:r>
            <a:endParaRPr lang="en-US" sz="1000" dirty="0"/>
          </a:p>
        </p:txBody>
      </p:sp>
      <p:sp>
        <p:nvSpPr>
          <p:cNvPr id="51" name="souscarte_Contacts d'urgence"/>
          <p:cNvSpPr/>
          <p:nvPr/>
        </p:nvSpPr>
        <p:spPr>
          <a:xfrm>
            <a:off x="6190488" y="3840480"/>
            <a:ext cx="2651760" cy="2834640"/>
          </a:xfrm>
          <a:prstGeom prst="roundRect">
            <a:avLst>
              <a:gd name="adj" fmla="val 3448"/>
            </a:avLst>
          </a:prstGeom>
          <a:solidFill>
            <a:srgbClr val="FBF1DE"/>
          </a:solidFill>
          <a:ln w="19050">
            <a:solidFill>
              <a:srgbClr val="D9A441"/>
            </a:solidFill>
            <a:prstDash val="solid"/>
          </a:ln>
        </p:spPr>
      </p:sp>
      <p:sp>
        <p:nvSpPr>
          <p:cNvPr id="52" name="Text 44"/>
          <p:cNvSpPr txBox="1"/>
          <p:nvPr/>
        </p:nvSpPr>
        <p:spPr>
          <a:xfrm>
            <a:off x="628192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MON ESPACE SANTÉ</a:t>
            </a:r>
            <a:endParaRPr lang="en-US" sz="900" dirty="0"/>
          </a:p>
        </p:txBody>
      </p:sp>
      <p:sp>
        <p:nvSpPr>
          <p:cNvPr id="53" name="pastille_sc_Contacts d'urgence"/>
          <p:cNvSpPr/>
          <p:nvPr/>
        </p:nvSpPr>
        <p:spPr>
          <a:xfrm>
            <a:off x="7187184" y="4224528"/>
            <a:ext cx="658368" cy="658368"/>
          </a:xfrm>
          <a:prstGeom prst="ellipse">
            <a:avLst/>
          </a:prstGeom>
          <a:solidFill>
            <a:srgbClr val="D9A441"/>
          </a:solidFill>
          <a:ln/>
        </p:spPr>
      </p:sp>
      <p:pic>
        <p:nvPicPr>
          <p:cNvPr id="54" name="icone_sc_Contacts d'urgence" descr="preencoded.png">    </p:cNvPr>
          <p:cNvPicPr>
            <a:picLocks noChangeAspect="1"/>
          </p:cNvPicPr>
          <p:nvPr/>
        </p:nvPicPr>
        <p:blipFill>
          <a:blip r:embed="rId7"/>
          <a:stretch>
            <a:fillRect/>
          </a:stretch>
        </p:blipFill>
        <p:spPr>
          <a:xfrm>
            <a:off x="7342632" y="4379976"/>
            <a:ext cx="347472" cy="347472"/>
          </a:xfrm>
          <a:prstGeom prst="rect">
            <a:avLst/>
          </a:prstGeom>
        </p:spPr>
      </p:pic>
      <p:sp>
        <p:nvSpPr>
          <p:cNvPr id="55" name="Text 46"/>
          <p:cNvSpPr txBox="1"/>
          <p:nvPr/>
        </p:nvSpPr>
        <p:spPr>
          <a:xfrm>
            <a:off x="630021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Contacts d'urgence</a:t>
            </a:r>
            <a:endParaRPr lang="en-US" sz="1400" dirty="0"/>
          </a:p>
        </p:txBody>
      </p:sp>
      <p:sp>
        <p:nvSpPr>
          <p:cNvPr id="56" name="Text 47"/>
          <p:cNvSpPr txBox="1"/>
          <p:nvPr/>
        </p:nvSpPr>
        <p:spPr>
          <a:xfrm>
            <a:off x="632764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Dans son profil médical, le patient peut renseigner les personnes à prévenir en cas d'urgence et sa personne de confiance.</a:t>
            </a:r>
            <a:endParaRPr lang="en-US" sz="1000" dirty="0"/>
          </a:p>
        </p:txBody>
      </p:sp>
      <p:sp>
        <p:nvSpPr>
          <p:cNvPr id="57" name="filet_sc_Contacts d'urgence"/>
          <p:cNvSpPr/>
          <p:nvPr/>
        </p:nvSpPr>
        <p:spPr>
          <a:xfrm>
            <a:off x="6373368" y="6309360"/>
            <a:ext cx="2286000" cy="0"/>
          </a:xfrm>
          <a:prstGeom prst="line">
            <a:avLst/>
          </a:prstGeom>
          <a:noFill/>
          <a:ln w="9525">
            <a:solidFill>
              <a:srgbClr val="D9A441"/>
            </a:solidFill>
            <a:prstDash val="solid"/>
          </a:ln>
        </p:spPr>
      </p:sp>
      <p:sp>
        <p:nvSpPr>
          <p:cNvPr id="58" name="Text 49"/>
          <p:cNvSpPr txBox="1"/>
          <p:nvPr/>
        </p:nvSpPr>
        <p:spPr>
          <a:xfrm>
            <a:off x="630021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Renseigné par le patient</a:t>
            </a:r>
            <a:endParaRPr lang="en-US" sz="1000" dirty="0"/>
          </a:p>
        </p:txBody>
      </p:sp>
      <p:sp>
        <p:nvSpPr>
          <p:cNvPr id="59" name="souscarte_Catalogue de services"/>
          <p:cNvSpPr/>
          <p:nvPr/>
        </p:nvSpPr>
        <p:spPr>
          <a:xfrm>
            <a:off x="9025128" y="3840480"/>
            <a:ext cx="2651760" cy="2834640"/>
          </a:xfrm>
          <a:prstGeom prst="roundRect">
            <a:avLst>
              <a:gd name="adj" fmla="val 3448"/>
            </a:avLst>
          </a:prstGeom>
          <a:solidFill>
            <a:srgbClr val="FBF1DE"/>
          </a:solidFill>
          <a:ln w="19050">
            <a:solidFill>
              <a:srgbClr val="D9A441"/>
            </a:solidFill>
            <a:prstDash val="solid"/>
          </a:ln>
        </p:spPr>
      </p:sp>
      <p:sp>
        <p:nvSpPr>
          <p:cNvPr id="60" name="Text 51"/>
          <p:cNvSpPr txBox="1"/>
          <p:nvPr/>
        </p:nvSpPr>
        <p:spPr>
          <a:xfrm>
            <a:off x="911656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MON ESPACE SANTÉ</a:t>
            </a:r>
            <a:endParaRPr lang="en-US" sz="900" dirty="0"/>
          </a:p>
        </p:txBody>
      </p:sp>
      <p:sp>
        <p:nvSpPr>
          <p:cNvPr id="61" name="pastille_sc_Catalogue de services"/>
          <p:cNvSpPr/>
          <p:nvPr/>
        </p:nvSpPr>
        <p:spPr>
          <a:xfrm>
            <a:off x="10021824" y="4224528"/>
            <a:ext cx="658368" cy="658368"/>
          </a:xfrm>
          <a:prstGeom prst="ellipse">
            <a:avLst/>
          </a:prstGeom>
          <a:solidFill>
            <a:srgbClr val="D9A441"/>
          </a:solidFill>
          <a:ln/>
        </p:spPr>
      </p:sp>
      <p:pic>
        <p:nvPicPr>
          <p:cNvPr id="62" name="icone_sc_Catalogue de services" descr="preencoded.png">    </p:cNvPr>
          <p:cNvPicPr>
            <a:picLocks noChangeAspect="1"/>
          </p:cNvPicPr>
          <p:nvPr/>
        </p:nvPicPr>
        <p:blipFill>
          <a:blip r:embed="rId8"/>
          <a:stretch>
            <a:fillRect/>
          </a:stretch>
        </p:blipFill>
        <p:spPr>
          <a:xfrm>
            <a:off x="10177272" y="4379976"/>
            <a:ext cx="347472" cy="347472"/>
          </a:xfrm>
          <a:prstGeom prst="rect">
            <a:avLst/>
          </a:prstGeom>
        </p:spPr>
      </p:pic>
      <p:sp>
        <p:nvSpPr>
          <p:cNvPr id="63" name="Text 53"/>
          <p:cNvSpPr txBox="1"/>
          <p:nvPr/>
        </p:nvSpPr>
        <p:spPr>
          <a:xfrm>
            <a:off x="913485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Catalogue de services</a:t>
            </a:r>
            <a:endParaRPr lang="en-US" sz="1400" dirty="0"/>
          </a:p>
        </p:txBody>
      </p:sp>
      <p:sp>
        <p:nvSpPr>
          <p:cNvPr id="64" name="Text 54"/>
          <p:cNvSpPr txBox="1"/>
          <p:nvPr/>
        </p:nvSpPr>
        <p:spPr>
          <a:xfrm>
            <a:off x="916228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Applications et services référencés que le patient peut relier à son espace pour y verser ou y consulter des données de santé.</a:t>
            </a:r>
            <a:endParaRPr lang="en-US" sz="1000" dirty="0"/>
          </a:p>
        </p:txBody>
      </p:sp>
      <p:sp>
        <p:nvSpPr>
          <p:cNvPr id="65" name="filet_sc_Catalogue de services"/>
          <p:cNvSpPr/>
          <p:nvPr/>
        </p:nvSpPr>
        <p:spPr>
          <a:xfrm>
            <a:off x="9208008" y="6309360"/>
            <a:ext cx="2286000" cy="0"/>
          </a:xfrm>
          <a:prstGeom prst="line">
            <a:avLst/>
          </a:prstGeom>
          <a:noFill/>
          <a:ln w="9525">
            <a:solidFill>
              <a:srgbClr val="D9A441"/>
            </a:solidFill>
            <a:prstDash val="solid"/>
          </a:ln>
        </p:spPr>
      </p:sp>
      <p:sp>
        <p:nvSpPr>
          <p:cNvPr id="66" name="Text 56"/>
          <p:cNvSpPr txBox="1"/>
          <p:nvPr/>
        </p:nvSpPr>
        <p:spPr>
          <a:xfrm>
            <a:off x="913485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Choisi par le patient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Sous-cartes : usages précis (2/2)</a:t>
            </a:r>
            <a:endParaRPr lang="en-US" sz="2000" dirty="0"/>
          </a:p>
        </p:txBody>
      </p:sp>
      <p:sp>
        <p:nvSpPr>
          <p:cNvPr id="3" name="souscarte_Cercle de soins"/>
          <p:cNvSpPr/>
          <p:nvPr/>
        </p:nvSpPr>
        <p:spPr>
          <a:xfrm>
            <a:off x="521208" y="868680"/>
            <a:ext cx="2651760" cy="2834640"/>
          </a:xfrm>
          <a:prstGeom prst="roundRect">
            <a:avLst>
              <a:gd name="adj" fmla="val 3448"/>
            </a:avLst>
          </a:prstGeom>
          <a:solidFill>
            <a:srgbClr val="FBF1DE"/>
          </a:solidFill>
          <a:ln w="19050">
            <a:solidFill>
              <a:srgbClr val="D9A441"/>
            </a:solidFill>
            <a:prstDash val="solid"/>
          </a:ln>
        </p:spPr>
      </p:sp>
      <p:sp>
        <p:nvSpPr>
          <p:cNvPr id="4" name="Text 2"/>
          <p:cNvSpPr txBox="1"/>
          <p:nvPr/>
        </p:nvSpPr>
        <p:spPr>
          <a:xfrm>
            <a:off x="61264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SANTÉLIEN</a:t>
            </a:r>
            <a:endParaRPr lang="en-US" sz="900" dirty="0"/>
          </a:p>
        </p:txBody>
      </p:sp>
      <p:sp>
        <p:nvSpPr>
          <p:cNvPr id="5" name="pastille_sc_Cercle de soins"/>
          <p:cNvSpPr/>
          <p:nvPr/>
        </p:nvSpPr>
        <p:spPr>
          <a:xfrm>
            <a:off x="1517904" y="1252728"/>
            <a:ext cx="658368" cy="658368"/>
          </a:xfrm>
          <a:prstGeom prst="ellipse">
            <a:avLst/>
          </a:prstGeom>
          <a:solidFill>
            <a:srgbClr val="D9A441"/>
          </a:solidFill>
          <a:ln/>
        </p:spPr>
      </p:sp>
      <p:pic>
        <p:nvPicPr>
          <p:cNvPr id="6" name="icone_sc_Cercle de soins" descr="preencoded.png">    </p:cNvPr>
          <p:cNvPicPr>
            <a:picLocks noChangeAspect="1"/>
          </p:cNvPicPr>
          <p:nvPr/>
        </p:nvPicPr>
        <p:blipFill>
          <a:blip r:embed="rId1"/>
          <a:stretch>
            <a:fillRect/>
          </a:stretch>
        </p:blipFill>
        <p:spPr>
          <a:xfrm>
            <a:off x="1673352" y="1408176"/>
            <a:ext cx="347472" cy="347472"/>
          </a:xfrm>
          <a:prstGeom prst="rect">
            <a:avLst/>
          </a:prstGeom>
        </p:spPr>
      </p:pic>
      <p:sp>
        <p:nvSpPr>
          <p:cNvPr id="7" name="Text 4"/>
          <p:cNvSpPr txBox="1"/>
          <p:nvPr/>
        </p:nvSpPr>
        <p:spPr>
          <a:xfrm>
            <a:off x="63093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Cercle de soins</a:t>
            </a:r>
            <a:endParaRPr lang="en-US" sz="1400" dirty="0"/>
          </a:p>
        </p:txBody>
      </p:sp>
      <p:sp>
        <p:nvSpPr>
          <p:cNvPr id="8" name="Text 5"/>
          <p:cNvSpPr txBox="1"/>
          <p:nvPr/>
        </p:nvSpPr>
        <p:spPr>
          <a:xfrm>
            <a:off x="65836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La liste des intervenants autour du patient (professionnels, structures, aidants) avec leurs coordonnées.</a:t>
            </a:r>
            <a:endParaRPr lang="en-US" sz="1000" dirty="0"/>
          </a:p>
        </p:txBody>
      </p:sp>
      <p:sp>
        <p:nvSpPr>
          <p:cNvPr id="9" name="filet_sc_Cercle de soins"/>
          <p:cNvSpPr/>
          <p:nvPr/>
        </p:nvSpPr>
        <p:spPr>
          <a:xfrm>
            <a:off x="704088" y="3337560"/>
            <a:ext cx="2286000" cy="0"/>
          </a:xfrm>
          <a:prstGeom prst="line">
            <a:avLst/>
          </a:prstGeom>
          <a:noFill/>
          <a:ln w="9525">
            <a:solidFill>
              <a:srgbClr val="D9A441"/>
            </a:solidFill>
            <a:prstDash val="solid"/>
          </a:ln>
        </p:spPr>
      </p:sp>
      <p:sp>
        <p:nvSpPr>
          <p:cNvPr id="10" name="Text 7"/>
          <p:cNvSpPr txBox="1"/>
          <p:nvPr/>
        </p:nvSpPr>
        <p:spPr>
          <a:xfrm>
            <a:off x="63093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Qui intervient ?</a:t>
            </a:r>
            <a:endParaRPr lang="en-US" sz="1000" dirty="0"/>
          </a:p>
        </p:txBody>
      </p:sp>
      <p:sp>
        <p:nvSpPr>
          <p:cNvPr id="11" name="souscarte_Cahier de liaison"/>
          <p:cNvSpPr/>
          <p:nvPr/>
        </p:nvSpPr>
        <p:spPr>
          <a:xfrm>
            <a:off x="3355848" y="868680"/>
            <a:ext cx="2651760" cy="2834640"/>
          </a:xfrm>
          <a:prstGeom prst="roundRect">
            <a:avLst>
              <a:gd name="adj" fmla="val 3448"/>
            </a:avLst>
          </a:prstGeom>
          <a:solidFill>
            <a:srgbClr val="FBF1DE"/>
          </a:solidFill>
          <a:ln w="19050">
            <a:solidFill>
              <a:srgbClr val="D9A441"/>
            </a:solidFill>
            <a:prstDash val="solid"/>
          </a:ln>
        </p:spPr>
      </p:sp>
      <p:sp>
        <p:nvSpPr>
          <p:cNvPr id="12" name="Text 9"/>
          <p:cNvSpPr txBox="1"/>
          <p:nvPr/>
        </p:nvSpPr>
        <p:spPr>
          <a:xfrm>
            <a:off x="344728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SANTÉLIEN</a:t>
            </a:r>
            <a:endParaRPr lang="en-US" sz="900" dirty="0"/>
          </a:p>
        </p:txBody>
      </p:sp>
      <p:sp>
        <p:nvSpPr>
          <p:cNvPr id="13" name="pastille_sc_Cahier de liaison"/>
          <p:cNvSpPr/>
          <p:nvPr/>
        </p:nvSpPr>
        <p:spPr>
          <a:xfrm>
            <a:off x="4352544" y="1252728"/>
            <a:ext cx="658368" cy="658368"/>
          </a:xfrm>
          <a:prstGeom prst="ellipse">
            <a:avLst/>
          </a:prstGeom>
          <a:solidFill>
            <a:srgbClr val="D9A441"/>
          </a:solidFill>
          <a:ln/>
        </p:spPr>
      </p:sp>
      <p:pic>
        <p:nvPicPr>
          <p:cNvPr id="14" name="icone_sc_Cahier de liaison" descr="preencoded.png">    </p:cNvPr>
          <p:cNvPicPr>
            <a:picLocks noChangeAspect="1"/>
          </p:cNvPicPr>
          <p:nvPr/>
        </p:nvPicPr>
        <p:blipFill>
          <a:blip r:embed="rId2"/>
          <a:stretch>
            <a:fillRect/>
          </a:stretch>
        </p:blipFill>
        <p:spPr>
          <a:xfrm>
            <a:off x="4507992" y="1408176"/>
            <a:ext cx="347472" cy="347472"/>
          </a:xfrm>
          <a:prstGeom prst="rect">
            <a:avLst/>
          </a:prstGeom>
        </p:spPr>
      </p:pic>
      <p:sp>
        <p:nvSpPr>
          <p:cNvPr id="15" name="Text 11"/>
          <p:cNvSpPr txBox="1"/>
          <p:nvPr/>
        </p:nvSpPr>
        <p:spPr>
          <a:xfrm>
            <a:off x="346557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Cahier de liaison</a:t>
            </a:r>
            <a:endParaRPr lang="en-US" sz="1400" dirty="0"/>
          </a:p>
        </p:txBody>
      </p:sp>
      <p:sp>
        <p:nvSpPr>
          <p:cNvPr id="16" name="Text 12"/>
          <p:cNvSpPr txBox="1"/>
          <p:nvPr/>
        </p:nvSpPr>
        <p:spPr>
          <a:xfrm>
            <a:off x="349300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Notes de liaison et de coordination partagées et historisées entre les membres du cercle de soins.</a:t>
            </a:r>
            <a:endParaRPr lang="en-US" sz="1000" dirty="0"/>
          </a:p>
        </p:txBody>
      </p:sp>
      <p:sp>
        <p:nvSpPr>
          <p:cNvPr id="17" name="filet_sc_Cahier de liaison"/>
          <p:cNvSpPr/>
          <p:nvPr/>
        </p:nvSpPr>
        <p:spPr>
          <a:xfrm>
            <a:off x="3538728" y="3337560"/>
            <a:ext cx="2286000" cy="0"/>
          </a:xfrm>
          <a:prstGeom prst="line">
            <a:avLst/>
          </a:prstGeom>
          <a:noFill/>
          <a:ln w="9525">
            <a:solidFill>
              <a:srgbClr val="D9A441"/>
            </a:solidFill>
            <a:prstDash val="solid"/>
          </a:ln>
        </p:spPr>
      </p:sp>
      <p:sp>
        <p:nvSpPr>
          <p:cNvPr id="18" name="Text 14"/>
          <p:cNvSpPr txBox="1"/>
          <p:nvPr/>
        </p:nvSpPr>
        <p:spPr>
          <a:xfrm>
            <a:off x="346557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Trace partagée</a:t>
            </a:r>
            <a:endParaRPr lang="en-US" sz="1000" dirty="0"/>
          </a:p>
        </p:txBody>
      </p:sp>
      <p:sp>
        <p:nvSpPr>
          <p:cNvPr id="19" name="souscarte_Sollicitation d'une équipe ressource"/>
          <p:cNvSpPr/>
          <p:nvPr/>
        </p:nvSpPr>
        <p:spPr>
          <a:xfrm>
            <a:off x="6190488" y="868680"/>
            <a:ext cx="2651760" cy="2834640"/>
          </a:xfrm>
          <a:prstGeom prst="roundRect">
            <a:avLst>
              <a:gd name="adj" fmla="val 3448"/>
            </a:avLst>
          </a:prstGeom>
          <a:solidFill>
            <a:srgbClr val="FBF1DE"/>
          </a:solidFill>
          <a:ln w="19050">
            <a:solidFill>
              <a:srgbClr val="D9A441"/>
            </a:solidFill>
            <a:prstDash val="solid"/>
          </a:ln>
        </p:spPr>
      </p:sp>
      <p:sp>
        <p:nvSpPr>
          <p:cNvPr id="20" name="Text 16"/>
          <p:cNvSpPr txBox="1"/>
          <p:nvPr/>
        </p:nvSpPr>
        <p:spPr>
          <a:xfrm>
            <a:off x="628192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SANTÉLIEN</a:t>
            </a:r>
            <a:endParaRPr lang="en-US" sz="900" dirty="0"/>
          </a:p>
        </p:txBody>
      </p:sp>
      <p:sp>
        <p:nvSpPr>
          <p:cNvPr id="21" name="pastille_sc_Sollicitation d'une équipe ressource"/>
          <p:cNvSpPr/>
          <p:nvPr/>
        </p:nvSpPr>
        <p:spPr>
          <a:xfrm>
            <a:off x="7187184" y="1252728"/>
            <a:ext cx="658368" cy="658368"/>
          </a:xfrm>
          <a:prstGeom prst="ellipse">
            <a:avLst/>
          </a:prstGeom>
          <a:solidFill>
            <a:srgbClr val="D9A441"/>
          </a:solidFill>
          <a:ln/>
        </p:spPr>
      </p:sp>
      <p:pic>
        <p:nvPicPr>
          <p:cNvPr id="22" name="icone_sc_Sollicitation d'une équipe ressource" descr="preencoded.png">    </p:cNvPr>
          <p:cNvPicPr>
            <a:picLocks noChangeAspect="1"/>
          </p:cNvPicPr>
          <p:nvPr/>
        </p:nvPicPr>
        <p:blipFill>
          <a:blip r:embed="rId3"/>
          <a:stretch>
            <a:fillRect/>
          </a:stretch>
        </p:blipFill>
        <p:spPr>
          <a:xfrm>
            <a:off x="7342632" y="1408176"/>
            <a:ext cx="347472" cy="347472"/>
          </a:xfrm>
          <a:prstGeom prst="rect">
            <a:avLst/>
          </a:prstGeom>
        </p:spPr>
      </p:pic>
      <p:sp>
        <p:nvSpPr>
          <p:cNvPr id="23" name="Text 18"/>
          <p:cNvSpPr txBox="1"/>
          <p:nvPr/>
        </p:nvSpPr>
        <p:spPr>
          <a:xfrm>
            <a:off x="630021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Sollicitation d'une équipe ressource</a:t>
            </a:r>
            <a:endParaRPr lang="en-US" sz="1400" dirty="0"/>
          </a:p>
        </p:txBody>
      </p:sp>
      <p:sp>
        <p:nvSpPr>
          <p:cNvPr id="24" name="Text 19"/>
          <p:cNvSpPr txBox="1"/>
          <p:nvPr/>
        </p:nvSpPr>
        <p:spPr>
          <a:xfrm>
            <a:off x="632764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Adresser une demande de prise en charge, d'appui ou d'avis à une structure qui l'a paramétrée (CPTS, DAC, équipe mobile…).</a:t>
            </a:r>
            <a:endParaRPr lang="en-US" sz="1000" dirty="0"/>
          </a:p>
        </p:txBody>
      </p:sp>
      <p:sp>
        <p:nvSpPr>
          <p:cNvPr id="25" name="filet_sc_Sollicitation d'une équipe ressource"/>
          <p:cNvSpPr/>
          <p:nvPr/>
        </p:nvSpPr>
        <p:spPr>
          <a:xfrm>
            <a:off x="6373368" y="3337560"/>
            <a:ext cx="2286000" cy="0"/>
          </a:xfrm>
          <a:prstGeom prst="line">
            <a:avLst/>
          </a:prstGeom>
          <a:noFill/>
          <a:ln w="9525">
            <a:solidFill>
              <a:srgbClr val="D9A441"/>
            </a:solidFill>
            <a:prstDash val="solid"/>
          </a:ln>
        </p:spPr>
      </p:sp>
      <p:sp>
        <p:nvSpPr>
          <p:cNvPr id="26" name="Text 21"/>
          <p:cNvSpPr txBox="1"/>
          <p:nvPr/>
        </p:nvSpPr>
        <p:spPr>
          <a:xfrm>
            <a:off x="630021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Demande d'appui</a:t>
            </a:r>
            <a:endParaRPr lang="en-US" sz="1000" dirty="0"/>
          </a:p>
        </p:txBody>
      </p:sp>
      <p:sp>
        <p:nvSpPr>
          <p:cNvPr id="27" name="souscarte_Prise de rendez-vous en ligne"/>
          <p:cNvSpPr/>
          <p:nvPr/>
        </p:nvSpPr>
        <p:spPr>
          <a:xfrm>
            <a:off x="9025128" y="868680"/>
            <a:ext cx="2651760" cy="2834640"/>
          </a:xfrm>
          <a:prstGeom prst="roundRect">
            <a:avLst>
              <a:gd name="adj" fmla="val 3448"/>
            </a:avLst>
          </a:prstGeom>
          <a:solidFill>
            <a:srgbClr val="FBF1DE"/>
          </a:solidFill>
          <a:ln w="19050">
            <a:solidFill>
              <a:srgbClr val="D9A441"/>
            </a:solidFill>
            <a:prstDash val="solid"/>
          </a:ln>
        </p:spPr>
      </p:sp>
      <p:sp>
        <p:nvSpPr>
          <p:cNvPr id="28" name="Text 23"/>
          <p:cNvSpPr txBox="1"/>
          <p:nvPr/>
        </p:nvSpPr>
        <p:spPr>
          <a:xfrm>
            <a:off x="9116568" y="9784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DOCTOLIB</a:t>
            </a:r>
            <a:endParaRPr lang="en-US" sz="900" dirty="0"/>
          </a:p>
        </p:txBody>
      </p:sp>
      <p:sp>
        <p:nvSpPr>
          <p:cNvPr id="29" name="pastille_sc_Prise de rendez-vous en ligne"/>
          <p:cNvSpPr/>
          <p:nvPr/>
        </p:nvSpPr>
        <p:spPr>
          <a:xfrm>
            <a:off x="10021824" y="1252728"/>
            <a:ext cx="658368" cy="658368"/>
          </a:xfrm>
          <a:prstGeom prst="ellipse">
            <a:avLst/>
          </a:prstGeom>
          <a:solidFill>
            <a:srgbClr val="D9A441"/>
          </a:solidFill>
          <a:ln/>
        </p:spPr>
      </p:sp>
      <p:pic>
        <p:nvPicPr>
          <p:cNvPr id="30" name="icone_sc_Prise de rendez-vous en ligne" descr="preencoded.png">    </p:cNvPr>
          <p:cNvPicPr>
            <a:picLocks noChangeAspect="1"/>
          </p:cNvPicPr>
          <p:nvPr/>
        </p:nvPicPr>
        <p:blipFill>
          <a:blip r:embed="rId4"/>
          <a:stretch>
            <a:fillRect/>
          </a:stretch>
        </p:blipFill>
        <p:spPr>
          <a:xfrm>
            <a:off x="10177272" y="1408176"/>
            <a:ext cx="347472" cy="347472"/>
          </a:xfrm>
          <a:prstGeom prst="rect">
            <a:avLst/>
          </a:prstGeom>
        </p:spPr>
      </p:pic>
      <p:sp>
        <p:nvSpPr>
          <p:cNvPr id="31" name="Text 25"/>
          <p:cNvSpPr txBox="1"/>
          <p:nvPr/>
        </p:nvSpPr>
        <p:spPr>
          <a:xfrm>
            <a:off x="9134856" y="19659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Prise de rendez-vous en ligne</a:t>
            </a:r>
            <a:endParaRPr lang="en-US" sz="1400" dirty="0"/>
          </a:p>
        </p:txBody>
      </p:sp>
      <p:sp>
        <p:nvSpPr>
          <p:cNvPr id="32" name="Text 26"/>
          <p:cNvSpPr txBox="1"/>
          <p:nvPr/>
        </p:nvSpPr>
        <p:spPr>
          <a:xfrm>
            <a:off x="9162288" y="24963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Le patient réserve un créneau chez un professionnel abonné au service. Outil conçu pour la prise de rendez-vous, non pour la coordination.</a:t>
            </a:r>
            <a:endParaRPr lang="en-US" sz="1000" dirty="0"/>
          </a:p>
        </p:txBody>
      </p:sp>
      <p:sp>
        <p:nvSpPr>
          <p:cNvPr id="33" name="filet_sc_Prise de rendez-vous en ligne"/>
          <p:cNvSpPr/>
          <p:nvPr/>
        </p:nvSpPr>
        <p:spPr>
          <a:xfrm>
            <a:off x="9208008" y="3337560"/>
            <a:ext cx="2286000" cy="0"/>
          </a:xfrm>
          <a:prstGeom prst="line">
            <a:avLst/>
          </a:prstGeom>
          <a:noFill/>
          <a:ln w="9525">
            <a:solidFill>
              <a:srgbClr val="D9A441"/>
            </a:solidFill>
            <a:prstDash val="solid"/>
          </a:ln>
        </p:spPr>
      </p:sp>
      <p:sp>
        <p:nvSpPr>
          <p:cNvPr id="34" name="Text 28"/>
          <p:cNvSpPr txBox="1"/>
          <p:nvPr/>
        </p:nvSpPr>
        <p:spPr>
          <a:xfrm>
            <a:off x="9134856" y="33649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Solution commerciale</a:t>
            </a:r>
            <a:endParaRPr lang="en-US" sz="1000" dirty="0"/>
          </a:p>
        </p:txBody>
      </p:sp>
      <p:sp>
        <p:nvSpPr>
          <p:cNvPr id="35" name="souscarte_Messagerie Doctolib Siilo"/>
          <p:cNvSpPr/>
          <p:nvPr/>
        </p:nvSpPr>
        <p:spPr>
          <a:xfrm>
            <a:off x="521208" y="3840480"/>
            <a:ext cx="2651760" cy="2834640"/>
          </a:xfrm>
          <a:prstGeom prst="roundRect">
            <a:avLst>
              <a:gd name="adj" fmla="val 3448"/>
            </a:avLst>
          </a:prstGeom>
          <a:solidFill>
            <a:srgbClr val="FBF1DE"/>
          </a:solidFill>
          <a:ln w="19050">
            <a:solidFill>
              <a:srgbClr val="D9A441"/>
            </a:solidFill>
            <a:prstDash val="solid"/>
          </a:ln>
        </p:spPr>
      </p:sp>
      <p:sp>
        <p:nvSpPr>
          <p:cNvPr id="36" name="Text 30"/>
          <p:cNvSpPr txBox="1"/>
          <p:nvPr/>
        </p:nvSpPr>
        <p:spPr>
          <a:xfrm>
            <a:off x="61264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DOCTOLIB</a:t>
            </a:r>
            <a:endParaRPr lang="en-US" sz="900" dirty="0"/>
          </a:p>
        </p:txBody>
      </p:sp>
      <p:sp>
        <p:nvSpPr>
          <p:cNvPr id="37" name="pastille_sc_Messagerie Doctolib Siilo"/>
          <p:cNvSpPr/>
          <p:nvPr/>
        </p:nvSpPr>
        <p:spPr>
          <a:xfrm>
            <a:off x="1517904" y="4224528"/>
            <a:ext cx="658368" cy="658368"/>
          </a:xfrm>
          <a:prstGeom prst="ellipse">
            <a:avLst/>
          </a:prstGeom>
          <a:solidFill>
            <a:srgbClr val="D9A441"/>
          </a:solidFill>
          <a:ln/>
        </p:spPr>
      </p:sp>
      <p:pic>
        <p:nvPicPr>
          <p:cNvPr id="38" name="icone_sc_Messagerie Doctolib Siilo" descr="preencoded.png">    </p:cNvPr>
          <p:cNvPicPr>
            <a:picLocks noChangeAspect="1"/>
          </p:cNvPicPr>
          <p:nvPr/>
        </p:nvPicPr>
        <p:blipFill>
          <a:blip r:embed="rId5"/>
          <a:stretch>
            <a:fillRect/>
          </a:stretch>
        </p:blipFill>
        <p:spPr>
          <a:xfrm>
            <a:off x="1673352" y="4379976"/>
            <a:ext cx="347472" cy="347472"/>
          </a:xfrm>
          <a:prstGeom prst="rect">
            <a:avLst/>
          </a:prstGeom>
        </p:spPr>
      </p:pic>
      <p:sp>
        <p:nvSpPr>
          <p:cNvPr id="39" name="Text 32"/>
          <p:cNvSpPr txBox="1"/>
          <p:nvPr/>
        </p:nvSpPr>
        <p:spPr>
          <a:xfrm>
            <a:off x="63093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Messagerie Doctolib Siilo</a:t>
            </a:r>
            <a:endParaRPr lang="en-US" sz="1400" dirty="0"/>
          </a:p>
        </p:txBody>
      </p:sp>
      <p:sp>
        <p:nvSpPr>
          <p:cNvPr id="40" name="Text 33"/>
          <p:cNvSpPr txBox="1"/>
          <p:nvPr/>
        </p:nvSpPr>
        <p:spPr>
          <a:xfrm>
            <a:off x="65836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Messagerie instantanée entre professionnels proposée par Doctolib (présentée par l'éditeur comme chiffrée). Statut au regard de l'Espace de confiance MSSanté non établi.</a:t>
            </a:r>
            <a:endParaRPr lang="en-US" sz="1000" dirty="0"/>
          </a:p>
        </p:txBody>
      </p:sp>
      <p:sp>
        <p:nvSpPr>
          <p:cNvPr id="41" name="filet_sc_Messagerie Doctolib Siilo"/>
          <p:cNvSpPr/>
          <p:nvPr/>
        </p:nvSpPr>
        <p:spPr>
          <a:xfrm>
            <a:off x="704088" y="6309360"/>
            <a:ext cx="2286000" cy="0"/>
          </a:xfrm>
          <a:prstGeom prst="line">
            <a:avLst/>
          </a:prstGeom>
          <a:noFill/>
          <a:ln w="9525">
            <a:solidFill>
              <a:srgbClr val="D9A441"/>
            </a:solidFill>
            <a:prstDash val="solid"/>
          </a:ln>
        </p:spPr>
      </p:sp>
      <p:sp>
        <p:nvSpPr>
          <p:cNvPr id="42" name="Text 35"/>
          <p:cNvSpPr txBox="1"/>
          <p:nvPr/>
        </p:nvSpPr>
        <p:spPr>
          <a:xfrm>
            <a:off x="63093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Solution commerciale</a:t>
            </a:r>
            <a:endParaRPr lang="en-US" sz="1000" dirty="0"/>
          </a:p>
        </p:txBody>
      </p:sp>
      <p:sp>
        <p:nvSpPr>
          <p:cNvPr id="43" name="souscarte_Volet PRADO"/>
          <p:cNvSpPr/>
          <p:nvPr/>
        </p:nvSpPr>
        <p:spPr>
          <a:xfrm>
            <a:off x="3355848" y="3840480"/>
            <a:ext cx="2651760" cy="2834640"/>
          </a:xfrm>
          <a:prstGeom prst="roundRect">
            <a:avLst>
              <a:gd name="adj" fmla="val 3448"/>
            </a:avLst>
          </a:prstGeom>
          <a:solidFill>
            <a:srgbClr val="FBF1DE"/>
          </a:solidFill>
          <a:ln w="19050">
            <a:solidFill>
              <a:srgbClr val="D9A441"/>
            </a:solidFill>
            <a:prstDash val="solid"/>
          </a:ln>
        </p:spPr>
      </p:sp>
      <p:sp>
        <p:nvSpPr>
          <p:cNvPr id="44" name="Text 37"/>
          <p:cNvSpPr txBox="1"/>
          <p:nvPr/>
        </p:nvSpPr>
        <p:spPr>
          <a:xfrm>
            <a:off x="3447288" y="3950208"/>
            <a:ext cx="2468880" cy="237744"/>
          </a:xfrm>
          <a:prstGeom prst="rect">
            <a:avLst/>
          </a:prstGeom>
          <a:noFill/>
          <a:ln/>
        </p:spPr>
        <p:txBody>
          <a:bodyPr wrap="square" lIns="0" tIns="0" rIns="0" bIns="0" rtlCol="0" anchor="ctr"/>
          <a:lstStyle/>
          <a:p>
            <a:pPr algn="ctr" indent="0" marL="0">
              <a:buNone/>
            </a:pPr>
            <a:r>
              <a:rPr lang="en-US" sz="900" b="1" spc="100" kern="0" dirty="0">
                <a:solidFill>
                  <a:srgbClr val="D9A441"/>
                </a:solidFill>
                <a:latin typeface="Calibri" pitchFamily="34" charset="0"/>
                <a:ea typeface="Calibri" pitchFamily="34" charset="-122"/>
                <a:cs typeface="Calibri" pitchFamily="34" charset="-120"/>
              </a:rPr>
              <a:t>SOUS-CARTE · VIATRAJECTOIRE</a:t>
            </a:r>
            <a:endParaRPr lang="en-US" sz="900" dirty="0"/>
          </a:p>
        </p:txBody>
      </p:sp>
      <p:sp>
        <p:nvSpPr>
          <p:cNvPr id="45" name="pastille_sc_Volet PRADO"/>
          <p:cNvSpPr/>
          <p:nvPr/>
        </p:nvSpPr>
        <p:spPr>
          <a:xfrm>
            <a:off x="4352544" y="4224528"/>
            <a:ext cx="658368" cy="658368"/>
          </a:xfrm>
          <a:prstGeom prst="ellipse">
            <a:avLst/>
          </a:prstGeom>
          <a:solidFill>
            <a:srgbClr val="D9A441"/>
          </a:solidFill>
          <a:ln/>
        </p:spPr>
      </p:sp>
      <p:pic>
        <p:nvPicPr>
          <p:cNvPr id="46" name="icone_sc_Volet PRADO" descr="preencoded.png">    </p:cNvPr>
          <p:cNvPicPr>
            <a:picLocks noChangeAspect="1"/>
          </p:cNvPicPr>
          <p:nvPr/>
        </p:nvPicPr>
        <p:blipFill>
          <a:blip r:embed="rId6"/>
          <a:stretch>
            <a:fillRect/>
          </a:stretch>
        </p:blipFill>
        <p:spPr>
          <a:xfrm>
            <a:off x="4507992" y="4379976"/>
            <a:ext cx="347472" cy="347472"/>
          </a:xfrm>
          <a:prstGeom prst="rect">
            <a:avLst/>
          </a:prstGeom>
        </p:spPr>
      </p:pic>
      <p:sp>
        <p:nvSpPr>
          <p:cNvPr id="47" name="Text 39"/>
          <p:cNvSpPr txBox="1"/>
          <p:nvPr/>
        </p:nvSpPr>
        <p:spPr>
          <a:xfrm>
            <a:off x="3465576" y="4937760"/>
            <a:ext cx="2432304" cy="502920"/>
          </a:xfrm>
          <a:prstGeom prst="rect">
            <a:avLst/>
          </a:prstGeom>
          <a:noFill/>
          <a:ln/>
        </p:spPr>
        <p:txBody>
          <a:bodyPr wrap="square" lIns="0" tIns="0" rIns="0" bIns="0" rtlCol="0" anchor="ctr"/>
          <a:lstStyle/>
          <a:p>
            <a:pPr algn="ctr" indent="0" marL="0">
              <a:buNone/>
            </a:pPr>
            <a:r>
              <a:rPr lang="en-US" sz="1400" b="1" dirty="0">
                <a:solidFill>
                  <a:srgbClr val="16302A"/>
                </a:solidFill>
                <a:latin typeface="Georgia" pitchFamily="34" charset="0"/>
                <a:ea typeface="Georgia" pitchFamily="34" charset="-122"/>
                <a:cs typeface="Georgia" pitchFamily="34" charset="-120"/>
              </a:rPr>
              <a:t>Volet PRADO</a:t>
            </a:r>
            <a:endParaRPr lang="en-US" sz="1400" dirty="0"/>
          </a:p>
        </p:txBody>
      </p:sp>
      <p:sp>
        <p:nvSpPr>
          <p:cNvPr id="48" name="Text 40"/>
          <p:cNvSpPr txBox="1"/>
          <p:nvPr/>
        </p:nvSpPr>
        <p:spPr>
          <a:xfrm>
            <a:off x="3493008" y="5468112"/>
            <a:ext cx="2377440" cy="822960"/>
          </a:xfrm>
          <a:prstGeom prst="rect">
            <a:avLst/>
          </a:prstGeom>
          <a:noFill/>
          <a:ln/>
        </p:spPr>
        <p:txBody>
          <a:bodyPr wrap="square" lIns="0" tIns="0" rIns="0" bIns="0" rtlCol="0" anchor="t"/>
          <a:lstStyle/>
          <a:p>
            <a:pPr algn="ctr" indent="0" marL="0">
              <a:buNone/>
            </a:pPr>
            <a:r>
              <a:rPr lang="en-US" sz="1000" dirty="0">
                <a:solidFill>
                  <a:srgbClr val="16302A"/>
                </a:solidFill>
                <a:latin typeface="Calibri" pitchFamily="34" charset="0"/>
                <a:ea typeface="Calibri" pitchFamily="34" charset="-122"/>
                <a:cs typeface="Calibri" pitchFamily="34" charset="-120"/>
              </a:rPr>
              <a:t>L'établissement adresse la demande PRADO à la CPAM via ViaTrajectoire. Objectif fixé par la CNAM : toutes les demandes par ce canal fin 2026.</a:t>
            </a:r>
            <a:endParaRPr lang="en-US" sz="1000" dirty="0"/>
          </a:p>
        </p:txBody>
      </p:sp>
      <p:sp>
        <p:nvSpPr>
          <p:cNvPr id="49" name="filet_sc_Volet PRADO"/>
          <p:cNvSpPr/>
          <p:nvPr/>
        </p:nvSpPr>
        <p:spPr>
          <a:xfrm>
            <a:off x="3538728" y="6309360"/>
            <a:ext cx="2286000" cy="0"/>
          </a:xfrm>
          <a:prstGeom prst="line">
            <a:avLst/>
          </a:prstGeom>
          <a:noFill/>
          <a:ln w="9525">
            <a:solidFill>
              <a:srgbClr val="D9A441"/>
            </a:solidFill>
            <a:prstDash val="solid"/>
          </a:ln>
        </p:spPr>
      </p:sp>
      <p:sp>
        <p:nvSpPr>
          <p:cNvPr id="50" name="Text 42"/>
          <p:cNvSpPr txBox="1"/>
          <p:nvPr/>
        </p:nvSpPr>
        <p:spPr>
          <a:xfrm>
            <a:off x="3465576" y="6336792"/>
            <a:ext cx="2432304" cy="274320"/>
          </a:xfrm>
          <a:prstGeom prst="rect">
            <a:avLst/>
          </a:prstGeom>
          <a:noFill/>
          <a:ln/>
        </p:spPr>
        <p:txBody>
          <a:bodyPr wrap="square" lIns="0" tIns="0" rIns="0" bIns="0" rtlCol="0" anchor="ctr"/>
          <a:lstStyle/>
          <a:p>
            <a:pPr algn="ctr" indent="0" marL="0">
              <a:buNone/>
            </a:pPr>
            <a:r>
              <a:rPr lang="en-US" sz="1000" b="1" dirty="0">
                <a:solidFill>
                  <a:srgbClr val="1F4A42"/>
                </a:solidFill>
                <a:latin typeface="Calibri" pitchFamily="34" charset="0"/>
                <a:ea typeface="Calibri" pitchFamily="34" charset="-122"/>
                <a:cs typeface="Calibri" pitchFamily="34" charset="-120"/>
              </a:rPr>
              <a:t>Établissement → CPAM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Personnages : patients et acteurs (1/4)</a:t>
            </a:r>
            <a:endParaRPr lang="en-US" sz="2000" dirty="0"/>
          </a:p>
        </p:txBody>
      </p:sp>
      <p:pic>
        <p:nvPicPr>
          <p:cNvPr id="3" name="personnage_Monique" descr="preencoded.png">    </p:cNvPr>
          <p:cNvPicPr>
            <a:picLocks noChangeAspect="1"/>
          </p:cNvPicPr>
          <p:nvPr/>
        </p:nvPicPr>
        <p:blipFill>
          <a:blip r:embed="rId1"/>
          <a:stretch>
            <a:fillRect/>
          </a:stretch>
        </p:blipFill>
        <p:spPr>
          <a:xfrm>
            <a:off x="303732" y="868680"/>
            <a:ext cx="1950244" cy="4160520"/>
          </a:xfrm>
          <a:prstGeom prst="rect">
            <a:avLst/>
          </a:prstGeom>
        </p:spPr>
      </p:pic>
      <p:sp>
        <p:nvSpPr>
          <p:cNvPr id="4" name="Text 1"/>
          <p:cNvSpPr txBox="1"/>
          <p:nvPr/>
        </p:nvSpPr>
        <p:spPr>
          <a:xfrm>
            <a:off x="512064" y="5120640"/>
            <a:ext cx="1533579" cy="566928"/>
          </a:xfrm>
          <a:prstGeom prst="rect">
            <a:avLst/>
          </a:prstGeom>
          <a:noFill/>
          <a:ln/>
        </p:spPr>
        <p:txBody>
          <a:bodyPr wrap="square" lIns="0" tIns="0" rIns="0" bIns="0" rtlCol="0" anchor="t"/>
          <a:lstStyle/>
          <a:p>
            <a:pPr algn="ctr" indent="0" marL="0">
              <a:buNone/>
            </a:pPr>
            <a:r>
              <a:rPr lang="en-US" sz="1300" b="1" dirty="0">
                <a:solidFill>
                  <a:srgbClr val="E2704F"/>
                </a:solidFill>
                <a:latin typeface="Georgia" pitchFamily="34" charset="0"/>
                <a:ea typeface="Georgia" pitchFamily="34" charset="-122"/>
                <a:cs typeface="Georgia" pitchFamily="34" charset="-120"/>
              </a:rPr>
              <a:t>Monique</a:t>
            </a:r>
            <a:endParaRPr lang="en-US" sz="1300" dirty="0"/>
          </a:p>
        </p:txBody>
      </p:sp>
      <p:sp>
        <p:nvSpPr>
          <p:cNvPr id="5" name="Text 2"/>
          <p:cNvSpPr txBox="1"/>
          <p:nvPr/>
        </p:nvSpPr>
        <p:spPr>
          <a:xfrm>
            <a:off x="512064"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89 ans</a:t>
            </a:r>
            <a:endParaRPr lang="en-US" sz="1100" dirty="0"/>
          </a:p>
        </p:txBody>
      </p:sp>
      <p:pic>
        <p:nvPicPr>
          <p:cNvPr id="6" name="personnage_Philippe" descr="preencoded.png">    </p:cNvPr>
          <p:cNvPicPr>
            <a:picLocks noChangeAspect="1"/>
          </p:cNvPicPr>
          <p:nvPr/>
        </p:nvPicPr>
        <p:blipFill>
          <a:blip r:embed="rId2"/>
          <a:stretch>
            <a:fillRect/>
          </a:stretch>
        </p:blipFill>
        <p:spPr>
          <a:xfrm>
            <a:off x="1910463" y="868680"/>
            <a:ext cx="1950244" cy="4160520"/>
          </a:xfrm>
          <a:prstGeom prst="rect">
            <a:avLst/>
          </a:prstGeom>
        </p:spPr>
      </p:pic>
      <p:sp>
        <p:nvSpPr>
          <p:cNvPr id="7" name="Text 3"/>
          <p:cNvSpPr txBox="1"/>
          <p:nvPr/>
        </p:nvSpPr>
        <p:spPr>
          <a:xfrm>
            <a:off x="2118795" y="5120640"/>
            <a:ext cx="1533579" cy="566928"/>
          </a:xfrm>
          <a:prstGeom prst="rect">
            <a:avLst/>
          </a:prstGeom>
          <a:noFill/>
          <a:ln/>
        </p:spPr>
        <p:txBody>
          <a:bodyPr wrap="square" lIns="0" tIns="0" rIns="0" bIns="0" rtlCol="0" anchor="t"/>
          <a:lstStyle/>
          <a:p>
            <a:pPr algn="ctr" indent="0" marL="0">
              <a:buNone/>
            </a:pPr>
            <a:r>
              <a:rPr lang="en-US" sz="1300" b="1" dirty="0">
                <a:solidFill>
                  <a:srgbClr val="E2704F"/>
                </a:solidFill>
                <a:latin typeface="Georgia" pitchFamily="34" charset="0"/>
                <a:ea typeface="Georgia" pitchFamily="34" charset="-122"/>
                <a:cs typeface="Georgia" pitchFamily="34" charset="-120"/>
              </a:rPr>
              <a:t>Philippe</a:t>
            </a:r>
            <a:endParaRPr lang="en-US" sz="1300" dirty="0"/>
          </a:p>
        </p:txBody>
      </p:sp>
      <p:sp>
        <p:nvSpPr>
          <p:cNvPr id="8" name="Text 4"/>
          <p:cNvSpPr txBox="1"/>
          <p:nvPr/>
        </p:nvSpPr>
        <p:spPr>
          <a:xfrm>
            <a:off x="2118795"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58 ans</a:t>
            </a:r>
            <a:endParaRPr lang="en-US" sz="1100" dirty="0"/>
          </a:p>
        </p:txBody>
      </p:sp>
      <p:pic>
        <p:nvPicPr>
          <p:cNvPr id="9" name="personnage_Emilie" descr="preencoded.png">    </p:cNvPr>
          <p:cNvPicPr>
            <a:picLocks noChangeAspect="1"/>
          </p:cNvPicPr>
          <p:nvPr/>
        </p:nvPicPr>
        <p:blipFill>
          <a:blip r:embed="rId3"/>
          <a:stretch>
            <a:fillRect/>
          </a:stretch>
        </p:blipFill>
        <p:spPr>
          <a:xfrm>
            <a:off x="3517195" y="868680"/>
            <a:ext cx="1950244" cy="4160520"/>
          </a:xfrm>
          <a:prstGeom prst="rect">
            <a:avLst/>
          </a:prstGeom>
        </p:spPr>
      </p:pic>
      <p:sp>
        <p:nvSpPr>
          <p:cNvPr id="10" name="Text 5"/>
          <p:cNvSpPr txBox="1"/>
          <p:nvPr/>
        </p:nvSpPr>
        <p:spPr>
          <a:xfrm>
            <a:off x="3725527" y="5120640"/>
            <a:ext cx="1533579" cy="566928"/>
          </a:xfrm>
          <a:prstGeom prst="rect">
            <a:avLst/>
          </a:prstGeom>
          <a:noFill/>
          <a:ln/>
        </p:spPr>
        <p:txBody>
          <a:bodyPr wrap="square" lIns="0" tIns="0" rIns="0" bIns="0" rtlCol="0" anchor="t"/>
          <a:lstStyle/>
          <a:p>
            <a:pPr algn="ctr" indent="0" marL="0">
              <a:buNone/>
            </a:pPr>
            <a:r>
              <a:rPr lang="en-US" sz="1300" b="1" dirty="0">
                <a:solidFill>
                  <a:srgbClr val="E2704F"/>
                </a:solidFill>
                <a:latin typeface="Georgia" pitchFamily="34" charset="0"/>
                <a:ea typeface="Georgia" pitchFamily="34" charset="-122"/>
                <a:cs typeface="Georgia" pitchFamily="34" charset="-120"/>
              </a:rPr>
              <a:t>Emilie</a:t>
            </a:r>
            <a:endParaRPr lang="en-US" sz="1300" dirty="0"/>
          </a:p>
        </p:txBody>
      </p:sp>
      <p:sp>
        <p:nvSpPr>
          <p:cNvPr id="11" name="Text 6"/>
          <p:cNvSpPr txBox="1"/>
          <p:nvPr/>
        </p:nvSpPr>
        <p:spPr>
          <a:xfrm>
            <a:off x="3725527"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37 ans</a:t>
            </a:r>
            <a:endParaRPr lang="en-US" sz="1100" dirty="0"/>
          </a:p>
        </p:txBody>
      </p:sp>
      <p:pic>
        <p:nvPicPr>
          <p:cNvPr id="12" name="personnage_L'aidant familial" descr="preencoded.png">    </p:cNvPr>
          <p:cNvPicPr>
            <a:picLocks noChangeAspect="1"/>
          </p:cNvPicPr>
          <p:nvPr/>
        </p:nvPicPr>
        <p:blipFill>
          <a:blip r:embed="rId4"/>
          <a:stretch>
            <a:fillRect/>
          </a:stretch>
        </p:blipFill>
        <p:spPr>
          <a:xfrm>
            <a:off x="5123926" y="868680"/>
            <a:ext cx="1950244" cy="4160520"/>
          </a:xfrm>
          <a:prstGeom prst="rect">
            <a:avLst/>
          </a:prstGeom>
        </p:spPr>
      </p:pic>
      <p:sp>
        <p:nvSpPr>
          <p:cNvPr id="13" name="Text 7"/>
          <p:cNvSpPr txBox="1"/>
          <p:nvPr/>
        </p:nvSpPr>
        <p:spPr>
          <a:xfrm>
            <a:off x="5332258"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L'aidant familial</a:t>
            </a:r>
            <a:endParaRPr lang="en-US" sz="1300" dirty="0"/>
          </a:p>
        </p:txBody>
      </p:sp>
      <p:pic>
        <p:nvPicPr>
          <p:cNvPr id="14" name="personnage_Le médecin traitant" descr="preencoded.png">    </p:cNvPr>
          <p:cNvPicPr>
            <a:picLocks noChangeAspect="1"/>
          </p:cNvPicPr>
          <p:nvPr/>
        </p:nvPicPr>
        <p:blipFill>
          <a:blip r:embed="rId5"/>
          <a:stretch>
            <a:fillRect/>
          </a:stretch>
        </p:blipFill>
        <p:spPr>
          <a:xfrm>
            <a:off x="6730658" y="868680"/>
            <a:ext cx="1950244" cy="4160520"/>
          </a:xfrm>
          <a:prstGeom prst="rect">
            <a:avLst/>
          </a:prstGeom>
        </p:spPr>
      </p:pic>
      <p:sp>
        <p:nvSpPr>
          <p:cNvPr id="15" name="Text 8"/>
          <p:cNvSpPr txBox="1"/>
          <p:nvPr/>
        </p:nvSpPr>
        <p:spPr>
          <a:xfrm>
            <a:off x="6938990"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médecin traitant</a:t>
            </a:r>
            <a:endParaRPr lang="en-US" sz="1300" dirty="0"/>
          </a:p>
        </p:txBody>
      </p:sp>
      <p:pic>
        <p:nvPicPr>
          <p:cNvPr id="16" name="personnage_L'infirmier libéral (IDEL)" descr="preencoded.png">    </p:cNvPr>
          <p:cNvPicPr>
            <a:picLocks noChangeAspect="1"/>
          </p:cNvPicPr>
          <p:nvPr/>
        </p:nvPicPr>
        <p:blipFill>
          <a:blip r:embed="rId6"/>
          <a:stretch>
            <a:fillRect/>
          </a:stretch>
        </p:blipFill>
        <p:spPr>
          <a:xfrm>
            <a:off x="8337389" y="868680"/>
            <a:ext cx="1950244" cy="4160520"/>
          </a:xfrm>
          <a:prstGeom prst="rect">
            <a:avLst/>
          </a:prstGeom>
        </p:spPr>
      </p:pic>
      <p:sp>
        <p:nvSpPr>
          <p:cNvPr id="17" name="Text 9"/>
          <p:cNvSpPr txBox="1"/>
          <p:nvPr/>
        </p:nvSpPr>
        <p:spPr>
          <a:xfrm>
            <a:off x="8545721"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L'infirmier libéral (IDEL)</a:t>
            </a:r>
            <a:endParaRPr lang="en-US" sz="1300" dirty="0"/>
          </a:p>
        </p:txBody>
      </p:sp>
      <p:pic>
        <p:nvPicPr>
          <p:cNvPr id="18" name="personnage_L'infirmier en pratique avancée (IPA)" descr="preencoded.png">    </p:cNvPr>
          <p:cNvPicPr>
            <a:picLocks noChangeAspect="1"/>
          </p:cNvPicPr>
          <p:nvPr/>
        </p:nvPicPr>
        <p:blipFill>
          <a:blip r:embed="rId7"/>
          <a:stretch>
            <a:fillRect/>
          </a:stretch>
        </p:blipFill>
        <p:spPr>
          <a:xfrm>
            <a:off x="9944120" y="868680"/>
            <a:ext cx="1950244" cy="4160520"/>
          </a:xfrm>
          <a:prstGeom prst="rect">
            <a:avLst/>
          </a:prstGeom>
        </p:spPr>
      </p:pic>
      <p:sp>
        <p:nvSpPr>
          <p:cNvPr id="19" name="Text 10"/>
          <p:cNvSpPr txBox="1"/>
          <p:nvPr/>
        </p:nvSpPr>
        <p:spPr>
          <a:xfrm>
            <a:off x="10152453"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L'infirmier en pratique avancée (IPA)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Personnages : professionnels et acteurs (2/4)</a:t>
            </a:r>
            <a:endParaRPr lang="en-US" sz="2000" dirty="0"/>
          </a:p>
        </p:txBody>
      </p:sp>
      <p:pic>
        <p:nvPicPr>
          <p:cNvPr id="3" name="personnage_La sage-femme libérale" descr="preencoded.png">    </p:cNvPr>
          <p:cNvPicPr>
            <a:picLocks noChangeAspect="1"/>
          </p:cNvPicPr>
          <p:nvPr/>
        </p:nvPicPr>
        <p:blipFill>
          <a:blip r:embed="rId1"/>
          <a:stretch>
            <a:fillRect/>
          </a:stretch>
        </p:blipFill>
        <p:spPr>
          <a:xfrm>
            <a:off x="303732" y="868680"/>
            <a:ext cx="1950244" cy="4160520"/>
          </a:xfrm>
          <a:prstGeom prst="rect">
            <a:avLst/>
          </a:prstGeom>
        </p:spPr>
      </p:pic>
      <p:sp>
        <p:nvSpPr>
          <p:cNvPr id="4" name="Text 1"/>
          <p:cNvSpPr txBox="1"/>
          <p:nvPr/>
        </p:nvSpPr>
        <p:spPr>
          <a:xfrm>
            <a:off x="512064"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La sage-femme libérale</a:t>
            </a:r>
            <a:endParaRPr lang="en-US" sz="1300" dirty="0"/>
          </a:p>
        </p:txBody>
      </p:sp>
      <p:pic>
        <p:nvPicPr>
          <p:cNvPr id="5" name="personnage_La sage-femme de PMI" descr="preencoded.png">    </p:cNvPr>
          <p:cNvPicPr>
            <a:picLocks noChangeAspect="1"/>
          </p:cNvPicPr>
          <p:nvPr/>
        </p:nvPicPr>
        <p:blipFill>
          <a:blip r:embed="rId2"/>
          <a:stretch>
            <a:fillRect/>
          </a:stretch>
        </p:blipFill>
        <p:spPr>
          <a:xfrm>
            <a:off x="1910463" y="868680"/>
            <a:ext cx="1950244" cy="4160520"/>
          </a:xfrm>
          <a:prstGeom prst="rect">
            <a:avLst/>
          </a:prstGeom>
        </p:spPr>
      </p:pic>
      <p:sp>
        <p:nvSpPr>
          <p:cNvPr id="6" name="Text 2"/>
          <p:cNvSpPr txBox="1"/>
          <p:nvPr/>
        </p:nvSpPr>
        <p:spPr>
          <a:xfrm>
            <a:off x="2118795"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La sage-femme de PMI</a:t>
            </a:r>
            <a:endParaRPr lang="en-US" sz="1300" dirty="0"/>
          </a:p>
        </p:txBody>
      </p:sp>
      <p:pic>
        <p:nvPicPr>
          <p:cNvPr id="7" name="personnage_Le gynécologue" descr="preencoded.png">    </p:cNvPr>
          <p:cNvPicPr>
            <a:picLocks noChangeAspect="1"/>
          </p:cNvPicPr>
          <p:nvPr/>
        </p:nvPicPr>
        <p:blipFill>
          <a:blip r:embed="rId3"/>
          <a:stretch>
            <a:fillRect/>
          </a:stretch>
        </p:blipFill>
        <p:spPr>
          <a:xfrm>
            <a:off x="3517195" y="868680"/>
            <a:ext cx="1950244" cy="4160520"/>
          </a:xfrm>
          <a:prstGeom prst="rect">
            <a:avLst/>
          </a:prstGeom>
        </p:spPr>
      </p:pic>
      <p:sp>
        <p:nvSpPr>
          <p:cNvPr id="8" name="Text 3"/>
          <p:cNvSpPr txBox="1"/>
          <p:nvPr/>
        </p:nvSpPr>
        <p:spPr>
          <a:xfrm>
            <a:off x="3725527"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gynécologue</a:t>
            </a:r>
            <a:endParaRPr lang="en-US" sz="1300" dirty="0"/>
          </a:p>
        </p:txBody>
      </p:sp>
      <p:pic>
        <p:nvPicPr>
          <p:cNvPr id="9" name="personnage_Le diabétologue" descr="preencoded.png">    </p:cNvPr>
          <p:cNvPicPr>
            <a:picLocks noChangeAspect="1"/>
          </p:cNvPicPr>
          <p:nvPr/>
        </p:nvPicPr>
        <p:blipFill>
          <a:blip r:embed="rId4"/>
          <a:stretch>
            <a:fillRect/>
          </a:stretch>
        </p:blipFill>
        <p:spPr>
          <a:xfrm>
            <a:off x="5123926" y="868680"/>
            <a:ext cx="1950244" cy="4160520"/>
          </a:xfrm>
          <a:prstGeom prst="rect">
            <a:avLst/>
          </a:prstGeom>
        </p:spPr>
      </p:pic>
      <p:sp>
        <p:nvSpPr>
          <p:cNvPr id="10" name="Text 4"/>
          <p:cNvSpPr txBox="1"/>
          <p:nvPr/>
        </p:nvSpPr>
        <p:spPr>
          <a:xfrm>
            <a:off x="5332258" y="5120640"/>
            <a:ext cx="1533579" cy="566928"/>
          </a:xfrm>
          <a:prstGeom prst="rect">
            <a:avLst/>
          </a:prstGeom>
          <a:noFill/>
          <a:ln/>
        </p:spPr>
        <p:txBody>
          <a:bodyPr wrap="square" lIns="0" tIns="0" rIns="0" bIns="0" rtlCol="0" anchor="t"/>
          <a:lstStyle/>
          <a:p>
            <a:pPr algn="ctr" indent="0" marL="0">
              <a:buNone/>
            </a:pPr>
            <a:r>
              <a:rPr lang="en-US" sz="1150" b="1" dirty="0">
                <a:solidFill>
                  <a:srgbClr val="1F4A42"/>
                </a:solidFill>
                <a:latin typeface="Georgia" pitchFamily="34" charset="0"/>
                <a:ea typeface="Georgia" pitchFamily="34" charset="-122"/>
                <a:cs typeface="Georgia" pitchFamily="34" charset="-120"/>
              </a:rPr>
              <a:t>Le diabétologue</a:t>
            </a:r>
            <a:endParaRPr lang="en-US" sz="1150" dirty="0"/>
          </a:p>
        </p:txBody>
      </p:sp>
      <p:pic>
        <p:nvPicPr>
          <p:cNvPr id="11" name="personnage_Le cardiologue" descr="preencoded.png">    </p:cNvPr>
          <p:cNvPicPr>
            <a:picLocks noChangeAspect="1"/>
          </p:cNvPicPr>
          <p:nvPr/>
        </p:nvPicPr>
        <p:blipFill>
          <a:blip r:embed="rId5"/>
          <a:stretch>
            <a:fillRect/>
          </a:stretch>
        </p:blipFill>
        <p:spPr>
          <a:xfrm>
            <a:off x="6730658" y="868680"/>
            <a:ext cx="1950244" cy="4160520"/>
          </a:xfrm>
          <a:prstGeom prst="rect">
            <a:avLst/>
          </a:prstGeom>
        </p:spPr>
      </p:pic>
      <p:sp>
        <p:nvSpPr>
          <p:cNvPr id="12" name="Text 5"/>
          <p:cNvSpPr txBox="1"/>
          <p:nvPr/>
        </p:nvSpPr>
        <p:spPr>
          <a:xfrm>
            <a:off x="6938990"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cardiologue</a:t>
            </a:r>
            <a:endParaRPr lang="en-US" sz="1300" dirty="0"/>
          </a:p>
        </p:txBody>
      </p:sp>
      <p:pic>
        <p:nvPicPr>
          <p:cNvPr id="13" name="personnage_Les autres correspondants" descr="preencoded.png">    </p:cNvPr>
          <p:cNvPicPr>
            <a:picLocks noChangeAspect="1"/>
          </p:cNvPicPr>
          <p:nvPr/>
        </p:nvPicPr>
        <p:blipFill>
          <a:blip r:embed="rId6"/>
          <a:stretch>
            <a:fillRect/>
          </a:stretch>
        </p:blipFill>
        <p:spPr>
          <a:xfrm>
            <a:off x="8337389" y="868680"/>
            <a:ext cx="1950244" cy="4160520"/>
          </a:xfrm>
          <a:prstGeom prst="rect">
            <a:avLst/>
          </a:prstGeom>
        </p:spPr>
      </p:pic>
      <p:sp>
        <p:nvSpPr>
          <p:cNvPr id="14" name="Text 6"/>
          <p:cNvSpPr txBox="1"/>
          <p:nvPr/>
        </p:nvSpPr>
        <p:spPr>
          <a:xfrm>
            <a:off x="8545721" y="5120640"/>
            <a:ext cx="1533579" cy="566928"/>
          </a:xfrm>
          <a:prstGeom prst="rect">
            <a:avLst/>
          </a:prstGeom>
          <a:noFill/>
          <a:ln/>
        </p:spPr>
        <p:txBody>
          <a:bodyPr wrap="square" lIns="0" tIns="0" rIns="0" bIns="0" rtlCol="0" anchor="t"/>
          <a:lstStyle/>
          <a:p>
            <a:pPr algn="ctr" indent="0" marL="0">
              <a:buNone/>
            </a:pPr>
            <a:r>
              <a:rPr lang="en-US" sz="1150" b="1" dirty="0">
                <a:solidFill>
                  <a:srgbClr val="1F4A42"/>
                </a:solidFill>
                <a:latin typeface="Georgia" pitchFamily="34" charset="0"/>
                <a:ea typeface="Georgia" pitchFamily="34" charset="-122"/>
                <a:cs typeface="Georgia" pitchFamily="34" charset="-120"/>
              </a:rPr>
              <a:t>Les autres correspondants</a:t>
            </a:r>
            <a:endParaRPr lang="en-US" sz="1150" dirty="0"/>
          </a:p>
        </p:txBody>
      </p:sp>
      <p:sp>
        <p:nvSpPr>
          <p:cNvPr id="15" name="Text 7"/>
          <p:cNvSpPr txBox="1"/>
          <p:nvPr/>
        </p:nvSpPr>
        <p:spPr>
          <a:xfrm>
            <a:off x="8545721"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ophtalmo, podologue, dentiste</a:t>
            </a:r>
            <a:endParaRPr lang="en-US" sz="1100" dirty="0"/>
          </a:p>
        </p:txBody>
      </p:sp>
      <p:pic>
        <p:nvPicPr>
          <p:cNvPr id="16" name="personnage_Le pharmacien" descr="preencoded.png">    </p:cNvPr>
          <p:cNvPicPr>
            <a:picLocks noChangeAspect="1"/>
          </p:cNvPicPr>
          <p:nvPr/>
        </p:nvPicPr>
        <p:blipFill>
          <a:blip r:embed="rId7"/>
          <a:stretch>
            <a:fillRect/>
          </a:stretch>
        </p:blipFill>
        <p:spPr>
          <a:xfrm>
            <a:off x="9944120" y="868680"/>
            <a:ext cx="1950244" cy="4160520"/>
          </a:xfrm>
          <a:prstGeom prst="rect">
            <a:avLst/>
          </a:prstGeom>
        </p:spPr>
      </p:pic>
      <p:sp>
        <p:nvSpPr>
          <p:cNvPr id="17" name="Text 8"/>
          <p:cNvSpPr txBox="1"/>
          <p:nvPr/>
        </p:nvSpPr>
        <p:spPr>
          <a:xfrm>
            <a:off x="10152453"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pharmacien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Personnages : professionnels et acteurs (3/4)</a:t>
            </a:r>
            <a:endParaRPr lang="en-US" sz="2000" dirty="0"/>
          </a:p>
        </p:txBody>
      </p:sp>
      <p:pic>
        <p:nvPicPr>
          <p:cNvPr id="3" name="personnage_Le masseur-kinésithérapeute" descr="preencoded.png">    </p:cNvPr>
          <p:cNvPicPr>
            <a:picLocks noChangeAspect="1"/>
          </p:cNvPicPr>
          <p:nvPr/>
        </p:nvPicPr>
        <p:blipFill>
          <a:blip r:embed="rId1"/>
          <a:stretch>
            <a:fillRect/>
          </a:stretch>
        </p:blipFill>
        <p:spPr>
          <a:xfrm>
            <a:off x="303732" y="868680"/>
            <a:ext cx="1950244" cy="4160520"/>
          </a:xfrm>
          <a:prstGeom prst="rect">
            <a:avLst/>
          </a:prstGeom>
        </p:spPr>
      </p:pic>
      <p:sp>
        <p:nvSpPr>
          <p:cNvPr id="4" name="Text 1"/>
          <p:cNvSpPr txBox="1"/>
          <p:nvPr/>
        </p:nvSpPr>
        <p:spPr>
          <a:xfrm>
            <a:off x="512064" y="5120640"/>
            <a:ext cx="1533579" cy="566928"/>
          </a:xfrm>
          <a:prstGeom prst="rect">
            <a:avLst/>
          </a:prstGeom>
          <a:noFill/>
          <a:ln/>
        </p:spPr>
        <p:txBody>
          <a:bodyPr wrap="square" lIns="0" tIns="0" rIns="0" bIns="0" rtlCol="0" anchor="t"/>
          <a:lstStyle/>
          <a:p>
            <a:pPr algn="ctr" indent="0" marL="0">
              <a:buNone/>
            </a:pPr>
            <a:r>
              <a:rPr lang="en-US" sz="1150" b="1" dirty="0">
                <a:solidFill>
                  <a:srgbClr val="1F4A42"/>
                </a:solidFill>
                <a:latin typeface="Georgia" pitchFamily="34" charset="0"/>
                <a:ea typeface="Georgia" pitchFamily="34" charset="-122"/>
                <a:cs typeface="Georgia" pitchFamily="34" charset="-120"/>
              </a:rPr>
              <a:t>Le masseur-kinésithérapeute</a:t>
            </a:r>
            <a:endParaRPr lang="en-US" sz="1150" dirty="0"/>
          </a:p>
        </p:txBody>
      </p:sp>
      <p:pic>
        <p:nvPicPr>
          <p:cNvPr id="5" name="personnage_Le diététicien" descr="preencoded.png">    </p:cNvPr>
          <p:cNvPicPr>
            <a:picLocks noChangeAspect="1"/>
          </p:cNvPicPr>
          <p:nvPr/>
        </p:nvPicPr>
        <p:blipFill>
          <a:blip r:embed="rId2"/>
          <a:stretch>
            <a:fillRect/>
          </a:stretch>
        </p:blipFill>
        <p:spPr>
          <a:xfrm>
            <a:off x="1910463" y="868680"/>
            <a:ext cx="1950244" cy="4160520"/>
          </a:xfrm>
          <a:prstGeom prst="rect">
            <a:avLst/>
          </a:prstGeom>
        </p:spPr>
      </p:pic>
      <p:sp>
        <p:nvSpPr>
          <p:cNvPr id="6" name="Text 2"/>
          <p:cNvSpPr txBox="1"/>
          <p:nvPr/>
        </p:nvSpPr>
        <p:spPr>
          <a:xfrm>
            <a:off x="2118795"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diététicien</a:t>
            </a:r>
            <a:endParaRPr lang="en-US" sz="1300" dirty="0"/>
          </a:p>
        </p:txBody>
      </p:sp>
      <p:pic>
        <p:nvPicPr>
          <p:cNvPr id="7" name="personnage_Le laboratoire" descr="preencoded.png">    </p:cNvPr>
          <p:cNvPicPr>
            <a:picLocks noChangeAspect="1"/>
          </p:cNvPicPr>
          <p:nvPr/>
        </p:nvPicPr>
        <p:blipFill>
          <a:blip r:embed="rId3"/>
          <a:stretch>
            <a:fillRect/>
          </a:stretch>
        </p:blipFill>
        <p:spPr>
          <a:xfrm>
            <a:off x="3517195" y="868680"/>
            <a:ext cx="1950244" cy="4160520"/>
          </a:xfrm>
          <a:prstGeom prst="rect">
            <a:avLst/>
          </a:prstGeom>
        </p:spPr>
      </p:pic>
      <p:sp>
        <p:nvSpPr>
          <p:cNvPr id="8" name="Text 3"/>
          <p:cNvSpPr txBox="1"/>
          <p:nvPr/>
        </p:nvSpPr>
        <p:spPr>
          <a:xfrm>
            <a:off x="3725527"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laboratoire</a:t>
            </a:r>
            <a:endParaRPr lang="en-US" sz="1300" dirty="0"/>
          </a:p>
        </p:txBody>
      </p:sp>
      <p:sp>
        <p:nvSpPr>
          <p:cNvPr id="9" name="Text 4"/>
          <p:cNvSpPr txBox="1"/>
          <p:nvPr/>
        </p:nvSpPr>
        <p:spPr>
          <a:xfrm>
            <a:off x="3725527"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biologiste</a:t>
            </a:r>
            <a:endParaRPr lang="en-US" sz="1100" dirty="0"/>
          </a:p>
        </p:txBody>
      </p:sp>
      <p:pic>
        <p:nvPicPr>
          <p:cNvPr id="10" name="personnage_Le médecin urgentiste" descr="preencoded.png">    </p:cNvPr>
          <p:cNvPicPr>
            <a:picLocks noChangeAspect="1"/>
          </p:cNvPicPr>
          <p:nvPr/>
        </p:nvPicPr>
        <p:blipFill>
          <a:blip r:embed="rId4"/>
          <a:stretch>
            <a:fillRect/>
          </a:stretch>
        </p:blipFill>
        <p:spPr>
          <a:xfrm>
            <a:off x="5123926" y="868680"/>
            <a:ext cx="1950244" cy="4160520"/>
          </a:xfrm>
          <a:prstGeom prst="rect">
            <a:avLst/>
          </a:prstGeom>
        </p:spPr>
      </p:pic>
      <p:sp>
        <p:nvSpPr>
          <p:cNvPr id="11" name="Text 5"/>
          <p:cNvSpPr txBox="1"/>
          <p:nvPr/>
        </p:nvSpPr>
        <p:spPr>
          <a:xfrm>
            <a:off x="5332258"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médecin urgentiste</a:t>
            </a:r>
            <a:endParaRPr lang="en-US" sz="1300" dirty="0"/>
          </a:p>
        </p:txBody>
      </p:sp>
      <p:pic>
        <p:nvPicPr>
          <p:cNvPr id="12" name="personnage_Le service hospitalier" descr="preencoded.png">    </p:cNvPr>
          <p:cNvPicPr>
            <a:picLocks noChangeAspect="1"/>
          </p:cNvPicPr>
          <p:nvPr/>
        </p:nvPicPr>
        <p:blipFill>
          <a:blip r:embed="rId5"/>
          <a:stretch>
            <a:fillRect/>
          </a:stretch>
        </p:blipFill>
        <p:spPr>
          <a:xfrm>
            <a:off x="6730658" y="868680"/>
            <a:ext cx="1950244" cy="4160520"/>
          </a:xfrm>
          <a:prstGeom prst="rect">
            <a:avLst/>
          </a:prstGeom>
        </p:spPr>
      </p:pic>
      <p:sp>
        <p:nvSpPr>
          <p:cNvPr id="13" name="Text 6"/>
          <p:cNvSpPr txBox="1"/>
          <p:nvPr/>
        </p:nvSpPr>
        <p:spPr>
          <a:xfrm>
            <a:off x="6938990"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service hospitalier</a:t>
            </a:r>
            <a:endParaRPr lang="en-US" sz="1300" dirty="0"/>
          </a:p>
        </p:txBody>
      </p:sp>
      <p:sp>
        <p:nvSpPr>
          <p:cNvPr id="14" name="Text 7"/>
          <p:cNvSpPr txBox="1"/>
          <p:nvPr/>
        </p:nvSpPr>
        <p:spPr>
          <a:xfrm>
            <a:off x="6938990"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médecine interne</a:t>
            </a:r>
            <a:endParaRPr lang="en-US" sz="1100" dirty="0"/>
          </a:p>
        </p:txBody>
      </p:sp>
      <p:pic>
        <p:nvPicPr>
          <p:cNvPr id="15" name="personnage_La maternité" descr="preencoded.png">    </p:cNvPr>
          <p:cNvPicPr>
            <a:picLocks noChangeAspect="1"/>
          </p:cNvPicPr>
          <p:nvPr/>
        </p:nvPicPr>
        <p:blipFill>
          <a:blip r:embed="rId6"/>
          <a:stretch>
            <a:fillRect/>
          </a:stretch>
        </p:blipFill>
        <p:spPr>
          <a:xfrm>
            <a:off x="8337389" y="868680"/>
            <a:ext cx="1950244" cy="4160520"/>
          </a:xfrm>
          <a:prstGeom prst="rect">
            <a:avLst/>
          </a:prstGeom>
        </p:spPr>
      </p:pic>
      <p:sp>
        <p:nvSpPr>
          <p:cNvPr id="16" name="Text 8"/>
          <p:cNvSpPr txBox="1"/>
          <p:nvPr/>
        </p:nvSpPr>
        <p:spPr>
          <a:xfrm>
            <a:off x="8545721"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La maternité</a:t>
            </a:r>
            <a:endParaRPr lang="en-US" sz="1300" dirty="0"/>
          </a:p>
        </p:txBody>
      </p:sp>
      <p:sp>
        <p:nvSpPr>
          <p:cNvPr id="17" name="Text 9"/>
          <p:cNvSpPr txBox="1"/>
          <p:nvPr/>
        </p:nvSpPr>
        <p:spPr>
          <a:xfrm>
            <a:off x="8545721"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équipe obstétricale</a:t>
            </a:r>
            <a:endParaRPr lang="en-US" sz="1100" dirty="0"/>
          </a:p>
        </p:txBody>
      </p:sp>
      <p:pic>
        <p:nvPicPr>
          <p:cNvPr id="18" name="personnage_L'HAD" descr="preencoded.png">    </p:cNvPr>
          <p:cNvPicPr>
            <a:picLocks noChangeAspect="1"/>
          </p:cNvPicPr>
          <p:nvPr/>
        </p:nvPicPr>
        <p:blipFill>
          <a:blip r:embed="rId7"/>
          <a:stretch>
            <a:fillRect/>
          </a:stretch>
        </p:blipFill>
        <p:spPr>
          <a:xfrm>
            <a:off x="9944120" y="868680"/>
            <a:ext cx="1950244" cy="4160520"/>
          </a:xfrm>
          <a:prstGeom prst="rect">
            <a:avLst/>
          </a:prstGeom>
        </p:spPr>
      </p:pic>
      <p:sp>
        <p:nvSpPr>
          <p:cNvPr id="19" name="Text 10"/>
          <p:cNvSpPr txBox="1"/>
          <p:nvPr/>
        </p:nvSpPr>
        <p:spPr>
          <a:xfrm>
            <a:off x="10152453"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L'HAD</a:t>
            </a:r>
            <a:endParaRPr lang="en-US" sz="1300" dirty="0"/>
          </a:p>
        </p:txBody>
      </p:sp>
      <p:sp>
        <p:nvSpPr>
          <p:cNvPr id="20" name="Text 11"/>
          <p:cNvSpPr txBox="1"/>
          <p:nvPr/>
        </p:nvSpPr>
        <p:spPr>
          <a:xfrm>
            <a:off x="10152453"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hospitalisation à domicile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Personnages : professionnels et acteurs (4/4)</a:t>
            </a:r>
            <a:endParaRPr lang="en-US" sz="2000" dirty="0"/>
          </a:p>
        </p:txBody>
      </p:sp>
      <p:pic>
        <p:nvPicPr>
          <p:cNvPr id="3" name="personnage_L'EHPAD" descr="preencoded.png">    </p:cNvPr>
          <p:cNvPicPr>
            <a:picLocks noChangeAspect="1"/>
          </p:cNvPicPr>
          <p:nvPr/>
        </p:nvPicPr>
        <p:blipFill>
          <a:blip r:embed="rId1"/>
          <a:stretch>
            <a:fillRect/>
          </a:stretch>
        </p:blipFill>
        <p:spPr>
          <a:xfrm>
            <a:off x="303732" y="868680"/>
            <a:ext cx="1950244" cy="4160520"/>
          </a:xfrm>
          <a:prstGeom prst="rect">
            <a:avLst/>
          </a:prstGeom>
        </p:spPr>
      </p:pic>
      <p:sp>
        <p:nvSpPr>
          <p:cNvPr id="4" name="Text 1"/>
          <p:cNvSpPr txBox="1"/>
          <p:nvPr/>
        </p:nvSpPr>
        <p:spPr>
          <a:xfrm>
            <a:off x="512064"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L'EHPAD</a:t>
            </a:r>
            <a:endParaRPr lang="en-US" sz="1300" dirty="0"/>
          </a:p>
        </p:txBody>
      </p:sp>
      <p:sp>
        <p:nvSpPr>
          <p:cNvPr id="5" name="Text 2"/>
          <p:cNvSpPr txBox="1"/>
          <p:nvPr/>
        </p:nvSpPr>
        <p:spPr>
          <a:xfrm>
            <a:off x="512064"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hébergement temporaire</a:t>
            </a:r>
            <a:endParaRPr lang="en-US" sz="1100" dirty="0"/>
          </a:p>
        </p:txBody>
      </p:sp>
      <p:pic>
        <p:nvPicPr>
          <p:cNvPr id="6" name="personnage_Le centre de ressources territorial (CRT)" descr="preencoded.png">    </p:cNvPr>
          <p:cNvPicPr>
            <a:picLocks noChangeAspect="1"/>
          </p:cNvPicPr>
          <p:nvPr/>
        </p:nvPicPr>
        <p:blipFill>
          <a:blip r:embed="rId2"/>
          <a:stretch>
            <a:fillRect/>
          </a:stretch>
        </p:blipFill>
        <p:spPr>
          <a:xfrm>
            <a:off x="1910463" y="868680"/>
            <a:ext cx="1950244" cy="4160520"/>
          </a:xfrm>
          <a:prstGeom prst="rect">
            <a:avLst/>
          </a:prstGeom>
        </p:spPr>
      </p:pic>
      <p:sp>
        <p:nvSpPr>
          <p:cNvPr id="7" name="Text 3"/>
          <p:cNvSpPr txBox="1"/>
          <p:nvPr/>
        </p:nvSpPr>
        <p:spPr>
          <a:xfrm>
            <a:off x="2118795"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centre de ressources territorial (CRT)</a:t>
            </a:r>
            <a:endParaRPr lang="en-US" sz="1300" dirty="0"/>
          </a:p>
        </p:txBody>
      </p:sp>
      <p:pic>
        <p:nvPicPr>
          <p:cNvPr id="8" name="personnage_L'aide à domicile" descr="preencoded.png">    </p:cNvPr>
          <p:cNvPicPr>
            <a:picLocks noChangeAspect="1"/>
          </p:cNvPicPr>
          <p:nvPr/>
        </p:nvPicPr>
        <p:blipFill>
          <a:blip r:embed="rId3"/>
          <a:stretch>
            <a:fillRect/>
          </a:stretch>
        </p:blipFill>
        <p:spPr>
          <a:xfrm>
            <a:off x="3517195" y="868680"/>
            <a:ext cx="1950244" cy="4160520"/>
          </a:xfrm>
          <a:prstGeom prst="rect">
            <a:avLst/>
          </a:prstGeom>
        </p:spPr>
      </p:pic>
      <p:sp>
        <p:nvSpPr>
          <p:cNvPr id="9" name="Text 4"/>
          <p:cNvSpPr txBox="1"/>
          <p:nvPr/>
        </p:nvSpPr>
        <p:spPr>
          <a:xfrm>
            <a:off x="3725527"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L'aide à domicile</a:t>
            </a:r>
            <a:endParaRPr lang="en-US" sz="1300" dirty="0"/>
          </a:p>
        </p:txBody>
      </p:sp>
      <p:pic>
        <p:nvPicPr>
          <p:cNvPr id="10" name="personnage_Le CCAS" descr="preencoded.png">    </p:cNvPr>
          <p:cNvPicPr>
            <a:picLocks noChangeAspect="1"/>
          </p:cNvPicPr>
          <p:nvPr/>
        </p:nvPicPr>
        <p:blipFill>
          <a:blip r:embed="rId4"/>
          <a:stretch>
            <a:fillRect/>
          </a:stretch>
        </p:blipFill>
        <p:spPr>
          <a:xfrm>
            <a:off x="5123926" y="868680"/>
            <a:ext cx="1950244" cy="4160520"/>
          </a:xfrm>
          <a:prstGeom prst="rect">
            <a:avLst/>
          </a:prstGeom>
        </p:spPr>
      </p:pic>
      <p:sp>
        <p:nvSpPr>
          <p:cNvPr id="11" name="Text 5"/>
          <p:cNvSpPr txBox="1"/>
          <p:nvPr/>
        </p:nvSpPr>
        <p:spPr>
          <a:xfrm>
            <a:off x="5332258"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CCAS</a:t>
            </a:r>
            <a:endParaRPr lang="en-US" sz="1300" dirty="0"/>
          </a:p>
        </p:txBody>
      </p:sp>
      <p:sp>
        <p:nvSpPr>
          <p:cNvPr id="12" name="Text 6"/>
          <p:cNvSpPr txBox="1"/>
          <p:nvPr/>
        </p:nvSpPr>
        <p:spPr>
          <a:xfrm>
            <a:off x="5332258" y="5833872"/>
            <a:ext cx="1533579" cy="365760"/>
          </a:xfrm>
          <a:prstGeom prst="rect">
            <a:avLst/>
          </a:prstGeom>
          <a:noFill/>
          <a:ln/>
        </p:spPr>
        <p:txBody>
          <a:bodyPr wrap="square" lIns="0" tIns="0" rIns="0" bIns="0" rtlCol="0" anchor="t"/>
          <a:lstStyle/>
          <a:p>
            <a:pPr algn="ctr" indent="0" marL="0">
              <a:buNone/>
            </a:pPr>
            <a:r>
              <a:rPr lang="en-US" sz="1100" i="1" dirty="0">
                <a:solidFill>
                  <a:srgbClr val="6B7A73"/>
                </a:solidFill>
                <a:latin typeface="Calibri" pitchFamily="34" charset="0"/>
                <a:ea typeface="Calibri" pitchFamily="34" charset="-122"/>
                <a:cs typeface="Calibri" pitchFamily="34" charset="-120"/>
              </a:rPr>
              <a:t>agent d'accueil</a:t>
            </a:r>
            <a:endParaRPr lang="en-US" sz="1100" dirty="0"/>
          </a:p>
        </p:txBody>
      </p:sp>
      <p:pic>
        <p:nvPicPr>
          <p:cNvPr id="13" name="personnage_L'assistant(e) social(e)" descr="preencoded.png">    </p:cNvPr>
          <p:cNvPicPr>
            <a:picLocks noChangeAspect="1"/>
          </p:cNvPicPr>
          <p:nvPr/>
        </p:nvPicPr>
        <p:blipFill>
          <a:blip r:embed="rId5"/>
          <a:stretch>
            <a:fillRect/>
          </a:stretch>
        </p:blipFill>
        <p:spPr>
          <a:xfrm>
            <a:off x="6730658" y="868680"/>
            <a:ext cx="1950244" cy="4160520"/>
          </a:xfrm>
          <a:prstGeom prst="rect">
            <a:avLst/>
          </a:prstGeom>
        </p:spPr>
      </p:pic>
      <p:sp>
        <p:nvSpPr>
          <p:cNvPr id="14" name="Text 7"/>
          <p:cNvSpPr txBox="1"/>
          <p:nvPr/>
        </p:nvSpPr>
        <p:spPr>
          <a:xfrm>
            <a:off x="6938990" y="5120640"/>
            <a:ext cx="1533579" cy="566928"/>
          </a:xfrm>
          <a:prstGeom prst="rect">
            <a:avLst/>
          </a:prstGeom>
          <a:noFill/>
          <a:ln/>
        </p:spPr>
        <p:txBody>
          <a:bodyPr wrap="square" lIns="0" tIns="0" rIns="0" bIns="0" rtlCol="0" anchor="t"/>
          <a:lstStyle/>
          <a:p>
            <a:pPr algn="ctr" indent="0" marL="0">
              <a:buNone/>
            </a:pPr>
            <a:r>
              <a:rPr lang="en-US" sz="1150" b="1" dirty="0">
                <a:solidFill>
                  <a:srgbClr val="1F4A42"/>
                </a:solidFill>
                <a:latin typeface="Georgia" pitchFamily="34" charset="0"/>
                <a:ea typeface="Georgia" pitchFamily="34" charset="-122"/>
                <a:cs typeface="Georgia" pitchFamily="34" charset="-120"/>
              </a:rPr>
              <a:t>L'assistant(e) social(e)</a:t>
            </a:r>
            <a:endParaRPr lang="en-US" sz="1150" dirty="0"/>
          </a:p>
        </p:txBody>
      </p:sp>
      <p:pic>
        <p:nvPicPr>
          <p:cNvPr id="15" name="personnage_Le coordinateur de CPTS" descr="preencoded.png">    </p:cNvPr>
          <p:cNvPicPr>
            <a:picLocks noChangeAspect="1"/>
          </p:cNvPicPr>
          <p:nvPr/>
        </p:nvPicPr>
        <p:blipFill>
          <a:blip r:embed="rId6"/>
          <a:stretch>
            <a:fillRect/>
          </a:stretch>
        </p:blipFill>
        <p:spPr>
          <a:xfrm>
            <a:off x="8337389" y="868680"/>
            <a:ext cx="1950244" cy="4160520"/>
          </a:xfrm>
          <a:prstGeom prst="rect">
            <a:avLst/>
          </a:prstGeom>
        </p:spPr>
      </p:pic>
      <p:sp>
        <p:nvSpPr>
          <p:cNvPr id="16" name="Text 8"/>
          <p:cNvSpPr txBox="1"/>
          <p:nvPr/>
        </p:nvSpPr>
        <p:spPr>
          <a:xfrm>
            <a:off x="8545721" y="5120640"/>
            <a:ext cx="1533579" cy="566928"/>
          </a:xfrm>
          <a:prstGeom prst="rect">
            <a:avLst/>
          </a:prstGeom>
          <a:noFill/>
          <a:ln/>
        </p:spPr>
        <p:txBody>
          <a:bodyPr wrap="square" lIns="0" tIns="0" rIns="0" bIns="0" rtlCol="0" anchor="t"/>
          <a:lstStyle/>
          <a:p>
            <a:pPr algn="ctr" indent="0" marL="0">
              <a:buNone/>
            </a:pPr>
            <a:r>
              <a:rPr lang="en-US" sz="1150" b="1" dirty="0">
                <a:solidFill>
                  <a:srgbClr val="1F4A42"/>
                </a:solidFill>
                <a:latin typeface="Georgia" pitchFamily="34" charset="0"/>
                <a:ea typeface="Georgia" pitchFamily="34" charset="-122"/>
                <a:cs typeface="Georgia" pitchFamily="34" charset="-120"/>
              </a:rPr>
              <a:t>Le coordinateur de CPTS</a:t>
            </a:r>
            <a:endParaRPr lang="en-US" sz="1150" dirty="0"/>
          </a:p>
        </p:txBody>
      </p:sp>
      <p:pic>
        <p:nvPicPr>
          <p:cNvPr id="17" name="personnage_Le conseiller de l'Assurance Maladie" descr="preencoded.png">    </p:cNvPr>
          <p:cNvPicPr>
            <a:picLocks noChangeAspect="1"/>
          </p:cNvPicPr>
          <p:nvPr/>
        </p:nvPicPr>
        <p:blipFill>
          <a:blip r:embed="rId7"/>
          <a:stretch>
            <a:fillRect/>
          </a:stretch>
        </p:blipFill>
        <p:spPr>
          <a:xfrm>
            <a:off x="9944120" y="868680"/>
            <a:ext cx="1950244" cy="4160520"/>
          </a:xfrm>
          <a:prstGeom prst="rect">
            <a:avLst/>
          </a:prstGeom>
        </p:spPr>
      </p:pic>
      <p:sp>
        <p:nvSpPr>
          <p:cNvPr id="18" name="Text 9"/>
          <p:cNvSpPr txBox="1"/>
          <p:nvPr/>
        </p:nvSpPr>
        <p:spPr>
          <a:xfrm>
            <a:off x="10152453" y="5120640"/>
            <a:ext cx="1533579" cy="566928"/>
          </a:xfrm>
          <a:prstGeom prst="rect">
            <a:avLst/>
          </a:prstGeom>
          <a:noFill/>
          <a:ln/>
        </p:spPr>
        <p:txBody>
          <a:bodyPr wrap="square" lIns="0" tIns="0" rIns="0" bIns="0" rtlCol="0" anchor="t"/>
          <a:lstStyle/>
          <a:p>
            <a:pPr algn="ctr" indent="0" marL="0">
              <a:buNone/>
            </a:pPr>
            <a:r>
              <a:rPr lang="en-US" sz="1300" b="1" dirty="0">
                <a:solidFill>
                  <a:srgbClr val="1F4A42"/>
                </a:solidFill>
                <a:latin typeface="Georgia" pitchFamily="34" charset="0"/>
                <a:ea typeface="Georgia" pitchFamily="34" charset="-122"/>
                <a:cs typeface="Georgia" pitchFamily="34" charset="-120"/>
              </a:rPr>
              <a:t>Le conseiller de l'Assurance Maladie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Cartes irritants (1/2)</a:t>
            </a:r>
            <a:endParaRPr lang="en-US" sz="2000" dirty="0"/>
          </a:p>
        </p:txBody>
      </p:sp>
      <p:sp>
        <p:nvSpPr>
          <p:cNvPr id="3" name="irritant_I1"/>
          <p:cNvSpPr/>
          <p:nvPr/>
        </p:nvSpPr>
        <p:spPr>
          <a:xfrm>
            <a:off x="521208" y="868680"/>
            <a:ext cx="2651760" cy="2834640"/>
          </a:xfrm>
          <a:prstGeom prst="roundRect">
            <a:avLst>
              <a:gd name="adj" fmla="val 3448"/>
            </a:avLst>
          </a:prstGeom>
          <a:solidFill>
            <a:srgbClr val="FDE8E6"/>
          </a:solidFill>
          <a:ln w="19050">
            <a:solidFill>
              <a:srgbClr val="C0392B"/>
            </a:solidFill>
            <a:prstDash val="solid"/>
          </a:ln>
        </p:spPr>
      </p:sp>
      <p:sp>
        <p:nvSpPr>
          <p:cNvPr id="4" name="Text 2"/>
          <p:cNvSpPr txBox="1"/>
          <p:nvPr/>
        </p:nvSpPr>
        <p:spPr>
          <a:xfrm>
            <a:off x="61264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I1</a:t>
            </a:r>
            <a:endParaRPr lang="en-US" sz="950" dirty="0"/>
          </a:p>
        </p:txBody>
      </p:sp>
      <p:sp>
        <p:nvSpPr>
          <p:cNvPr id="5" name="pastille_irr"/>
          <p:cNvSpPr/>
          <p:nvPr/>
        </p:nvSpPr>
        <p:spPr>
          <a:xfrm>
            <a:off x="1595628" y="1280160"/>
            <a:ext cx="502920" cy="502920"/>
          </a:xfrm>
          <a:prstGeom prst="ellipse">
            <a:avLst/>
          </a:prstGeom>
          <a:solidFill>
            <a:srgbClr val="C0392B"/>
          </a:solidFill>
          <a:ln/>
        </p:spPr>
      </p:sp>
      <p:sp>
        <p:nvSpPr>
          <p:cNvPr id="6" name="Text 4"/>
          <p:cNvSpPr txBox="1"/>
          <p:nvPr/>
        </p:nvSpPr>
        <p:spPr>
          <a:xfrm>
            <a:off x="159562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68580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Les infirmiers libéraux ne sont pas prévenus de la sortie d'hospitalisation. »</a:t>
            </a:r>
            <a:endParaRPr lang="en-US" sz="1300" dirty="0"/>
          </a:p>
        </p:txBody>
      </p:sp>
      <p:sp>
        <p:nvSpPr>
          <p:cNvPr id="8" name="filet_irr"/>
          <p:cNvSpPr/>
          <p:nvPr/>
        </p:nvSpPr>
        <p:spPr>
          <a:xfrm>
            <a:off x="704088" y="3081528"/>
            <a:ext cx="2286000" cy="0"/>
          </a:xfrm>
          <a:prstGeom prst="line">
            <a:avLst/>
          </a:prstGeom>
          <a:noFill/>
          <a:ln w="9525">
            <a:solidFill>
              <a:srgbClr val="C0392B"/>
            </a:solidFill>
            <a:prstDash val="solid"/>
          </a:ln>
        </p:spPr>
      </p:sp>
      <p:sp>
        <p:nvSpPr>
          <p:cNvPr id="9" name="Text 7"/>
          <p:cNvSpPr txBox="1"/>
          <p:nvPr/>
        </p:nvSpPr>
        <p:spPr>
          <a:xfrm>
            <a:off x="63093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Santélien · MSSanté · DMP</a:t>
            </a:r>
            <a:endParaRPr lang="en-US" sz="900" dirty="0"/>
          </a:p>
        </p:txBody>
      </p:sp>
      <p:sp>
        <p:nvSpPr>
          <p:cNvPr id="10" name="Text 8"/>
          <p:cNvSpPr txBox="1"/>
          <p:nvPr/>
        </p:nvSpPr>
        <p:spPr>
          <a:xfrm>
            <a:off x="63093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Monique</a:t>
            </a:r>
            <a:endParaRPr lang="en-US" sz="900" dirty="0"/>
          </a:p>
        </p:txBody>
      </p:sp>
      <p:sp>
        <p:nvSpPr>
          <p:cNvPr id="11" name="irritant_I2"/>
          <p:cNvSpPr/>
          <p:nvPr/>
        </p:nvSpPr>
        <p:spPr>
          <a:xfrm>
            <a:off x="3355848" y="868680"/>
            <a:ext cx="2651760" cy="2834640"/>
          </a:xfrm>
          <a:prstGeom prst="roundRect">
            <a:avLst>
              <a:gd name="adj" fmla="val 3448"/>
            </a:avLst>
          </a:prstGeom>
          <a:solidFill>
            <a:srgbClr val="FDE8E6"/>
          </a:solidFill>
          <a:ln w="19050">
            <a:solidFill>
              <a:srgbClr val="C0392B"/>
            </a:solidFill>
            <a:prstDash val="solid"/>
          </a:ln>
        </p:spPr>
      </p:sp>
      <p:sp>
        <p:nvSpPr>
          <p:cNvPr id="12" name="Text 10"/>
          <p:cNvSpPr txBox="1"/>
          <p:nvPr/>
        </p:nvSpPr>
        <p:spPr>
          <a:xfrm>
            <a:off x="344728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I2</a:t>
            </a:r>
            <a:endParaRPr lang="en-US" sz="950" dirty="0"/>
          </a:p>
        </p:txBody>
      </p:sp>
      <p:sp>
        <p:nvSpPr>
          <p:cNvPr id="13" name="pastille_irr"/>
          <p:cNvSpPr/>
          <p:nvPr/>
        </p:nvSpPr>
        <p:spPr>
          <a:xfrm>
            <a:off x="4430268" y="1280160"/>
            <a:ext cx="502920" cy="502920"/>
          </a:xfrm>
          <a:prstGeom prst="ellipse">
            <a:avLst/>
          </a:prstGeom>
          <a:solidFill>
            <a:srgbClr val="C0392B"/>
          </a:solidFill>
          <a:ln/>
        </p:spPr>
      </p:sp>
      <p:sp>
        <p:nvSpPr>
          <p:cNvPr id="14" name="Text 12"/>
          <p:cNvSpPr txBox="1"/>
          <p:nvPr/>
        </p:nvSpPr>
        <p:spPr>
          <a:xfrm>
            <a:off x="443026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352044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Je ne retrouve pas les documents dans le DMP. »</a:t>
            </a:r>
            <a:endParaRPr lang="en-US" sz="1300" dirty="0"/>
          </a:p>
        </p:txBody>
      </p:sp>
      <p:sp>
        <p:nvSpPr>
          <p:cNvPr id="16" name="filet_irr"/>
          <p:cNvSpPr/>
          <p:nvPr/>
        </p:nvSpPr>
        <p:spPr>
          <a:xfrm>
            <a:off x="3538728" y="3081528"/>
            <a:ext cx="2286000" cy="0"/>
          </a:xfrm>
          <a:prstGeom prst="line">
            <a:avLst/>
          </a:prstGeom>
          <a:noFill/>
          <a:ln w="9525">
            <a:solidFill>
              <a:srgbClr val="C0392B"/>
            </a:solidFill>
            <a:prstDash val="solid"/>
          </a:ln>
        </p:spPr>
      </p:sp>
      <p:sp>
        <p:nvSpPr>
          <p:cNvPr id="17" name="Text 15"/>
          <p:cNvSpPr txBox="1"/>
          <p:nvPr/>
        </p:nvSpPr>
        <p:spPr>
          <a:xfrm>
            <a:off x="346557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DMP</a:t>
            </a:r>
            <a:endParaRPr lang="en-US" sz="900" dirty="0"/>
          </a:p>
        </p:txBody>
      </p:sp>
      <p:sp>
        <p:nvSpPr>
          <p:cNvPr id="18" name="Text 16"/>
          <p:cNvSpPr txBox="1"/>
          <p:nvPr/>
        </p:nvSpPr>
        <p:spPr>
          <a:xfrm>
            <a:off x="346557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Emilie · Monique</a:t>
            </a:r>
            <a:endParaRPr lang="en-US" sz="900" dirty="0"/>
          </a:p>
        </p:txBody>
      </p:sp>
      <p:sp>
        <p:nvSpPr>
          <p:cNvPr id="19" name="irritant_I3"/>
          <p:cNvSpPr/>
          <p:nvPr/>
        </p:nvSpPr>
        <p:spPr>
          <a:xfrm>
            <a:off x="6190488" y="868680"/>
            <a:ext cx="2651760" cy="2834640"/>
          </a:xfrm>
          <a:prstGeom prst="roundRect">
            <a:avLst>
              <a:gd name="adj" fmla="val 3448"/>
            </a:avLst>
          </a:prstGeom>
          <a:solidFill>
            <a:srgbClr val="FDE8E6"/>
          </a:solidFill>
          <a:ln w="19050">
            <a:solidFill>
              <a:srgbClr val="C0392B"/>
            </a:solidFill>
            <a:prstDash val="solid"/>
          </a:ln>
        </p:spPr>
      </p:sp>
      <p:sp>
        <p:nvSpPr>
          <p:cNvPr id="20" name="Text 18"/>
          <p:cNvSpPr txBox="1"/>
          <p:nvPr/>
        </p:nvSpPr>
        <p:spPr>
          <a:xfrm>
            <a:off x="628192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I3</a:t>
            </a:r>
            <a:endParaRPr lang="en-US" sz="950" dirty="0"/>
          </a:p>
        </p:txBody>
      </p:sp>
      <p:sp>
        <p:nvSpPr>
          <p:cNvPr id="21" name="pastille_irr"/>
          <p:cNvSpPr/>
          <p:nvPr/>
        </p:nvSpPr>
        <p:spPr>
          <a:xfrm>
            <a:off x="7264908" y="1280160"/>
            <a:ext cx="502920" cy="502920"/>
          </a:xfrm>
          <a:prstGeom prst="ellipse">
            <a:avLst/>
          </a:prstGeom>
          <a:solidFill>
            <a:srgbClr val="C0392B"/>
          </a:solidFill>
          <a:ln/>
        </p:spPr>
      </p:sp>
      <p:sp>
        <p:nvSpPr>
          <p:cNvPr id="22" name="Text 20"/>
          <p:cNvSpPr txBox="1"/>
          <p:nvPr/>
        </p:nvSpPr>
        <p:spPr>
          <a:xfrm>
            <a:off x="726490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635508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Ça me prend trop de temps. »</a:t>
            </a:r>
            <a:endParaRPr lang="en-US" sz="1300" dirty="0"/>
          </a:p>
        </p:txBody>
      </p:sp>
      <p:sp>
        <p:nvSpPr>
          <p:cNvPr id="24" name="filet_irr"/>
          <p:cNvSpPr/>
          <p:nvPr/>
        </p:nvSpPr>
        <p:spPr>
          <a:xfrm>
            <a:off x="6373368" y="3081528"/>
            <a:ext cx="2286000" cy="0"/>
          </a:xfrm>
          <a:prstGeom prst="line">
            <a:avLst/>
          </a:prstGeom>
          <a:noFill/>
          <a:ln w="9525">
            <a:solidFill>
              <a:srgbClr val="C0392B"/>
            </a:solidFill>
            <a:prstDash val="solid"/>
          </a:ln>
        </p:spPr>
      </p:sp>
      <p:sp>
        <p:nvSpPr>
          <p:cNvPr id="25" name="Text 23"/>
          <p:cNvSpPr txBox="1"/>
          <p:nvPr/>
        </p:nvSpPr>
        <p:spPr>
          <a:xfrm>
            <a:off x="630021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DMP · Santélien</a:t>
            </a:r>
            <a:endParaRPr lang="en-US" sz="900" dirty="0"/>
          </a:p>
        </p:txBody>
      </p:sp>
      <p:sp>
        <p:nvSpPr>
          <p:cNvPr id="26" name="Text 24"/>
          <p:cNvSpPr txBox="1"/>
          <p:nvPr/>
        </p:nvSpPr>
        <p:spPr>
          <a:xfrm>
            <a:off x="630021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Les trois frises</a:t>
            </a:r>
            <a:endParaRPr lang="en-US" sz="900" dirty="0"/>
          </a:p>
        </p:txBody>
      </p:sp>
      <p:sp>
        <p:nvSpPr>
          <p:cNvPr id="27" name="irritant_I4"/>
          <p:cNvSpPr/>
          <p:nvPr/>
        </p:nvSpPr>
        <p:spPr>
          <a:xfrm>
            <a:off x="9025128" y="868680"/>
            <a:ext cx="2651760" cy="2834640"/>
          </a:xfrm>
          <a:prstGeom prst="roundRect">
            <a:avLst>
              <a:gd name="adj" fmla="val 3448"/>
            </a:avLst>
          </a:prstGeom>
          <a:solidFill>
            <a:srgbClr val="FDE8E6"/>
          </a:solidFill>
          <a:ln w="19050">
            <a:solidFill>
              <a:srgbClr val="C0392B"/>
            </a:solidFill>
            <a:prstDash val="solid"/>
          </a:ln>
        </p:spPr>
      </p:sp>
      <p:sp>
        <p:nvSpPr>
          <p:cNvPr id="28" name="Text 26"/>
          <p:cNvSpPr txBox="1"/>
          <p:nvPr/>
        </p:nvSpPr>
        <p:spPr>
          <a:xfrm>
            <a:off x="911656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I4</a:t>
            </a:r>
            <a:endParaRPr lang="en-US" sz="950" dirty="0"/>
          </a:p>
        </p:txBody>
      </p:sp>
      <p:sp>
        <p:nvSpPr>
          <p:cNvPr id="29" name="pastille_irr"/>
          <p:cNvSpPr/>
          <p:nvPr/>
        </p:nvSpPr>
        <p:spPr>
          <a:xfrm>
            <a:off x="10099548" y="1280160"/>
            <a:ext cx="502920" cy="502920"/>
          </a:xfrm>
          <a:prstGeom prst="ellipse">
            <a:avLst/>
          </a:prstGeom>
          <a:solidFill>
            <a:srgbClr val="C0392B"/>
          </a:solidFill>
          <a:ln/>
        </p:spPr>
      </p:sp>
      <p:sp>
        <p:nvSpPr>
          <p:cNvPr id="30" name="Text 28"/>
          <p:cNvSpPr txBox="1"/>
          <p:nvPr/>
        </p:nvSpPr>
        <p:spPr>
          <a:xfrm>
            <a:off x="1009954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918972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Sans le consentement du patient, je ne peux pas ouvrir son DMP aux urgences. »</a:t>
            </a:r>
            <a:endParaRPr lang="en-US" sz="1300" dirty="0"/>
          </a:p>
        </p:txBody>
      </p:sp>
      <p:sp>
        <p:nvSpPr>
          <p:cNvPr id="32" name="filet_irr"/>
          <p:cNvSpPr/>
          <p:nvPr/>
        </p:nvSpPr>
        <p:spPr>
          <a:xfrm>
            <a:off x="9208008" y="3081528"/>
            <a:ext cx="2286000" cy="0"/>
          </a:xfrm>
          <a:prstGeom prst="line">
            <a:avLst/>
          </a:prstGeom>
          <a:noFill/>
          <a:ln w="9525">
            <a:solidFill>
              <a:srgbClr val="C0392B"/>
            </a:solidFill>
            <a:prstDash val="solid"/>
          </a:ln>
        </p:spPr>
      </p:sp>
      <p:sp>
        <p:nvSpPr>
          <p:cNvPr id="33" name="Text 31"/>
          <p:cNvSpPr txBox="1"/>
          <p:nvPr/>
        </p:nvSpPr>
        <p:spPr>
          <a:xfrm>
            <a:off x="913485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DMP accès en urgence</a:t>
            </a:r>
            <a:endParaRPr lang="en-US" sz="900" dirty="0"/>
          </a:p>
        </p:txBody>
      </p:sp>
      <p:sp>
        <p:nvSpPr>
          <p:cNvPr id="34" name="Text 32"/>
          <p:cNvSpPr txBox="1"/>
          <p:nvPr/>
        </p:nvSpPr>
        <p:spPr>
          <a:xfrm>
            <a:off x="913485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Monique</a:t>
            </a:r>
            <a:endParaRPr lang="en-US" sz="900" dirty="0"/>
          </a:p>
        </p:txBody>
      </p:sp>
      <p:sp>
        <p:nvSpPr>
          <p:cNvPr id="35" name="irritant_I5"/>
          <p:cNvSpPr/>
          <p:nvPr/>
        </p:nvSpPr>
        <p:spPr>
          <a:xfrm>
            <a:off x="521208" y="3840480"/>
            <a:ext cx="2651760" cy="2834640"/>
          </a:xfrm>
          <a:prstGeom prst="roundRect">
            <a:avLst>
              <a:gd name="adj" fmla="val 3448"/>
            </a:avLst>
          </a:prstGeom>
          <a:solidFill>
            <a:srgbClr val="FDE8E6"/>
          </a:solidFill>
          <a:ln w="19050">
            <a:solidFill>
              <a:srgbClr val="C0392B"/>
            </a:solidFill>
            <a:prstDash val="solid"/>
          </a:ln>
        </p:spPr>
      </p:sp>
      <p:sp>
        <p:nvSpPr>
          <p:cNvPr id="36" name="Text 34"/>
          <p:cNvSpPr txBox="1"/>
          <p:nvPr/>
        </p:nvSpPr>
        <p:spPr>
          <a:xfrm>
            <a:off x="61264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I5</a:t>
            </a:r>
            <a:endParaRPr lang="en-US" sz="950" dirty="0"/>
          </a:p>
        </p:txBody>
      </p:sp>
      <p:sp>
        <p:nvSpPr>
          <p:cNvPr id="37" name="pastille_irr"/>
          <p:cNvSpPr/>
          <p:nvPr/>
        </p:nvSpPr>
        <p:spPr>
          <a:xfrm>
            <a:off x="1595628" y="4251960"/>
            <a:ext cx="502920" cy="502920"/>
          </a:xfrm>
          <a:prstGeom prst="ellipse">
            <a:avLst/>
          </a:prstGeom>
          <a:solidFill>
            <a:srgbClr val="C0392B"/>
          </a:solidFill>
          <a:ln/>
        </p:spPr>
      </p:sp>
      <p:sp>
        <p:nvSpPr>
          <p:cNvPr id="38" name="Text 36"/>
          <p:cNvSpPr txBox="1"/>
          <p:nvPr/>
        </p:nvSpPr>
        <p:spPr>
          <a:xfrm>
            <a:off x="159562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9" name="Text 37"/>
          <p:cNvSpPr txBox="1"/>
          <p:nvPr/>
        </p:nvSpPr>
        <p:spPr>
          <a:xfrm>
            <a:off x="685800" y="48463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Si j'écris à mes patients sur Mon espace santé, ils vont m'inonder de messages. »</a:t>
            </a:r>
            <a:endParaRPr lang="en-US" sz="1300" dirty="0"/>
          </a:p>
        </p:txBody>
      </p:sp>
      <p:sp>
        <p:nvSpPr>
          <p:cNvPr id="40" name="filet_irr"/>
          <p:cNvSpPr/>
          <p:nvPr/>
        </p:nvSpPr>
        <p:spPr>
          <a:xfrm>
            <a:off x="704088" y="6053328"/>
            <a:ext cx="2286000" cy="0"/>
          </a:xfrm>
          <a:prstGeom prst="line">
            <a:avLst/>
          </a:prstGeom>
          <a:noFill/>
          <a:ln w="9525">
            <a:solidFill>
              <a:srgbClr val="C0392B"/>
            </a:solidFill>
            <a:prstDash val="solid"/>
          </a:ln>
        </p:spPr>
      </p:sp>
      <p:sp>
        <p:nvSpPr>
          <p:cNvPr id="41" name="Text 39"/>
          <p:cNvSpPr txBox="1"/>
          <p:nvPr/>
        </p:nvSpPr>
        <p:spPr>
          <a:xfrm>
            <a:off x="630936" y="60990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Mon espace santé · messagerie de santé</a:t>
            </a:r>
            <a:endParaRPr lang="en-US" sz="900" dirty="0"/>
          </a:p>
        </p:txBody>
      </p:sp>
      <p:sp>
        <p:nvSpPr>
          <p:cNvPr id="42" name="Text 40"/>
          <p:cNvSpPr txBox="1"/>
          <p:nvPr/>
        </p:nvSpPr>
        <p:spPr>
          <a:xfrm>
            <a:off x="630936" y="63550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Philippe</a:t>
            </a:r>
            <a:endParaRPr lang="en-US" sz="900" dirty="0"/>
          </a:p>
        </p:txBody>
      </p:sp>
      <p:sp>
        <p:nvSpPr>
          <p:cNvPr id="43" name="irritant_I6"/>
          <p:cNvSpPr/>
          <p:nvPr/>
        </p:nvSpPr>
        <p:spPr>
          <a:xfrm>
            <a:off x="3355848" y="3840480"/>
            <a:ext cx="2651760" cy="2834640"/>
          </a:xfrm>
          <a:prstGeom prst="roundRect">
            <a:avLst>
              <a:gd name="adj" fmla="val 3448"/>
            </a:avLst>
          </a:prstGeom>
          <a:solidFill>
            <a:srgbClr val="FDE8E6"/>
          </a:solidFill>
          <a:ln w="19050">
            <a:solidFill>
              <a:srgbClr val="C0392B"/>
            </a:solidFill>
            <a:prstDash val="solid"/>
          </a:ln>
        </p:spPr>
      </p:sp>
      <p:sp>
        <p:nvSpPr>
          <p:cNvPr id="44" name="Text 42"/>
          <p:cNvSpPr txBox="1"/>
          <p:nvPr/>
        </p:nvSpPr>
        <p:spPr>
          <a:xfrm>
            <a:off x="344728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I6</a:t>
            </a:r>
            <a:endParaRPr lang="en-US" sz="950" dirty="0"/>
          </a:p>
        </p:txBody>
      </p:sp>
      <p:sp>
        <p:nvSpPr>
          <p:cNvPr id="45" name="pastille_irr"/>
          <p:cNvSpPr/>
          <p:nvPr/>
        </p:nvSpPr>
        <p:spPr>
          <a:xfrm>
            <a:off x="4430268" y="4251960"/>
            <a:ext cx="502920" cy="502920"/>
          </a:xfrm>
          <a:prstGeom prst="ellipse">
            <a:avLst/>
          </a:prstGeom>
          <a:solidFill>
            <a:srgbClr val="C0392B"/>
          </a:solidFill>
          <a:ln/>
        </p:spPr>
      </p:sp>
      <p:sp>
        <p:nvSpPr>
          <p:cNvPr id="46" name="Text 44"/>
          <p:cNvSpPr txBox="1"/>
          <p:nvPr/>
        </p:nvSpPr>
        <p:spPr>
          <a:xfrm>
            <a:off x="443026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7" name="Text 45"/>
          <p:cNvSpPr txBox="1"/>
          <p:nvPr/>
        </p:nvSpPr>
        <p:spPr>
          <a:xfrm>
            <a:off x="3520440" y="48463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WhatsApp, c'est plus simple : tout le monde l'a déjà. »</a:t>
            </a:r>
            <a:endParaRPr lang="en-US" sz="1300" dirty="0"/>
          </a:p>
        </p:txBody>
      </p:sp>
      <p:sp>
        <p:nvSpPr>
          <p:cNvPr id="48" name="filet_irr"/>
          <p:cNvSpPr/>
          <p:nvPr/>
        </p:nvSpPr>
        <p:spPr>
          <a:xfrm>
            <a:off x="3538728" y="6053328"/>
            <a:ext cx="2286000" cy="0"/>
          </a:xfrm>
          <a:prstGeom prst="line">
            <a:avLst/>
          </a:prstGeom>
          <a:noFill/>
          <a:ln w="9525">
            <a:solidFill>
              <a:srgbClr val="C0392B"/>
            </a:solidFill>
            <a:prstDash val="solid"/>
          </a:ln>
        </p:spPr>
      </p:sp>
      <p:sp>
        <p:nvSpPr>
          <p:cNvPr id="49" name="Text 47"/>
          <p:cNvSpPr txBox="1"/>
          <p:nvPr/>
        </p:nvSpPr>
        <p:spPr>
          <a:xfrm>
            <a:off x="3465576" y="60990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Chat de Santélien · MSSanté</a:t>
            </a:r>
            <a:endParaRPr lang="en-US" sz="900" dirty="0"/>
          </a:p>
        </p:txBody>
      </p:sp>
      <p:sp>
        <p:nvSpPr>
          <p:cNvPr id="50" name="Text 48"/>
          <p:cNvSpPr txBox="1"/>
          <p:nvPr/>
        </p:nvSpPr>
        <p:spPr>
          <a:xfrm>
            <a:off x="3465576" y="63550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Les trois frises</a:t>
            </a:r>
            <a:endParaRPr lang="en-US" sz="900" dirty="0"/>
          </a:p>
        </p:txBody>
      </p:sp>
      <p:sp>
        <p:nvSpPr>
          <p:cNvPr id="51" name="irritant_I7"/>
          <p:cNvSpPr/>
          <p:nvPr/>
        </p:nvSpPr>
        <p:spPr>
          <a:xfrm>
            <a:off x="6190488" y="3840480"/>
            <a:ext cx="2651760" cy="2834640"/>
          </a:xfrm>
          <a:prstGeom prst="roundRect">
            <a:avLst>
              <a:gd name="adj" fmla="val 3448"/>
            </a:avLst>
          </a:prstGeom>
          <a:solidFill>
            <a:srgbClr val="FDE8E6"/>
          </a:solidFill>
          <a:ln w="19050">
            <a:solidFill>
              <a:srgbClr val="C0392B"/>
            </a:solidFill>
            <a:prstDash val="solid"/>
          </a:ln>
        </p:spPr>
      </p:sp>
      <p:sp>
        <p:nvSpPr>
          <p:cNvPr id="52" name="Text 50"/>
          <p:cNvSpPr txBox="1"/>
          <p:nvPr/>
        </p:nvSpPr>
        <p:spPr>
          <a:xfrm>
            <a:off x="628192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I7</a:t>
            </a:r>
            <a:endParaRPr lang="en-US" sz="950" dirty="0"/>
          </a:p>
        </p:txBody>
      </p:sp>
      <p:sp>
        <p:nvSpPr>
          <p:cNvPr id="53" name="pastille_irr"/>
          <p:cNvSpPr/>
          <p:nvPr/>
        </p:nvSpPr>
        <p:spPr>
          <a:xfrm>
            <a:off x="7264908" y="4251960"/>
            <a:ext cx="502920" cy="502920"/>
          </a:xfrm>
          <a:prstGeom prst="ellipse">
            <a:avLst/>
          </a:prstGeom>
          <a:solidFill>
            <a:srgbClr val="C0392B"/>
          </a:solidFill>
          <a:ln/>
        </p:spPr>
      </p:sp>
      <p:sp>
        <p:nvSpPr>
          <p:cNvPr id="54" name="Text 52"/>
          <p:cNvSpPr txBox="1"/>
          <p:nvPr/>
        </p:nvSpPr>
        <p:spPr>
          <a:xfrm>
            <a:off x="726490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55" name="Text 53"/>
          <p:cNvSpPr txBox="1"/>
          <p:nvPr/>
        </p:nvSpPr>
        <p:spPr>
          <a:xfrm>
            <a:off x="6355080" y="48463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Le gynéco n'est pas dans notre MSP : il n'a pas notre outil. »</a:t>
            </a:r>
            <a:endParaRPr lang="en-US" sz="1300" dirty="0"/>
          </a:p>
        </p:txBody>
      </p:sp>
      <p:sp>
        <p:nvSpPr>
          <p:cNvPr id="56" name="filet_irr"/>
          <p:cNvSpPr/>
          <p:nvPr/>
        </p:nvSpPr>
        <p:spPr>
          <a:xfrm>
            <a:off x="6373368" y="6053328"/>
            <a:ext cx="2286000" cy="0"/>
          </a:xfrm>
          <a:prstGeom prst="line">
            <a:avLst/>
          </a:prstGeom>
          <a:noFill/>
          <a:ln w="9525">
            <a:solidFill>
              <a:srgbClr val="C0392B"/>
            </a:solidFill>
            <a:prstDash val="solid"/>
          </a:ln>
        </p:spPr>
      </p:sp>
      <p:sp>
        <p:nvSpPr>
          <p:cNvPr id="57" name="Text 55"/>
          <p:cNvSpPr txBox="1"/>
          <p:nvPr/>
        </p:nvSpPr>
        <p:spPr>
          <a:xfrm>
            <a:off x="6300216" y="60990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Santélien · MSSanté</a:t>
            </a:r>
            <a:endParaRPr lang="en-US" sz="900" dirty="0"/>
          </a:p>
        </p:txBody>
      </p:sp>
      <p:sp>
        <p:nvSpPr>
          <p:cNvPr id="58" name="Text 56"/>
          <p:cNvSpPr txBox="1"/>
          <p:nvPr/>
        </p:nvSpPr>
        <p:spPr>
          <a:xfrm>
            <a:off x="6300216" y="63550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Emilie</a:t>
            </a:r>
            <a:endParaRPr lang="en-US" sz="900" dirty="0"/>
          </a:p>
        </p:txBody>
      </p:sp>
      <p:sp>
        <p:nvSpPr>
          <p:cNvPr id="59" name="irritant_I8"/>
          <p:cNvSpPr/>
          <p:nvPr/>
        </p:nvSpPr>
        <p:spPr>
          <a:xfrm>
            <a:off x="9025128" y="3840480"/>
            <a:ext cx="2651760" cy="2834640"/>
          </a:xfrm>
          <a:prstGeom prst="roundRect">
            <a:avLst>
              <a:gd name="adj" fmla="val 3448"/>
            </a:avLst>
          </a:prstGeom>
          <a:solidFill>
            <a:srgbClr val="FDE8E6"/>
          </a:solidFill>
          <a:ln w="19050">
            <a:solidFill>
              <a:srgbClr val="C0392B"/>
            </a:solidFill>
            <a:prstDash val="solid"/>
          </a:ln>
        </p:spPr>
      </p:sp>
      <p:sp>
        <p:nvSpPr>
          <p:cNvPr id="60" name="Text 58"/>
          <p:cNvSpPr txBox="1"/>
          <p:nvPr/>
        </p:nvSpPr>
        <p:spPr>
          <a:xfrm>
            <a:off x="911656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I8</a:t>
            </a:r>
            <a:endParaRPr lang="en-US" sz="950" dirty="0"/>
          </a:p>
        </p:txBody>
      </p:sp>
      <p:sp>
        <p:nvSpPr>
          <p:cNvPr id="61" name="pastille_irr"/>
          <p:cNvSpPr/>
          <p:nvPr/>
        </p:nvSpPr>
        <p:spPr>
          <a:xfrm>
            <a:off x="10099548" y="4251960"/>
            <a:ext cx="502920" cy="502920"/>
          </a:xfrm>
          <a:prstGeom prst="ellipse">
            <a:avLst/>
          </a:prstGeom>
          <a:solidFill>
            <a:srgbClr val="C0392B"/>
          </a:solidFill>
          <a:ln/>
        </p:spPr>
      </p:sp>
      <p:sp>
        <p:nvSpPr>
          <p:cNvPr id="62" name="Text 60"/>
          <p:cNvSpPr txBox="1"/>
          <p:nvPr/>
        </p:nvSpPr>
        <p:spPr>
          <a:xfrm>
            <a:off x="1009954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3" name="Text 61"/>
          <p:cNvSpPr txBox="1"/>
          <p:nvPr/>
        </p:nvSpPr>
        <p:spPr>
          <a:xfrm>
            <a:off x="9189720" y="48463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La téléexpertise, c'est compliqué et ce n'est pas rémunéré. »</a:t>
            </a:r>
            <a:endParaRPr lang="en-US" sz="1300" dirty="0"/>
          </a:p>
        </p:txBody>
      </p:sp>
      <p:sp>
        <p:nvSpPr>
          <p:cNvPr id="64" name="filet_irr"/>
          <p:cNvSpPr/>
          <p:nvPr/>
        </p:nvSpPr>
        <p:spPr>
          <a:xfrm>
            <a:off x="9208008" y="6053328"/>
            <a:ext cx="2286000" cy="0"/>
          </a:xfrm>
          <a:prstGeom prst="line">
            <a:avLst/>
          </a:prstGeom>
          <a:noFill/>
          <a:ln w="9525">
            <a:solidFill>
              <a:srgbClr val="C0392B"/>
            </a:solidFill>
            <a:prstDash val="solid"/>
          </a:ln>
        </p:spPr>
      </p:sp>
      <p:sp>
        <p:nvSpPr>
          <p:cNvPr id="65" name="Text 63"/>
          <p:cNvSpPr txBox="1"/>
          <p:nvPr/>
        </p:nvSpPr>
        <p:spPr>
          <a:xfrm>
            <a:off x="9134856" y="60990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Télésanté · téléexpertise</a:t>
            </a:r>
            <a:endParaRPr lang="en-US" sz="900" dirty="0"/>
          </a:p>
        </p:txBody>
      </p:sp>
      <p:sp>
        <p:nvSpPr>
          <p:cNvPr id="66" name="Text 64"/>
          <p:cNvSpPr txBox="1"/>
          <p:nvPr/>
        </p:nvSpPr>
        <p:spPr>
          <a:xfrm>
            <a:off x="9134856" y="63550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Emilie · Philippe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Cartes irritants (2/2)</a:t>
            </a:r>
            <a:endParaRPr lang="en-US" sz="2000" dirty="0"/>
          </a:p>
        </p:txBody>
      </p:sp>
      <p:sp>
        <p:nvSpPr>
          <p:cNvPr id="3" name="irritant_I9"/>
          <p:cNvSpPr/>
          <p:nvPr/>
        </p:nvSpPr>
        <p:spPr>
          <a:xfrm>
            <a:off x="521208" y="868680"/>
            <a:ext cx="2651760" cy="2834640"/>
          </a:xfrm>
          <a:prstGeom prst="roundRect">
            <a:avLst>
              <a:gd name="adj" fmla="val 3448"/>
            </a:avLst>
          </a:prstGeom>
          <a:solidFill>
            <a:srgbClr val="FDE8E6"/>
          </a:solidFill>
          <a:ln w="19050">
            <a:solidFill>
              <a:srgbClr val="C0392B"/>
            </a:solidFill>
            <a:prstDash val="solid"/>
          </a:ln>
        </p:spPr>
      </p:sp>
      <p:sp>
        <p:nvSpPr>
          <p:cNvPr id="4" name="Text 2"/>
          <p:cNvSpPr txBox="1"/>
          <p:nvPr/>
        </p:nvSpPr>
        <p:spPr>
          <a:xfrm>
            <a:off x="61264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I9</a:t>
            </a:r>
            <a:endParaRPr lang="en-US" sz="950" dirty="0"/>
          </a:p>
        </p:txBody>
      </p:sp>
      <p:sp>
        <p:nvSpPr>
          <p:cNvPr id="5" name="pastille_irr"/>
          <p:cNvSpPr/>
          <p:nvPr/>
        </p:nvSpPr>
        <p:spPr>
          <a:xfrm>
            <a:off x="1595628" y="1280160"/>
            <a:ext cx="502920" cy="502920"/>
          </a:xfrm>
          <a:prstGeom prst="ellipse">
            <a:avLst/>
          </a:prstGeom>
          <a:solidFill>
            <a:srgbClr val="C0392B"/>
          </a:solidFill>
          <a:ln/>
        </p:spPr>
      </p:sp>
      <p:sp>
        <p:nvSpPr>
          <p:cNvPr id="6" name="Text 4"/>
          <p:cNvSpPr txBox="1"/>
          <p:nvPr/>
        </p:nvSpPr>
        <p:spPr>
          <a:xfrm>
            <a:off x="159562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txBox="1"/>
          <p:nvPr/>
        </p:nvSpPr>
        <p:spPr>
          <a:xfrm>
            <a:off x="68580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ViaTrajectoire, c'est un outil de plus : un coup de fil va plus vite. »</a:t>
            </a:r>
            <a:endParaRPr lang="en-US" sz="1300" dirty="0"/>
          </a:p>
        </p:txBody>
      </p:sp>
      <p:sp>
        <p:nvSpPr>
          <p:cNvPr id="8" name="filet_irr"/>
          <p:cNvSpPr/>
          <p:nvPr/>
        </p:nvSpPr>
        <p:spPr>
          <a:xfrm>
            <a:off x="704088" y="3081528"/>
            <a:ext cx="2286000" cy="0"/>
          </a:xfrm>
          <a:prstGeom prst="line">
            <a:avLst/>
          </a:prstGeom>
          <a:noFill/>
          <a:ln w="9525">
            <a:solidFill>
              <a:srgbClr val="C0392B"/>
            </a:solidFill>
            <a:prstDash val="solid"/>
          </a:ln>
        </p:spPr>
      </p:sp>
      <p:sp>
        <p:nvSpPr>
          <p:cNvPr id="9" name="Text 7"/>
          <p:cNvSpPr txBox="1"/>
          <p:nvPr/>
        </p:nvSpPr>
        <p:spPr>
          <a:xfrm>
            <a:off x="63093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ViaTrajectoire</a:t>
            </a:r>
            <a:endParaRPr lang="en-US" sz="900" dirty="0"/>
          </a:p>
        </p:txBody>
      </p:sp>
      <p:sp>
        <p:nvSpPr>
          <p:cNvPr id="10" name="Text 8"/>
          <p:cNvSpPr txBox="1"/>
          <p:nvPr/>
        </p:nvSpPr>
        <p:spPr>
          <a:xfrm>
            <a:off x="63093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Monique · Emilie</a:t>
            </a:r>
            <a:endParaRPr lang="en-US" sz="900" dirty="0"/>
          </a:p>
        </p:txBody>
      </p:sp>
      <p:sp>
        <p:nvSpPr>
          <p:cNvPr id="11" name="irritant_I10"/>
          <p:cNvSpPr/>
          <p:nvPr/>
        </p:nvSpPr>
        <p:spPr>
          <a:xfrm>
            <a:off x="3355848" y="868680"/>
            <a:ext cx="2651760" cy="2834640"/>
          </a:xfrm>
          <a:prstGeom prst="roundRect">
            <a:avLst>
              <a:gd name="adj" fmla="val 3448"/>
            </a:avLst>
          </a:prstGeom>
          <a:solidFill>
            <a:srgbClr val="FDE8E6"/>
          </a:solidFill>
          <a:ln w="19050">
            <a:solidFill>
              <a:srgbClr val="C0392B"/>
            </a:solidFill>
            <a:prstDash val="solid"/>
          </a:ln>
        </p:spPr>
      </p:sp>
      <p:sp>
        <p:nvSpPr>
          <p:cNvPr id="12" name="Text 10"/>
          <p:cNvSpPr txBox="1"/>
          <p:nvPr/>
        </p:nvSpPr>
        <p:spPr>
          <a:xfrm>
            <a:off x="344728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I10</a:t>
            </a:r>
            <a:endParaRPr lang="en-US" sz="950" dirty="0"/>
          </a:p>
        </p:txBody>
      </p:sp>
      <p:sp>
        <p:nvSpPr>
          <p:cNvPr id="13" name="pastille_irr"/>
          <p:cNvSpPr/>
          <p:nvPr/>
        </p:nvSpPr>
        <p:spPr>
          <a:xfrm>
            <a:off x="4430268" y="1280160"/>
            <a:ext cx="502920" cy="502920"/>
          </a:xfrm>
          <a:prstGeom prst="ellipse">
            <a:avLst/>
          </a:prstGeom>
          <a:solidFill>
            <a:srgbClr val="C0392B"/>
          </a:solidFill>
          <a:ln/>
        </p:spPr>
      </p:sp>
      <p:sp>
        <p:nvSpPr>
          <p:cNvPr id="14" name="Text 12"/>
          <p:cNvSpPr txBox="1"/>
          <p:nvPr/>
        </p:nvSpPr>
        <p:spPr>
          <a:xfrm>
            <a:off x="443026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352044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Je ne sais jamais qui intervient chez le patient, ni comment les joindre. »</a:t>
            </a:r>
            <a:endParaRPr lang="en-US" sz="1300" dirty="0"/>
          </a:p>
        </p:txBody>
      </p:sp>
      <p:sp>
        <p:nvSpPr>
          <p:cNvPr id="16" name="filet_irr"/>
          <p:cNvSpPr/>
          <p:nvPr/>
        </p:nvSpPr>
        <p:spPr>
          <a:xfrm>
            <a:off x="3538728" y="3081528"/>
            <a:ext cx="2286000" cy="0"/>
          </a:xfrm>
          <a:prstGeom prst="line">
            <a:avLst/>
          </a:prstGeom>
          <a:noFill/>
          <a:ln w="9525">
            <a:solidFill>
              <a:srgbClr val="C0392B"/>
            </a:solidFill>
            <a:prstDash val="solid"/>
          </a:ln>
        </p:spPr>
      </p:sp>
      <p:sp>
        <p:nvSpPr>
          <p:cNvPr id="17" name="Text 15"/>
          <p:cNvSpPr txBox="1"/>
          <p:nvPr/>
        </p:nvSpPr>
        <p:spPr>
          <a:xfrm>
            <a:off x="346557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Santélien · cercle de soins</a:t>
            </a:r>
            <a:endParaRPr lang="en-US" sz="900" dirty="0"/>
          </a:p>
        </p:txBody>
      </p:sp>
      <p:sp>
        <p:nvSpPr>
          <p:cNvPr id="18" name="Text 16"/>
          <p:cNvSpPr txBox="1"/>
          <p:nvPr/>
        </p:nvSpPr>
        <p:spPr>
          <a:xfrm>
            <a:off x="346557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Monique · Philippe</a:t>
            </a:r>
            <a:endParaRPr lang="en-US" sz="900" dirty="0"/>
          </a:p>
        </p:txBody>
      </p:sp>
      <p:sp>
        <p:nvSpPr>
          <p:cNvPr id="19" name="irritant_I11"/>
          <p:cNvSpPr/>
          <p:nvPr/>
        </p:nvSpPr>
        <p:spPr>
          <a:xfrm>
            <a:off x="6190488" y="868680"/>
            <a:ext cx="2651760" cy="2834640"/>
          </a:xfrm>
          <a:prstGeom prst="roundRect">
            <a:avLst>
              <a:gd name="adj" fmla="val 3448"/>
            </a:avLst>
          </a:prstGeom>
          <a:solidFill>
            <a:srgbClr val="FDE8E6"/>
          </a:solidFill>
          <a:ln w="19050">
            <a:solidFill>
              <a:srgbClr val="C0392B"/>
            </a:solidFill>
            <a:prstDash val="solid"/>
          </a:ln>
        </p:spPr>
      </p:sp>
      <p:sp>
        <p:nvSpPr>
          <p:cNvPr id="20" name="Text 18"/>
          <p:cNvSpPr txBox="1"/>
          <p:nvPr/>
        </p:nvSpPr>
        <p:spPr>
          <a:xfrm>
            <a:off x="628192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I11</a:t>
            </a:r>
            <a:endParaRPr lang="en-US" sz="950" dirty="0"/>
          </a:p>
        </p:txBody>
      </p:sp>
      <p:sp>
        <p:nvSpPr>
          <p:cNvPr id="21" name="pastille_irr"/>
          <p:cNvSpPr/>
          <p:nvPr/>
        </p:nvSpPr>
        <p:spPr>
          <a:xfrm>
            <a:off x="7264908" y="1280160"/>
            <a:ext cx="502920" cy="502920"/>
          </a:xfrm>
          <a:prstGeom prst="ellipse">
            <a:avLst/>
          </a:prstGeom>
          <a:solidFill>
            <a:srgbClr val="C0392B"/>
          </a:solidFill>
          <a:ln/>
        </p:spPr>
      </p:sp>
      <p:sp>
        <p:nvSpPr>
          <p:cNvPr id="22" name="Text 20"/>
          <p:cNvSpPr txBox="1"/>
          <p:nvPr/>
        </p:nvSpPr>
        <p:spPr>
          <a:xfrm>
            <a:off x="726490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635508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Les ressources du territoire, je les cherche sur Internet. »</a:t>
            </a:r>
            <a:endParaRPr lang="en-US" sz="1300" dirty="0"/>
          </a:p>
        </p:txBody>
      </p:sp>
      <p:sp>
        <p:nvSpPr>
          <p:cNvPr id="24" name="filet_irr"/>
          <p:cNvSpPr/>
          <p:nvPr/>
        </p:nvSpPr>
        <p:spPr>
          <a:xfrm>
            <a:off x="6373368" y="3081528"/>
            <a:ext cx="2286000" cy="0"/>
          </a:xfrm>
          <a:prstGeom prst="line">
            <a:avLst/>
          </a:prstGeom>
          <a:noFill/>
          <a:ln w="9525">
            <a:solidFill>
              <a:srgbClr val="C0392B"/>
            </a:solidFill>
            <a:prstDash val="solid"/>
          </a:ln>
        </p:spPr>
      </p:sp>
      <p:sp>
        <p:nvSpPr>
          <p:cNvPr id="25" name="Text 23"/>
          <p:cNvSpPr txBox="1"/>
          <p:nvPr/>
        </p:nvSpPr>
        <p:spPr>
          <a:xfrm>
            <a:off x="630021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Maillage · ROR · ressources CPTS</a:t>
            </a:r>
            <a:endParaRPr lang="en-US" sz="900" dirty="0"/>
          </a:p>
        </p:txBody>
      </p:sp>
      <p:sp>
        <p:nvSpPr>
          <p:cNvPr id="26" name="Text 24"/>
          <p:cNvSpPr txBox="1"/>
          <p:nvPr/>
        </p:nvSpPr>
        <p:spPr>
          <a:xfrm>
            <a:off x="630021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Philippe · Monique</a:t>
            </a:r>
            <a:endParaRPr lang="en-US" sz="900" dirty="0"/>
          </a:p>
        </p:txBody>
      </p:sp>
      <p:sp>
        <p:nvSpPr>
          <p:cNvPr id="27" name="irritant_I12"/>
          <p:cNvSpPr/>
          <p:nvPr/>
        </p:nvSpPr>
        <p:spPr>
          <a:xfrm>
            <a:off x="9025128" y="868680"/>
            <a:ext cx="2651760" cy="2834640"/>
          </a:xfrm>
          <a:prstGeom prst="roundRect">
            <a:avLst>
              <a:gd name="adj" fmla="val 3448"/>
            </a:avLst>
          </a:prstGeom>
          <a:solidFill>
            <a:srgbClr val="FDE8E6"/>
          </a:solidFill>
          <a:ln w="19050">
            <a:solidFill>
              <a:srgbClr val="C0392B"/>
            </a:solidFill>
            <a:prstDash val="solid"/>
          </a:ln>
        </p:spPr>
      </p:sp>
      <p:sp>
        <p:nvSpPr>
          <p:cNvPr id="28" name="Text 26"/>
          <p:cNvSpPr txBox="1"/>
          <p:nvPr/>
        </p:nvSpPr>
        <p:spPr>
          <a:xfrm>
            <a:off x="9116568" y="9966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IRRITANT · I12</a:t>
            </a:r>
            <a:endParaRPr lang="en-US" sz="950" dirty="0"/>
          </a:p>
        </p:txBody>
      </p:sp>
      <p:sp>
        <p:nvSpPr>
          <p:cNvPr id="29" name="pastille_irr"/>
          <p:cNvSpPr/>
          <p:nvPr/>
        </p:nvSpPr>
        <p:spPr>
          <a:xfrm>
            <a:off x="10099548" y="1280160"/>
            <a:ext cx="502920" cy="502920"/>
          </a:xfrm>
          <a:prstGeom prst="ellipse">
            <a:avLst/>
          </a:prstGeom>
          <a:solidFill>
            <a:srgbClr val="C0392B"/>
          </a:solidFill>
          <a:ln/>
        </p:spPr>
      </p:sp>
      <p:sp>
        <p:nvSpPr>
          <p:cNvPr id="30" name="Text 28"/>
          <p:cNvSpPr txBox="1"/>
          <p:nvPr/>
        </p:nvSpPr>
        <p:spPr>
          <a:xfrm>
            <a:off x="10099548" y="1280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9189720" y="1874520"/>
            <a:ext cx="2322576" cy="1143000"/>
          </a:xfrm>
          <a:prstGeom prst="rect">
            <a:avLst/>
          </a:prstGeom>
          <a:noFill/>
          <a:ln/>
        </p:spPr>
        <p:txBody>
          <a:bodyPr wrap="square" lIns="0" tIns="0" rIns="0" bIns="0" rtlCol="0" anchor="ctr"/>
          <a:lstStyle/>
          <a:p>
            <a:pPr algn="ctr" indent="0" marL="0">
              <a:buNone/>
            </a:pPr>
            <a:r>
              <a:rPr lang="en-US" sz="1300" b="1" i="1" dirty="0">
                <a:solidFill>
                  <a:srgbClr val="16302A"/>
                </a:solidFill>
                <a:latin typeface="Georgia" pitchFamily="34" charset="0"/>
                <a:ea typeface="Georgia" pitchFamily="34" charset="-122"/>
                <a:cs typeface="Georgia" pitchFamily="34" charset="-120"/>
              </a:rPr>
              <a:t>« L'ordonnance numérique ne marche pas avec mon logiciel ou ma pharmacie. »</a:t>
            </a:r>
            <a:endParaRPr lang="en-US" sz="1300" dirty="0"/>
          </a:p>
        </p:txBody>
      </p:sp>
      <p:sp>
        <p:nvSpPr>
          <p:cNvPr id="32" name="filet_irr"/>
          <p:cNvSpPr/>
          <p:nvPr/>
        </p:nvSpPr>
        <p:spPr>
          <a:xfrm>
            <a:off x="9208008" y="3081528"/>
            <a:ext cx="2286000" cy="0"/>
          </a:xfrm>
          <a:prstGeom prst="line">
            <a:avLst/>
          </a:prstGeom>
          <a:noFill/>
          <a:ln w="9525">
            <a:solidFill>
              <a:srgbClr val="C0392B"/>
            </a:solidFill>
            <a:prstDash val="solid"/>
          </a:ln>
        </p:spPr>
      </p:sp>
      <p:sp>
        <p:nvSpPr>
          <p:cNvPr id="33" name="Text 31"/>
          <p:cNvSpPr txBox="1"/>
          <p:nvPr/>
        </p:nvSpPr>
        <p:spPr>
          <a:xfrm>
            <a:off x="9134856" y="3127248"/>
            <a:ext cx="2432304" cy="274320"/>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À associer à : </a:t>
            </a:r>
            <a:pPr algn="ctr" indent="0" marL="0">
              <a:buNone/>
            </a:pPr>
            <a:r>
              <a:rPr lang="en-US" sz="900" dirty="0">
                <a:solidFill>
                  <a:srgbClr val="C0392B"/>
                </a:solidFill>
                <a:latin typeface="Calibri" pitchFamily="34" charset="0"/>
                <a:ea typeface="Calibri" pitchFamily="34" charset="-122"/>
                <a:cs typeface="Calibri" pitchFamily="34" charset="-120"/>
              </a:rPr>
              <a:t>Ordonnance numérique</a:t>
            </a:r>
            <a:endParaRPr lang="en-US" sz="900" dirty="0"/>
          </a:p>
        </p:txBody>
      </p:sp>
      <p:sp>
        <p:nvSpPr>
          <p:cNvPr id="34" name="Text 32"/>
          <p:cNvSpPr txBox="1"/>
          <p:nvPr/>
        </p:nvSpPr>
        <p:spPr>
          <a:xfrm>
            <a:off x="9134856" y="3383280"/>
            <a:ext cx="2432304" cy="237744"/>
          </a:xfrm>
          <a:prstGeom prst="rect">
            <a:avLst/>
          </a:prstGeom>
          <a:noFill/>
          <a:ln/>
        </p:spPr>
        <p:txBody>
          <a:bodyPr wrap="square" lIns="0" tIns="0" rIns="0" bIns="0" rtlCol="0" anchor="ctr"/>
          <a:lstStyle/>
          <a:p>
            <a:pPr algn="ctr" indent="0" marL="0">
              <a:buNone/>
            </a:pPr>
            <a:r>
              <a:rPr lang="en-US" sz="900" dirty="0">
                <a:solidFill>
                  <a:srgbClr val="6B7A73"/>
                </a:solidFill>
                <a:latin typeface="Calibri" pitchFamily="34" charset="0"/>
                <a:ea typeface="Calibri" pitchFamily="34" charset="-122"/>
                <a:cs typeface="Calibri" pitchFamily="34" charset="-120"/>
              </a:rPr>
              <a:t>Frise : Philippe · Emilie</a:t>
            </a:r>
            <a:endParaRPr lang="en-US" sz="900" dirty="0"/>
          </a:p>
        </p:txBody>
      </p:sp>
      <p:sp>
        <p:nvSpPr>
          <p:cNvPr id="35" name="irritant_libre"/>
          <p:cNvSpPr/>
          <p:nvPr/>
        </p:nvSpPr>
        <p:spPr>
          <a:xfrm>
            <a:off x="521208" y="3840480"/>
            <a:ext cx="2651760" cy="2834640"/>
          </a:xfrm>
          <a:prstGeom prst="roundRect">
            <a:avLst>
              <a:gd name="adj" fmla="val 3448"/>
            </a:avLst>
          </a:prstGeom>
          <a:solidFill>
            <a:srgbClr val="FDE8E6"/>
          </a:solidFill>
          <a:ln w="19050">
            <a:solidFill>
              <a:srgbClr val="C0392B"/>
            </a:solidFill>
            <a:prstDash val="solid"/>
          </a:ln>
        </p:spPr>
      </p:sp>
      <p:sp>
        <p:nvSpPr>
          <p:cNvPr id="36" name="Text 34"/>
          <p:cNvSpPr txBox="1"/>
          <p:nvPr/>
        </p:nvSpPr>
        <p:spPr>
          <a:xfrm>
            <a:off x="61264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AUTRE IRRITANT</a:t>
            </a:r>
            <a:endParaRPr lang="en-US" sz="950" dirty="0"/>
          </a:p>
        </p:txBody>
      </p:sp>
      <p:sp>
        <p:nvSpPr>
          <p:cNvPr id="37" name="pastille_irr"/>
          <p:cNvSpPr/>
          <p:nvPr/>
        </p:nvSpPr>
        <p:spPr>
          <a:xfrm>
            <a:off x="1595628" y="4251960"/>
            <a:ext cx="502920" cy="502920"/>
          </a:xfrm>
          <a:prstGeom prst="ellipse">
            <a:avLst/>
          </a:prstGeom>
          <a:solidFill>
            <a:srgbClr val="C0392B"/>
          </a:solidFill>
          <a:ln/>
        </p:spPr>
      </p:sp>
      <p:sp>
        <p:nvSpPr>
          <p:cNvPr id="38" name="Text 36"/>
          <p:cNvSpPr txBox="1"/>
          <p:nvPr/>
        </p:nvSpPr>
        <p:spPr>
          <a:xfrm>
            <a:off x="159562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9" name="ligne_0"/>
          <p:cNvSpPr/>
          <p:nvPr/>
        </p:nvSpPr>
        <p:spPr>
          <a:xfrm>
            <a:off x="795528" y="5166360"/>
            <a:ext cx="2103120" cy="0"/>
          </a:xfrm>
          <a:prstGeom prst="line">
            <a:avLst/>
          </a:prstGeom>
          <a:noFill/>
          <a:ln w="9525">
            <a:solidFill>
              <a:srgbClr val="C0392B"/>
            </a:solidFill>
            <a:prstDash val="sysDot"/>
          </a:ln>
        </p:spPr>
      </p:sp>
      <p:sp>
        <p:nvSpPr>
          <p:cNvPr id="40" name="ligne_1"/>
          <p:cNvSpPr/>
          <p:nvPr/>
        </p:nvSpPr>
        <p:spPr>
          <a:xfrm>
            <a:off x="795528" y="5458968"/>
            <a:ext cx="2103120" cy="0"/>
          </a:xfrm>
          <a:prstGeom prst="line">
            <a:avLst/>
          </a:prstGeom>
          <a:noFill/>
          <a:ln w="9525">
            <a:solidFill>
              <a:srgbClr val="C0392B"/>
            </a:solidFill>
            <a:prstDash val="sysDot"/>
          </a:ln>
        </p:spPr>
      </p:sp>
      <p:sp>
        <p:nvSpPr>
          <p:cNvPr id="41" name="ligne_2"/>
          <p:cNvSpPr/>
          <p:nvPr/>
        </p:nvSpPr>
        <p:spPr>
          <a:xfrm>
            <a:off x="795528" y="5751576"/>
            <a:ext cx="2103120" cy="0"/>
          </a:xfrm>
          <a:prstGeom prst="line">
            <a:avLst/>
          </a:prstGeom>
          <a:noFill/>
          <a:ln w="9525">
            <a:solidFill>
              <a:srgbClr val="C0392B"/>
            </a:solidFill>
            <a:prstDash val="sysDot"/>
          </a:ln>
        </p:spPr>
      </p:sp>
      <p:sp>
        <p:nvSpPr>
          <p:cNvPr id="42" name="ligne_3"/>
          <p:cNvSpPr/>
          <p:nvPr/>
        </p:nvSpPr>
        <p:spPr>
          <a:xfrm>
            <a:off x="795528" y="6044184"/>
            <a:ext cx="2103120" cy="0"/>
          </a:xfrm>
          <a:prstGeom prst="line">
            <a:avLst/>
          </a:prstGeom>
          <a:noFill/>
          <a:ln w="9525">
            <a:solidFill>
              <a:srgbClr val="C0392B"/>
            </a:solidFill>
            <a:prstDash val="sysDot"/>
          </a:ln>
        </p:spPr>
      </p:sp>
      <p:sp>
        <p:nvSpPr>
          <p:cNvPr id="43" name="Text 41"/>
          <p:cNvSpPr txBox="1"/>
          <p:nvPr/>
        </p:nvSpPr>
        <p:spPr>
          <a:xfrm>
            <a:off x="612648" y="6291072"/>
            <a:ext cx="2468880" cy="274320"/>
          </a:xfrm>
          <a:prstGeom prst="rect">
            <a:avLst/>
          </a:prstGeom>
          <a:noFill/>
          <a:ln/>
        </p:spPr>
        <p:txBody>
          <a:bodyPr wrap="square" lIns="0" tIns="0" rIns="0" bIns="0" rtlCol="0" anchor="ctr"/>
          <a:lstStyle/>
          <a:p>
            <a:pPr algn="ctr" indent="0" marL="0">
              <a:buNone/>
            </a:pPr>
            <a:r>
              <a:rPr lang="en-US" sz="950" i="1" dirty="0">
                <a:solidFill>
                  <a:srgbClr val="C0392B"/>
                </a:solidFill>
                <a:latin typeface="Calibri" pitchFamily="34" charset="0"/>
                <a:ea typeface="Calibri" pitchFamily="34" charset="-122"/>
                <a:cs typeface="Calibri" pitchFamily="34" charset="-120"/>
              </a:rPr>
              <a:t>Écrivez l'objection entendue sur le terrain</a:t>
            </a:r>
            <a:endParaRPr lang="en-US" sz="950" dirty="0"/>
          </a:p>
        </p:txBody>
      </p:sp>
      <p:sp>
        <p:nvSpPr>
          <p:cNvPr id="44" name="irritant_libre"/>
          <p:cNvSpPr/>
          <p:nvPr/>
        </p:nvSpPr>
        <p:spPr>
          <a:xfrm>
            <a:off x="3355848" y="3840480"/>
            <a:ext cx="2651760" cy="2834640"/>
          </a:xfrm>
          <a:prstGeom prst="roundRect">
            <a:avLst>
              <a:gd name="adj" fmla="val 3448"/>
            </a:avLst>
          </a:prstGeom>
          <a:solidFill>
            <a:srgbClr val="FDE8E6"/>
          </a:solidFill>
          <a:ln w="19050">
            <a:solidFill>
              <a:srgbClr val="C0392B"/>
            </a:solidFill>
            <a:prstDash val="solid"/>
          </a:ln>
        </p:spPr>
      </p:sp>
      <p:sp>
        <p:nvSpPr>
          <p:cNvPr id="45" name="Text 43"/>
          <p:cNvSpPr txBox="1"/>
          <p:nvPr/>
        </p:nvSpPr>
        <p:spPr>
          <a:xfrm>
            <a:off x="3447288" y="3968496"/>
            <a:ext cx="2468880" cy="237744"/>
          </a:xfrm>
          <a:prstGeom prst="rect">
            <a:avLst/>
          </a:prstGeom>
          <a:noFill/>
          <a:ln/>
        </p:spPr>
        <p:txBody>
          <a:bodyPr wrap="square" lIns="0" tIns="0" rIns="0" bIns="0" rtlCol="0" anchor="ctr"/>
          <a:lstStyle/>
          <a:p>
            <a:pPr algn="ctr" indent="0" marL="0">
              <a:buNone/>
            </a:pPr>
            <a:r>
              <a:rPr lang="en-US" sz="950" b="1" spc="100" kern="0" dirty="0">
                <a:solidFill>
                  <a:srgbClr val="C0392B"/>
                </a:solidFill>
                <a:latin typeface="Calibri" pitchFamily="34" charset="0"/>
                <a:ea typeface="Calibri" pitchFamily="34" charset="-122"/>
                <a:cs typeface="Calibri" pitchFamily="34" charset="-120"/>
              </a:rPr>
              <a:t>AUTRE IRRITANT</a:t>
            </a:r>
            <a:endParaRPr lang="en-US" sz="950" dirty="0"/>
          </a:p>
        </p:txBody>
      </p:sp>
      <p:sp>
        <p:nvSpPr>
          <p:cNvPr id="46" name="pastille_irr"/>
          <p:cNvSpPr/>
          <p:nvPr/>
        </p:nvSpPr>
        <p:spPr>
          <a:xfrm>
            <a:off x="4430268" y="4251960"/>
            <a:ext cx="502920" cy="502920"/>
          </a:xfrm>
          <a:prstGeom prst="ellipse">
            <a:avLst/>
          </a:prstGeom>
          <a:solidFill>
            <a:srgbClr val="C0392B"/>
          </a:solidFill>
          <a:ln/>
        </p:spPr>
      </p:sp>
      <p:sp>
        <p:nvSpPr>
          <p:cNvPr id="47" name="Text 45"/>
          <p:cNvSpPr txBox="1"/>
          <p:nvPr/>
        </p:nvSpPr>
        <p:spPr>
          <a:xfrm>
            <a:off x="4430268" y="4251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8" name="ligne_0"/>
          <p:cNvSpPr/>
          <p:nvPr/>
        </p:nvSpPr>
        <p:spPr>
          <a:xfrm>
            <a:off x="3630168" y="5166360"/>
            <a:ext cx="2103120" cy="0"/>
          </a:xfrm>
          <a:prstGeom prst="line">
            <a:avLst/>
          </a:prstGeom>
          <a:noFill/>
          <a:ln w="9525">
            <a:solidFill>
              <a:srgbClr val="C0392B"/>
            </a:solidFill>
            <a:prstDash val="sysDot"/>
          </a:ln>
        </p:spPr>
      </p:sp>
      <p:sp>
        <p:nvSpPr>
          <p:cNvPr id="49" name="ligne_1"/>
          <p:cNvSpPr/>
          <p:nvPr/>
        </p:nvSpPr>
        <p:spPr>
          <a:xfrm>
            <a:off x="3630168" y="5458968"/>
            <a:ext cx="2103120" cy="0"/>
          </a:xfrm>
          <a:prstGeom prst="line">
            <a:avLst/>
          </a:prstGeom>
          <a:noFill/>
          <a:ln w="9525">
            <a:solidFill>
              <a:srgbClr val="C0392B"/>
            </a:solidFill>
            <a:prstDash val="sysDot"/>
          </a:ln>
        </p:spPr>
      </p:sp>
      <p:sp>
        <p:nvSpPr>
          <p:cNvPr id="50" name="ligne_2"/>
          <p:cNvSpPr/>
          <p:nvPr/>
        </p:nvSpPr>
        <p:spPr>
          <a:xfrm>
            <a:off x="3630168" y="5751576"/>
            <a:ext cx="2103120" cy="0"/>
          </a:xfrm>
          <a:prstGeom prst="line">
            <a:avLst/>
          </a:prstGeom>
          <a:noFill/>
          <a:ln w="9525">
            <a:solidFill>
              <a:srgbClr val="C0392B"/>
            </a:solidFill>
            <a:prstDash val="sysDot"/>
          </a:ln>
        </p:spPr>
      </p:sp>
      <p:sp>
        <p:nvSpPr>
          <p:cNvPr id="51" name="ligne_3"/>
          <p:cNvSpPr/>
          <p:nvPr/>
        </p:nvSpPr>
        <p:spPr>
          <a:xfrm>
            <a:off x="3630168" y="6044184"/>
            <a:ext cx="2103120" cy="0"/>
          </a:xfrm>
          <a:prstGeom prst="line">
            <a:avLst/>
          </a:prstGeom>
          <a:noFill/>
          <a:ln w="9525">
            <a:solidFill>
              <a:srgbClr val="C0392B"/>
            </a:solidFill>
            <a:prstDash val="sysDot"/>
          </a:ln>
        </p:spPr>
      </p:sp>
      <p:sp>
        <p:nvSpPr>
          <p:cNvPr id="52" name="Text 50"/>
          <p:cNvSpPr txBox="1"/>
          <p:nvPr/>
        </p:nvSpPr>
        <p:spPr>
          <a:xfrm>
            <a:off x="3447288" y="6291072"/>
            <a:ext cx="2468880" cy="274320"/>
          </a:xfrm>
          <a:prstGeom prst="rect">
            <a:avLst/>
          </a:prstGeom>
          <a:noFill/>
          <a:ln/>
        </p:spPr>
        <p:txBody>
          <a:bodyPr wrap="square" lIns="0" tIns="0" rIns="0" bIns="0" rtlCol="0" anchor="ctr"/>
          <a:lstStyle/>
          <a:p>
            <a:pPr algn="ctr" indent="0" marL="0">
              <a:buNone/>
            </a:pPr>
            <a:r>
              <a:rPr lang="en-US" sz="950" i="1" dirty="0">
                <a:solidFill>
                  <a:srgbClr val="C0392B"/>
                </a:solidFill>
                <a:latin typeface="Calibri" pitchFamily="34" charset="0"/>
                <a:ea typeface="Calibri" pitchFamily="34" charset="-122"/>
                <a:cs typeface="Calibri" pitchFamily="34" charset="-120"/>
              </a:rPr>
              <a:t>Écrivez l'objection entendue sur le terrain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686800" cy="457200"/>
          </a:xfrm>
          <a:prstGeom prst="rect">
            <a:avLst/>
          </a:prstGeom>
          <a:noFill/>
          <a:ln/>
        </p:spPr>
        <p:txBody>
          <a:bodyPr wrap="square" lIns="0" tIns="0" rIns="0" bIns="0" rtlCol="0" anchor="ctr"/>
          <a:lstStyle/>
          <a:p>
            <a:pPr algn="l" indent="0" marL="0">
              <a:buNone/>
            </a:pPr>
            <a:r>
              <a:rPr lang="en-US" sz="2000" b="1" dirty="0">
                <a:solidFill>
                  <a:srgbClr val="1F4A42"/>
                </a:solidFill>
                <a:latin typeface="Georgia" pitchFamily="34" charset="0"/>
                <a:ea typeface="Georgia" pitchFamily="34" charset="-122"/>
                <a:cs typeface="Georgia" pitchFamily="34" charset="-120"/>
              </a:rPr>
              <a:t>Sources et statut des informations (au 05/10/2026)</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11274552" cy="914400"/>
        </p:xfrm>
        <a:graphic>
          <a:graphicData uri="http://schemas.openxmlformats.org/drawingml/2006/table">
            <a:tbl>
              <a:tblPr/>
              <a:tblGrid>
                <a:gridCol w="3931920"/>
                <a:gridCol w="3566160"/>
                <a:gridCol w="3776472"/>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Sujet</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1F4A4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Statut</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1F4A4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Source principale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1F4A42"/>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Accès au DMP en urgence (bris de glace)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CSP, art. L.1111-17, I ; ANS, mars 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Alimentation obligatoire du DMP</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CSP, art. L.1111-15</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Messagerie Mon espace santé : seul le professionnel initie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 (service)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ANS, FAQ du 03/09/2025</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Accès d'un aidant à Mon espace santé</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Loi publiée, mise en production non confirmée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Loi n° 2026-404 du 26/05/2026 ; ANS, mars 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Consultation du DMP intégrée aux logiciels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Annoncé, déploiement depuis T1 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ANS, mars 2026 (Ségur vague 2)</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PRADO via ViaTrajectoire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Doctrine CNAM : 100 % fin 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ANS / CNAM / SESAN, SantExpo, 19/05/2026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PRADO maternité dans ViaTrajectoire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Non établi</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Idem (indicateur d'usage « hors maternité »)</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Télésurveillance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 depuis le 01/07/2023</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LFSS 2022, art. 36 ; décret 2022-1767</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Ordonnance numérique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Obligation depuis le 01/01/2025, sans sanction ; déploiement inachevé</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Ordonnance 2020-1408 ; décret 2023-1222 ; ANS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Téléexpertise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 tous patients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HAS ; ARS Bretagne ; convention médicale 2024, art. 79-1</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Lettre de liaison de sortie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En vigueur</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CSP, art. R.1112-1-2 (décret 2016-995)</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Santélien : fonctionnalités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Établi ; accès patient annoncé</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ARS Île-de-France, 22/07/2025</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Maillage : périmètre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Établi</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SESAN, page consultée le 05/10/2026</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HTSH en Île-de-France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Établi ; canal ViaTrajectoire non confirmé</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ARS Île-de-France ; DGCS, 08/07/2024</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E7F0EC"/>
                    </a:solidFill>
                  </a:tcPr>
                </a:tc>
              </a:tr>
              <a:tr h="329184">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Doctolib, Plexus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Sources commerciales</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c>
                  <a:txBody>
                    <a:bodyPr/>
                    <a:lstStyle/>
                    <a:p>
                      <a:pPr indent="0" marL="0">
                        <a:buNone/>
                      </a:pPr>
                      <a:r>
                        <a:rPr lang="en-US" sz="1000" dirty="0">
                          <a:solidFill>
                            <a:srgbClr val="16302A"/>
                          </a:solidFill>
                          <a:latin typeface="Calibri" pitchFamily="34" charset="0"/>
                          <a:ea typeface="Calibri" pitchFamily="34" charset="-122"/>
                          <a:cs typeface="Calibri" pitchFamily="34" charset="-120"/>
                        </a:rPr>
                        <a:t>Éditeurs ; presse professionnelle</a:t>
                      </a:r>
                      <a:endParaRPr lang="en-US" sz="1000" dirty="0">
                        <a:latin typeface="Calibri" charset="0"/>
                        <a:ea typeface="Calibri" charset="0"/>
                        <a:cs typeface="Calibri" charset="0"/>
                      </a:endParaRPr>
                    </a:p>
                  </a:txBody>
                  <a:tcPr marL="45720" marR="45720" marT="45720" marB="45720" anchor="ctr">
                    <a:lnL w="6350" cap="flat" cmpd="sng" algn="ctr">
                      <a:solidFill>
                        <a:srgbClr val="B9C4BC"/>
                      </a:solidFill>
                      <a:prstDash val="solid"/>
                      <a:round/>
                      <a:headEnd type="none" w="med" len="med"/>
                      <a:tailEnd type="none" w="med" len="med"/>
                    </a:lnL>
                    <a:lnR w="6350" cap="flat" cmpd="sng" algn="ctr">
                      <a:solidFill>
                        <a:srgbClr val="B9C4BC"/>
                      </a:solidFill>
                      <a:prstDash val="solid"/>
                      <a:round/>
                      <a:headEnd type="none" w="med" len="med"/>
                      <a:tailEnd type="none" w="med" len="med"/>
                    </a:lnR>
                    <a:lnT w="6350" cap="flat" cmpd="sng" algn="ctr">
                      <a:solidFill>
                        <a:srgbClr val="B9C4BC"/>
                      </a:solidFill>
                      <a:prstDash val="solid"/>
                      <a:round/>
                      <a:headEnd type="none" w="med" len="med"/>
                      <a:tailEnd type="none" w="med" len="med"/>
                    </a:lnT>
                    <a:lnB w="6350" cap="flat" cmpd="sng" algn="ctr">
                      <a:solidFill>
                        <a:srgbClr val="B9C4BC"/>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Journée exco-num – Atelier frises parcours patient</dc:title>
  <dc:subject>PptxGenJS Presentation</dc:subject>
  <dc:creator>Organisateurs de la journée exco-num</dc:creator>
  <cp:lastModifiedBy>Organisateurs de la journée exco-num</cp:lastModifiedBy>
  <cp:revision>1</cp:revision>
  <dcterms:created xsi:type="dcterms:W3CDTF">2026-10-05T12:54:57Z</dcterms:created>
  <dcterms:modified xsi:type="dcterms:W3CDTF">2026-10-05T12:54:57Z</dcterms:modified>
</cp:coreProperties>
</file>